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89" r:id="rId3"/>
    <p:sldId id="257" r:id="rId4"/>
    <p:sldId id="258" r:id="rId5"/>
    <p:sldId id="273" r:id="rId6"/>
    <p:sldId id="291" r:id="rId7"/>
    <p:sldId id="259" r:id="rId8"/>
    <p:sldId id="260" r:id="rId9"/>
    <p:sldId id="261" r:id="rId10"/>
    <p:sldId id="262" r:id="rId11"/>
    <p:sldId id="272" r:id="rId12"/>
    <p:sldId id="263" r:id="rId13"/>
    <p:sldId id="265" r:id="rId14"/>
    <p:sldId id="267" r:id="rId15"/>
    <p:sldId id="268" r:id="rId16"/>
    <p:sldId id="270" r:id="rId17"/>
    <p:sldId id="271" r:id="rId18"/>
    <p:sldId id="275" r:id="rId19"/>
    <p:sldId id="274" r:id="rId20"/>
    <p:sldId id="284" r:id="rId21"/>
    <p:sldId id="285" r:id="rId22"/>
    <p:sldId id="266"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81" autoAdjust="0"/>
    <p:restoredTop sz="56227" autoAdjust="0"/>
  </p:normalViewPr>
  <p:slideViewPr>
    <p:cSldViewPr snapToGrid="0" snapToObjects="1">
      <p:cViewPr varScale="1">
        <p:scale>
          <a:sx n="46" d="100"/>
          <a:sy n="46" d="100"/>
        </p:scale>
        <p:origin x="1544"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0070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1F36-76AA-8DCB-4D60-010AE1DE4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3C4794-8D11-9D09-1AF9-61E175779B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A2A9D1A-F102-F556-277B-C42564551D81}"/>
              </a:ext>
            </a:extLst>
          </p:cNvPr>
          <p:cNvSpPr>
            <a:spLocks noGrp="1"/>
          </p:cNvSpPr>
          <p:nvPr>
            <p:ph type="body" idx="1"/>
          </p:nvPr>
        </p:nvSpPr>
        <p:spPr/>
        <p:txBody>
          <a:bodyPr/>
          <a:lstStyle/>
          <a:p>
            <a:r>
              <a:rPr lang="en-US" sz="1200" b="1" kern="1200" dirty="0">
                <a:solidFill>
                  <a:schemeClr val="tx1"/>
                </a:solidFill>
                <a:effectLst/>
                <a:latin typeface="+mn-lt"/>
                <a:ea typeface="+mn-ea"/>
                <a:cs typeface="+mn-cs"/>
              </a:rPr>
              <a:t>1. Discovery — Identify &amp; Validate the Right Problem</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Discovery transforms market, user, and operational signals into validated business outcomes. Teams define the opportunity, quantify impact and ROI, and establish measurable success metrics. The output is a prioritized, high‑confidence problem worth solving.</a:t>
            </a:r>
          </a:p>
          <a:p>
            <a:r>
              <a:rPr lang="en-US" sz="1200" b="1" kern="1200" dirty="0">
                <a:solidFill>
                  <a:schemeClr val="tx1"/>
                </a:solidFill>
                <a:effectLst/>
                <a:latin typeface="+mn-lt"/>
                <a:ea typeface="+mn-ea"/>
                <a:cs typeface="+mn-cs"/>
              </a:rPr>
              <a:t>2. Inception — Architect the Solution</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Inception converts the validated outcome into a complete solution blueprint. Specifications, architecture, UX, prototypes, and work plans are generated to ensure clarity across engineering, design, and product teams. The result is a build‑ready plan with aligned stakeholders.</a:t>
            </a:r>
          </a:p>
          <a:p>
            <a:r>
              <a:rPr lang="en-US" sz="1200" b="1" kern="1200" dirty="0">
                <a:solidFill>
                  <a:schemeClr val="tx1"/>
                </a:solidFill>
                <a:effectLst/>
                <a:latin typeface="+mn-lt"/>
                <a:ea typeface="+mn-ea"/>
                <a:cs typeface="+mn-cs"/>
              </a:rPr>
              <a:t>3. Construction — Build, Demo, Refine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Construction executes an iterative engineering loop that turns specs into hardened increments. Automated code generation, reviews, testing, and performance hardening accelerate delivery while maintaining quality. Each cycle produces a stable, demo‑ready feature.</a:t>
            </a:r>
          </a:p>
          <a:p>
            <a:r>
              <a:rPr lang="en-US" sz="1200" b="1" kern="1200" dirty="0">
                <a:solidFill>
                  <a:schemeClr val="tx1"/>
                </a:solidFill>
                <a:effectLst/>
                <a:latin typeface="+mn-lt"/>
                <a:ea typeface="+mn-ea"/>
                <a:cs typeface="+mn-cs"/>
              </a:rPr>
              <a:t>4. Readiness — Prepare for Launch</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Readiness ensures the product meets operational, compliance, and reliability standards. Release notes, runbooks, monitoring baselines, and readiness scoring confirm that the system is safe and stable for deployment. This phase reduces launch risk and improves predictability.</a:t>
            </a:r>
          </a:p>
          <a:p>
            <a:r>
              <a:rPr lang="en-US" sz="1200" b="1" kern="1200" dirty="0">
                <a:solidFill>
                  <a:schemeClr val="tx1"/>
                </a:solidFill>
                <a:effectLst/>
                <a:latin typeface="+mn-lt"/>
                <a:ea typeface="+mn-ea"/>
                <a:cs typeface="+mn-cs"/>
              </a:rPr>
              <a:t>5. Operations — Run, Monitor &amp; Improve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Operations manages the live AI system with continuous monitoring, automated defect detection, incident response, cost optimization, and risk management.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Insights from production feed directly back into Discovery, creating a closed loop that drives continuous improvement.</a:t>
            </a: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b="1" i="0" u="none" strike="noStrike" kern="1200" baseline="0" dirty="0">
                <a:solidFill>
                  <a:schemeClr val="tx1"/>
                </a:solidFill>
                <a:latin typeface="+mn-lt"/>
                <a:ea typeface="+mn-ea"/>
                <a:cs typeface="+mn-cs"/>
              </a:rPr>
              <a:t>Layer 1 The model </a:t>
            </a:r>
            <a:r>
              <a:rPr lang="en-US" sz="1200" b="0" i="0" u="none" strike="noStrike" kern="1200" baseline="0" dirty="0">
                <a:solidFill>
                  <a:schemeClr val="tx1"/>
                </a:solidFill>
                <a:latin typeface="+mn-lt"/>
                <a:ea typeface="+mn-ea"/>
                <a:cs typeface="+mn-cs"/>
              </a:rPr>
              <a:t>the one non-deterministic component</a:t>
            </a:r>
          </a:p>
          <a:p>
            <a:endParaRPr lang="en-US" sz="1200" b="1"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Layer 2 The wrapping layer </a:t>
            </a:r>
            <a:r>
              <a:rPr lang="en-US" sz="1200" b="0" i="0" u="none" strike="noStrike" kern="1200" baseline="0" dirty="0">
                <a:solidFill>
                  <a:schemeClr val="tx1"/>
                </a:solidFill>
                <a:latin typeface="+mn-lt"/>
                <a:ea typeface="+mn-ea"/>
                <a:cs typeface="+mn-cs"/>
              </a:rPr>
              <a:t>knowledge, tools, memory. </a:t>
            </a:r>
            <a:r>
              <a:rPr lang="en-US" sz="1200" b="1" i="0" u="none" strike="noStrike" kern="1200" baseline="0" dirty="0">
                <a:solidFill>
                  <a:schemeClr val="tx1"/>
                </a:solidFill>
                <a:latin typeface="+mn-lt"/>
                <a:ea typeface="+mn-ea"/>
                <a:cs typeface="+mn-cs"/>
              </a:rPr>
              <a:t>knowledge </a:t>
            </a:r>
            <a:r>
              <a:rPr lang="en-US" sz="1200" b="0" i="0" u="none" strike="noStrike" kern="1200" baseline="0" dirty="0">
                <a:solidFill>
                  <a:schemeClr val="tx1"/>
                </a:solidFill>
                <a:latin typeface="+mn-lt"/>
                <a:ea typeface="+mn-ea"/>
                <a:cs typeface="+mn-cs"/>
              </a:rPr>
              <a:t>(what the system knows, usually</a:t>
            </a:r>
          </a:p>
          <a:p>
            <a:r>
              <a:rPr lang="en-US" sz="1200" b="0" i="0" u="none" strike="noStrike" kern="1200" baseline="0" dirty="0">
                <a:solidFill>
                  <a:schemeClr val="tx1"/>
                </a:solidFill>
                <a:latin typeface="+mn-lt"/>
                <a:ea typeface="+mn-ea"/>
                <a:cs typeface="+mn-cs"/>
              </a:rPr>
              <a:t>retrieval over your own data), </a:t>
            </a:r>
            <a:r>
              <a:rPr lang="en-US" sz="1200" b="1" i="0" u="none" strike="noStrike" kern="1200" baseline="0" dirty="0">
                <a:solidFill>
                  <a:schemeClr val="tx1"/>
                </a:solidFill>
                <a:latin typeface="+mn-lt"/>
                <a:ea typeface="+mn-ea"/>
                <a:cs typeface="+mn-cs"/>
              </a:rPr>
              <a:t>tools </a:t>
            </a:r>
            <a:r>
              <a:rPr lang="en-US" sz="1200" b="0" i="0" u="none" strike="noStrike" kern="1200" baseline="0" dirty="0">
                <a:solidFill>
                  <a:schemeClr val="tx1"/>
                </a:solidFill>
                <a:latin typeface="+mn-lt"/>
                <a:ea typeface="+mn-ea"/>
                <a:cs typeface="+mn-cs"/>
              </a:rPr>
              <a:t>(what the system can do, the typed</a:t>
            </a:r>
          </a:p>
          <a:p>
            <a:r>
              <a:rPr lang="en-US" sz="1200" b="0" i="0" u="none" strike="noStrike" kern="1200" baseline="0" dirty="0">
                <a:solidFill>
                  <a:schemeClr val="tx1"/>
                </a:solidFill>
                <a:latin typeface="+mn-lt"/>
                <a:ea typeface="+mn-ea"/>
                <a:cs typeface="+mn-cs"/>
              </a:rPr>
              <a:t>actions it can take), and </a:t>
            </a:r>
            <a:r>
              <a:rPr lang="en-US" sz="1200" b="1" i="0" u="none" strike="noStrike" kern="1200" baseline="0" dirty="0">
                <a:solidFill>
                  <a:schemeClr val="tx1"/>
                </a:solidFill>
                <a:latin typeface="+mn-lt"/>
                <a:ea typeface="+mn-ea"/>
                <a:cs typeface="+mn-cs"/>
              </a:rPr>
              <a:t>memory </a:t>
            </a:r>
            <a:r>
              <a:rPr lang="en-US" sz="1200" b="0" i="0" u="none" strike="noStrike" kern="1200" baseline="0" dirty="0">
                <a:solidFill>
                  <a:schemeClr val="tx1"/>
                </a:solidFill>
                <a:latin typeface="+mn-lt"/>
                <a:ea typeface="+mn-ea"/>
                <a:cs typeface="+mn-cs"/>
              </a:rPr>
              <a:t>(what it remembers across a turn, a task,</a:t>
            </a:r>
          </a:p>
          <a:p>
            <a:r>
              <a:rPr lang="en-US" sz="1200" b="0" i="0" u="none" strike="noStrike" kern="1200" baseline="0" dirty="0">
                <a:solidFill>
                  <a:schemeClr val="tx1"/>
                </a:solidFill>
                <a:latin typeface="+mn-lt"/>
                <a:ea typeface="+mn-ea"/>
                <a:cs typeface="+mn-cs"/>
              </a:rPr>
              <a:t>and a user).</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Layer 3 Evals and guardrails </a:t>
            </a:r>
            <a:r>
              <a:rPr lang="en-US" sz="1200" b="0" i="0" u="none" strike="noStrike" kern="1200" baseline="0" dirty="0">
                <a:solidFill>
                  <a:schemeClr val="tx1"/>
                </a:solidFill>
                <a:latin typeface="+mn-lt"/>
                <a:ea typeface="+mn-ea"/>
                <a:cs typeface="+mn-cs"/>
              </a:rPr>
              <a:t>the release gate, moved to the center. This layer is </a:t>
            </a:r>
            <a:r>
              <a:rPr lang="en-US" sz="1200" b="1" i="0" u="none" strike="noStrike" kern="1200" baseline="0" dirty="0">
                <a:solidFill>
                  <a:schemeClr val="tx1"/>
                </a:solidFill>
                <a:latin typeface="+mn-lt"/>
                <a:ea typeface="+mn-ea"/>
                <a:cs typeface="+mn-cs"/>
              </a:rPr>
              <a:t>evals </a:t>
            </a:r>
            <a:r>
              <a:rPr lang="en-US" sz="1200" b="0" i="0" u="none" strike="noStrike" kern="1200" baseline="0" dirty="0">
                <a:solidFill>
                  <a:schemeClr val="tx1"/>
                </a:solidFill>
                <a:latin typeface="+mn-lt"/>
                <a:ea typeface="+mn-ea"/>
                <a:cs typeface="+mn-cs"/>
              </a:rPr>
              <a:t>(how you measure quality offline and online, and</a:t>
            </a:r>
          </a:p>
          <a:p>
            <a:r>
              <a:rPr lang="en-US" sz="1200" b="0" i="0" u="none" strike="noStrike" kern="1200" baseline="0" dirty="0">
                <a:solidFill>
                  <a:schemeClr val="tx1"/>
                </a:solidFill>
                <a:latin typeface="+mn-lt"/>
                <a:ea typeface="+mn-ea"/>
                <a:cs typeface="+mn-cs"/>
              </a:rPr>
              <a:t>catch silent degradation) and </a:t>
            </a:r>
            <a:r>
              <a:rPr lang="en-US" sz="1200" b="1" i="0" u="none" strike="noStrike" kern="1200" baseline="0" dirty="0">
                <a:solidFill>
                  <a:schemeClr val="tx1"/>
                </a:solidFill>
                <a:latin typeface="+mn-lt"/>
                <a:ea typeface="+mn-ea"/>
                <a:cs typeface="+mn-cs"/>
              </a:rPr>
              <a:t>guardrails </a:t>
            </a:r>
            <a:r>
              <a:rPr lang="en-US" sz="1200" b="0" i="0" u="none" strike="noStrike" kern="1200" baseline="0" dirty="0">
                <a:solidFill>
                  <a:schemeClr val="tx1"/>
                </a:solidFill>
                <a:latin typeface="+mn-lt"/>
                <a:ea typeface="+mn-ea"/>
                <a:cs typeface="+mn-cs"/>
              </a:rPr>
              <a:t>(the runtime checks on input and</a:t>
            </a:r>
          </a:p>
          <a:p>
            <a:r>
              <a:rPr lang="en-US" sz="1200" b="0" i="0" u="none" strike="noStrike" kern="1200" baseline="0" dirty="0">
                <a:solidFill>
                  <a:schemeClr val="tx1"/>
                </a:solidFill>
                <a:latin typeface="+mn-lt"/>
                <a:ea typeface="+mn-ea"/>
                <a:cs typeface="+mn-cs"/>
              </a:rPr>
              <a:t>output that keep a bad generation from reaching a user or an action).</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Layer 4 Production and ops </a:t>
            </a:r>
            <a:r>
              <a:rPr lang="en-US" sz="1200" b="0" i="0" u="none" strike="noStrike" kern="1200" baseline="0" dirty="0">
                <a:solidFill>
                  <a:schemeClr val="tx1"/>
                </a:solidFill>
                <a:latin typeface="+mn-lt"/>
                <a:ea typeface="+mn-ea"/>
                <a:cs typeface="+mn-cs"/>
              </a:rPr>
              <a:t>serving, latency, cost, observability, rollback. What it takes to run the thing: serving and</a:t>
            </a:r>
          </a:p>
          <a:p>
            <a:r>
              <a:rPr lang="en-US" sz="1200" b="0" i="0" u="none" strike="noStrike" kern="1200" baseline="0" dirty="0">
                <a:solidFill>
                  <a:schemeClr val="tx1"/>
                </a:solidFill>
                <a:latin typeface="+mn-lt"/>
                <a:ea typeface="+mn-ea"/>
                <a:cs typeface="+mn-cs"/>
              </a:rPr>
              <a:t>scale, the cost, latency, and quality triangle, observability so every step is a</a:t>
            </a:r>
          </a:p>
          <a:p>
            <a:r>
              <a:rPr lang="en-US" sz="1200" b="0" i="0" u="none" strike="noStrike" kern="1200" baseline="0" dirty="0">
                <a:solidFill>
                  <a:schemeClr val="tx1"/>
                </a:solidFill>
                <a:latin typeface="+mn-lt"/>
                <a:ea typeface="+mn-ea"/>
                <a:cs typeface="+mn-cs"/>
              </a:rPr>
              <a:t>traceable span, and a rollback plan.</a:t>
            </a:r>
          </a:p>
          <a:p>
            <a:endParaRPr lang="en-US" sz="1200" b="0" i="0" u="none" strike="noStrike" kern="1200" baseline="0" dirty="0">
              <a:solidFill>
                <a:schemeClr val="tx1"/>
              </a:solidFill>
              <a:latin typeface="+mn-lt"/>
              <a:ea typeface="+mn-ea"/>
              <a:cs typeface="+mn-cs"/>
            </a:endParaRPr>
          </a:p>
          <a:p>
            <a:r>
              <a:rPr lang="en-US" sz="1200" b="1" i="0" u="none" strike="noStrike" kern="1200" baseline="0" dirty="0">
                <a:solidFill>
                  <a:schemeClr val="tx1"/>
                </a:solidFill>
                <a:latin typeface="+mn-lt"/>
                <a:ea typeface="+mn-ea"/>
                <a:cs typeface="+mn-cs"/>
              </a:rPr>
              <a:t>Layer 5 Optimization </a:t>
            </a:r>
            <a:r>
              <a:rPr lang="en-US" sz="1200" b="0" i="0" u="none" strike="noStrike" kern="1200" baseline="0" dirty="0">
                <a:solidFill>
                  <a:schemeClr val="tx1"/>
                </a:solidFill>
                <a:latin typeface="+mn-lt"/>
                <a:ea typeface="+mn-ea"/>
                <a:cs typeface="+mn-cs"/>
              </a:rPr>
              <a:t>routing, caching, and where multi-agent belongs. Once the system works</a:t>
            </a:r>
          </a:p>
          <a:p>
            <a:r>
              <a:rPr lang="en-US" sz="1200" b="0" i="0" u="none" strike="noStrike" kern="1200" baseline="0" dirty="0">
                <a:solidFill>
                  <a:schemeClr val="tx1"/>
                </a:solidFill>
                <a:latin typeface="+mn-lt"/>
                <a:ea typeface="+mn-ea"/>
                <a:cs typeface="+mn-cs"/>
              </a:rPr>
              <a:t>and you can measure it, you make it faster and cheaper: model routing,</a:t>
            </a:r>
          </a:p>
          <a:p>
            <a:r>
              <a:rPr lang="en-US" sz="1200" b="0" i="0" u="none" strike="noStrike" kern="1200" baseline="0" dirty="0">
                <a:solidFill>
                  <a:schemeClr val="tx1"/>
                </a:solidFill>
                <a:latin typeface="+mn-lt"/>
                <a:ea typeface="+mn-ea"/>
                <a:cs typeface="+mn-cs"/>
              </a:rPr>
              <a:t>caching, and, where the task genuinely justifies it, multi-agent orchestration.</a:t>
            </a:r>
          </a:p>
          <a:p>
            <a:r>
              <a:rPr lang="en-US" sz="1200" b="0" i="0" u="none" strike="noStrike" kern="1200" baseline="0" dirty="0">
                <a:solidFill>
                  <a:schemeClr val="tx1"/>
                </a:solidFill>
                <a:latin typeface="+mn-lt"/>
                <a:ea typeface="+mn-ea"/>
                <a:cs typeface="+mn-cs"/>
              </a:rPr>
              <a:t>Multi-agent lives here because it is an optimization, not a starting</a:t>
            </a:r>
          </a:p>
          <a:p>
            <a:r>
              <a:rPr lang="en-US" sz="1200" b="0" i="0" u="none" strike="noStrike" kern="1200" baseline="0" dirty="0">
                <a:solidFill>
                  <a:schemeClr val="tx1"/>
                </a:solidFill>
                <a:latin typeface="+mn-lt"/>
                <a:ea typeface="+mn-ea"/>
                <a:cs typeface="+mn-cs"/>
              </a:rPr>
              <a:t>point.</a:t>
            </a:r>
          </a:p>
          <a:p>
            <a:endParaRPr lang="en-US" sz="1200" b="0" i="0" u="none" strike="noStrike" kern="1200" baseline="0" dirty="0">
              <a:solidFill>
                <a:schemeClr val="tx1"/>
              </a:solidFill>
              <a:effectLst/>
              <a:latin typeface="+mn-lt"/>
              <a:ea typeface="+mn-ea"/>
              <a:cs typeface="+mn-cs"/>
            </a:endParaRPr>
          </a:p>
          <a:p>
            <a:endParaRPr lang="en-US" sz="1200" b="0" i="0" u="none" strike="noStrike" kern="1200" baseline="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0DCE15A-E97A-7251-CCED-97C84929379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027220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scoping discipline from the system-design methodology being used — name the user, write the outcome before the system, narrow the AI intervention until it hurts, and name the safety net at scoping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real Layer-1 indicator registry from the code (src/quant_core/ontology.py), not illustrative content. Each row now shows the full path the original framework itself uses — category (factor) above, specific subfactor below, e.g. 'POLICY → CMS Medicare Advantage rate notice' — mirroring how S&amp;P and IMD structure their own raw data (S&amp;P: 6 categories / 22 subfactors; IMD WCY: 4 factors / 20 subfactors; IMD WDCR: 3 factors / 9 subfactors) before this project's own registry adapted a smaller, purpose-built set for a payer. The point of this slide: raw fields from three structurally incompatible sources all get mapped into the SAME seven-driver taxonomy before any transform or weighting touches them. That ordering matters: meaning is standardized first (this slide), scale is standardized second (harmonize.py), and weights are computed last (weighting.py) — mixing those steps out of order is exactly the 'ontological fragmentation' problem the source framework was designed to solve. If asked why an indicator loads on more than one driver (e.g. the CMS MA rate notice loading on both Capital and Demand), the answer is that the loading scale is 0-3 relevance, not a one-hot category — a single event can matter to more than one driver at different strengths.</a:t>
            </a:r>
          </a:p>
          <a:p>
            <a:endParaRPr lang="en-US" dirty="0"/>
          </a:p>
          <a:p>
            <a:r>
              <a:rPr lang="en-US" dirty="0"/>
              <a:t>CMS – Center for Medicare &amp; Medicaid Services</a:t>
            </a:r>
          </a:p>
          <a:p>
            <a:r>
              <a:rPr lang="en-US" dirty="0"/>
              <a:t>MA – Medicare Advantages</a:t>
            </a:r>
          </a:p>
          <a:p>
            <a:r>
              <a:rPr lang="en-US" dirty="0"/>
              <a:t>IMD – International Institute for Management Development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a deliberate re-weighting of the six disruptors to the business, not even coverage for its own sake.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As per the five-layer spine, evals/guardrails move to the center rather than being a final QA pass, and multi-agent is explicitly the last resort, not a default. Both are direct rebuttals to the most common design mistakes in this space. Note: observability lives under Layer 4 (production and ops) here, not Layer 3 — Layer 3 owns guardrails and evals specifically; this separation is deliberate, not an oversight.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Discussing how AI DLC and five-layer spine fit together. They are not different. AI DLC is a process timeline for how AI-assisted teams build products; the five-layer spine is an architecture anatomy for a single AI system, different kinds of frameworks, so this is 'which layer is the primary focus at this point in the process,' not a strict 1:1. Discovery and Inception both seed Layer 3 (evals) before Construction runs them, evals aren't bolted on at the end in either framework, which is exactly the discipline the book argues for. The representative-skill names under each phase are taken directly from the AI DLC source document, not invented for this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key visual point: most of the pipeline is gray (deterministic, no LLM). </a:t>
            </a:r>
          </a:p>
          <a:p>
            <a:r>
              <a:rPr lang="en-US" dirty="0"/>
              <a:t>Only one tier is blue (the AI layer), and </a:t>
            </a:r>
          </a:p>
          <a:p>
            <a:r>
              <a:rPr lang="en-US" dirty="0"/>
              <a:t>it's immediately followed by a red guardrail gate before anything reaches a person. Honestly AI is in three narrow places, on purpose. And this is for PoC.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Bridge to a live code walkthrough if the panel wants to go deeper.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model-selection logic: match model strength to the cost of being wrong, not to task difficulty alone. Parsing and narration fail visibly (a validation error, a template that reads oddly); overlay extraction fails silently if wrong, which is why it gets both the stronger model and the human gate.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layer is positioned at the center of the design, not as a final QA pass, which is the single biggest methodological difference from a naive build. Say explicitly: the eval design changed with the domain — a healthcare policy </a:t>
            </a:r>
            <a:r>
              <a:rPr lang="en-US" dirty="0" err="1"/>
              <a:t>backtest</a:t>
            </a:r>
            <a:r>
              <a:rPr lang="en-US" dirty="0"/>
              <a:t>, not a generic accuracy benchmark.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a direct answer to 'why single pipeline instead of multi-agent,' which was explicitly discussed and pressure-tested earlier in the design process. Keep the answer anchored to task shape, not to a general skepticism of multi-agent systems.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Frame the whole slide as: naming a limitation you scoped on purpose is a stronger answer than being caught by one you didn't see. Don't rush this slide — it's the most differentiated material in the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Emphasize this is a real </a:t>
            </a:r>
            <a:r>
              <a:rPr lang="en-US" dirty="0" err="1"/>
              <a:t>backtest</a:t>
            </a:r>
            <a:r>
              <a:rPr lang="en-US" dirty="0"/>
              <a:t> against disclosed, independently verifiable numbers — not a synthetic benchmark. This is the credibility anchor for the whole result story.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five are the ones prepared in full in the written narrative doc. If something outside this list comes up, use the same move: name the gap plainly, explain the tradeoff, state what the next version looks like.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730592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B45"/>
        </a:solidFill>
        <a:effectLst/>
      </p:bgPr>
    </p:bg>
    <p:spTree>
      <p:nvGrpSpPr>
        <p:cNvPr id="1" name=""/>
        <p:cNvGrpSpPr/>
        <p:nvPr/>
      </p:nvGrpSpPr>
      <p:grpSpPr>
        <a:xfrm>
          <a:off x="0" y="0"/>
          <a:ext cx="0" cy="0"/>
          <a:chOff x="0" y="0"/>
          <a:chExt cx="0" cy="0"/>
        </a:xfrm>
      </p:grpSpPr>
      <p:sp>
        <p:nvSpPr>
          <p:cNvPr id="3" name="Text 1"/>
          <p:cNvSpPr/>
          <p:nvPr/>
        </p:nvSpPr>
        <p:spPr>
          <a:xfrm>
            <a:off x="822960" y="1284514"/>
            <a:ext cx="9278983" cy="2373086"/>
          </a:xfrm>
          <a:prstGeom prst="rect">
            <a:avLst/>
          </a:prstGeom>
          <a:noFill/>
          <a:ln/>
        </p:spPr>
        <p:txBody>
          <a:bodyPr wrap="square" lIns="0" tIns="0" rIns="0" bIns="0" rtlCol="0" anchor="ctr"/>
          <a:lstStyle/>
          <a:p>
            <a:pPr marL="571500" indent="-571500" algn="just">
              <a:buFont typeface="Wingdings" panose="05000000000000000000" pitchFamily="2" charset="2"/>
              <a:buChar char="Ø"/>
            </a:pPr>
            <a:r>
              <a:rPr lang="en-US" sz="3600" b="1" dirty="0">
                <a:solidFill>
                  <a:srgbClr val="FFFFFF"/>
                </a:solidFill>
                <a:latin typeface="Cambria" pitchFamily="34" charset="0"/>
                <a:ea typeface="Cambria" pitchFamily="34" charset="-122"/>
                <a:cs typeface="Cambria" pitchFamily="34" charset="-120"/>
              </a:rPr>
              <a:t>Self Introduction</a:t>
            </a:r>
          </a:p>
          <a:p>
            <a:pPr marL="571500" indent="-571500" algn="just">
              <a:buFont typeface="Wingdings" panose="05000000000000000000" pitchFamily="2" charset="2"/>
              <a:buChar char="Ø"/>
            </a:pPr>
            <a:r>
              <a:rPr lang="en-US" sz="3600" b="1" dirty="0">
                <a:solidFill>
                  <a:srgbClr val="FFFFFF"/>
                </a:solidFill>
                <a:latin typeface="Cambria" pitchFamily="34" charset="0"/>
                <a:ea typeface="Cambria" pitchFamily="34" charset="-122"/>
              </a:rPr>
              <a:t>Problem statement / Business Case</a:t>
            </a:r>
          </a:p>
          <a:p>
            <a:pPr marL="571500" indent="-571500" algn="just">
              <a:buFont typeface="Wingdings" panose="05000000000000000000" pitchFamily="2" charset="2"/>
              <a:buChar char="Ø"/>
            </a:pPr>
            <a:r>
              <a:rPr lang="en-US" sz="3600" b="1" dirty="0">
                <a:solidFill>
                  <a:srgbClr val="FFFFFF"/>
                </a:solidFill>
                <a:latin typeface="Cambria" pitchFamily="34" charset="0"/>
                <a:ea typeface="Cambria" pitchFamily="34" charset="-122"/>
              </a:rPr>
              <a:t>Code Walk through (POC)</a:t>
            </a:r>
          </a:p>
          <a:p>
            <a:pPr marL="571500" indent="-571500" algn="ctr">
              <a:buFont typeface="Wingdings" panose="05000000000000000000" pitchFamily="2" charset="2"/>
              <a:buChar char="Ø"/>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32B45"/>
        </a:solidFill>
        <a:effectLst/>
      </p:bgPr>
    </p:bg>
    <p:spTree>
      <p:nvGrpSpPr>
        <p:cNvPr id="1" name="">
          <a:extLst>
            <a:ext uri="{FF2B5EF4-FFF2-40B4-BE49-F238E27FC236}">
              <a16:creationId xmlns:a16="http://schemas.microsoft.com/office/drawing/2014/main" id="{E4013FFE-EA09-76EE-7EC5-2CDD165DBE7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3F6DDE8-2F2D-7280-CB6A-4DA86B6AE22D}"/>
              </a:ext>
            </a:extLst>
          </p:cNvPr>
          <p:cNvSpPr/>
          <p:nvPr/>
        </p:nvSpPr>
        <p:spPr>
          <a:xfrm>
            <a:off x="0" y="4754874"/>
            <a:ext cx="12188952" cy="18288"/>
          </a:xfrm>
          <a:prstGeom prst="rect">
            <a:avLst/>
          </a:prstGeom>
          <a:solidFill>
            <a:srgbClr val="C97B2B"/>
          </a:solidFill>
          <a:ln/>
        </p:spPr>
        <p:txBody>
          <a:bodyPr/>
          <a:lstStyle/>
          <a:p>
            <a:endParaRPr lang="en-US"/>
          </a:p>
        </p:txBody>
      </p:sp>
      <p:sp>
        <p:nvSpPr>
          <p:cNvPr id="3" name="Text 1">
            <a:extLst>
              <a:ext uri="{FF2B5EF4-FFF2-40B4-BE49-F238E27FC236}">
                <a16:creationId xmlns:a16="http://schemas.microsoft.com/office/drawing/2014/main" id="{3482BC4D-6351-5997-C718-640CEAE467BC}"/>
              </a:ext>
            </a:extLst>
          </p:cNvPr>
          <p:cNvSpPr/>
          <p:nvPr/>
        </p:nvSpPr>
        <p:spPr>
          <a:xfrm>
            <a:off x="359232" y="881743"/>
            <a:ext cx="7648303" cy="2388617"/>
          </a:xfrm>
          <a:prstGeom prst="rect">
            <a:avLst/>
          </a:prstGeom>
          <a:noFill/>
          <a:ln/>
        </p:spPr>
        <p:txBody>
          <a:bodyPr wrap="square" lIns="0" tIns="0" rIns="0" bIns="0"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Geopolitical and regulatory </a:t>
            </a:r>
          </a:p>
          <a:p>
            <a:pPr marL="0" indent="0" algn="ctr">
              <a:buNone/>
            </a:pPr>
            <a:r>
              <a:rPr lang="en-US" sz="3600" b="1" dirty="0">
                <a:solidFill>
                  <a:srgbClr val="FFFFFF"/>
                </a:solidFill>
                <a:latin typeface="Cambria" pitchFamily="34" charset="0"/>
                <a:ea typeface="Cambria" pitchFamily="34" charset="-122"/>
                <a:cs typeface="Cambria" pitchFamily="34" charset="-120"/>
              </a:rPr>
              <a:t>risk intelligence </a:t>
            </a:r>
          </a:p>
          <a:p>
            <a:pPr marL="0" indent="0" algn="ctr">
              <a:buNone/>
            </a:pPr>
            <a:r>
              <a:rPr lang="en-US" sz="3600" b="1" dirty="0">
                <a:solidFill>
                  <a:srgbClr val="FFFFFF"/>
                </a:solidFill>
                <a:latin typeface="Cambria" pitchFamily="34" charset="0"/>
                <a:ea typeface="Cambria" pitchFamily="34" charset="-122"/>
                <a:cs typeface="Cambria" pitchFamily="34" charset="-120"/>
              </a:rPr>
              <a:t>for </a:t>
            </a:r>
          </a:p>
          <a:p>
            <a:pPr marL="0" indent="0" algn="ctr">
              <a:buNone/>
            </a:pPr>
            <a:r>
              <a:rPr lang="en-US" sz="3600" b="1" dirty="0">
                <a:solidFill>
                  <a:srgbClr val="FFFFFF"/>
                </a:solidFill>
                <a:latin typeface="Cambria" pitchFamily="34" charset="0"/>
                <a:ea typeface="Cambria" pitchFamily="34" charset="-122"/>
                <a:cs typeface="Cambria" pitchFamily="34" charset="-120"/>
              </a:rPr>
              <a:t>UnitedHealth Group</a:t>
            </a:r>
            <a:endParaRPr lang="en-US" sz="3600" dirty="0"/>
          </a:p>
        </p:txBody>
      </p:sp>
      <p:sp>
        <p:nvSpPr>
          <p:cNvPr id="5" name="Text 3">
            <a:extLst>
              <a:ext uri="{FF2B5EF4-FFF2-40B4-BE49-F238E27FC236}">
                <a16:creationId xmlns:a16="http://schemas.microsoft.com/office/drawing/2014/main" id="{2F6EB018-A2AF-FD6A-91B0-FFCA227A5281}"/>
              </a:ext>
            </a:extLst>
          </p:cNvPr>
          <p:cNvSpPr/>
          <p:nvPr/>
        </p:nvSpPr>
        <p:spPr>
          <a:xfrm>
            <a:off x="822960" y="6035040"/>
            <a:ext cx="10058400" cy="365760"/>
          </a:xfrm>
          <a:prstGeom prst="rect">
            <a:avLst/>
          </a:prstGeom>
          <a:noFill/>
          <a:ln/>
        </p:spPr>
        <p:txBody>
          <a:bodyPr wrap="square" lIns="0" tIns="0" rIns="0" bIns="0" rtlCol="0" anchor="ctr"/>
          <a:lstStyle/>
          <a:p>
            <a:pPr marL="0" indent="0">
              <a:buNone/>
            </a:pPr>
            <a:r>
              <a:rPr lang="en-US" sz="1300" dirty="0">
                <a:solidFill>
                  <a:srgbClr val="7C93A3"/>
                </a:solidFill>
                <a:latin typeface="Calibri" pitchFamily="34" charset="0"/>
                <a:ea typeface="Calibri" pitchFamily="34" charset="-122"/>
                <a:cs typeface="Calibri" pitchFamily="34" charset="-120"/>
              </a:rPr>
              <a:t>technical walkthrough</a:t>
            </a:r>
            <a:endParaRPr lang="en-US" sz="1300" dirty="0"/>
          </a:p>
        </p:txBody>
      </p:sp>
      <p:sp>
        <p:nvSpPr>
          <p:cNvPr id="7" name="Text 5">
            <a:extLst>
              <a:ext uri="{FF2B5EF4-FFF2-40B4-BE49-F238E27FC236}">
                <a16:creationId xmlns:a16="http://schemas.microsoft.com/office/drawing/2014/main" id="{63933379-3128-B0A8-094D-25D907F53370}"/>
              </a:ext>
            </a:extLst>
          </p:cNvPr>
          <p:cNvSpPr/>
          <p:nvPr/>
        </p:nvSpPr>
        <p:spPr>
          <a:xfrm>
            <a:off x="1208913"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Discovery</a:t>
            </a:r>
            <a:endParaRPr lang="en-US" sz="1450" dirty="0">
              <a:solidFill>
                <a:schemeClr val="bg1"/>
              </a:solidFill>
            </a:endParaRPr>
          </a:p>
        </p:txBody>
      </p:sp>
      <p:sp>
        <p:nvSpPr>
          <p:cNvPr id="9" name="Text 15">
            <a:extLst>
              <a:ext uri="{FF2B5EF4-FFF2-40B4-BE49-F238E27FC236}">
                <a16:creationId xmlns:a16="http://schemas.microsoft.com/office/drawing/2014/main" id="{C6896A49-08FC-CD54-9F5F-3D46B8C7C6D4}"/>
              </a:ext>
            </a:extLst>
          </p:cNvPr>
          <p:cNvSpPr/>
          <p:nvPr/>
        </p:nvSpPr>
        <p:spPr>
          <a:xfrm>
            <a:off x="2991993"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Inception</a:t>
            </a:r>
            <a:endParaRPr lang="en-US" sz="1450" dirty="0">
              <a:solidFill>
                <a:schemeClr val="bg1"/>
              </a:solidFill>
            </a:endParaRPr>
          </a:p>
        </p:txBody>
      </p:sp>
      <p:sp>
        <p:nvSpPr>
          <p:cNvPr id="11" name="Text 27">
            <a:extLst>
              <a:ext uri="{FF2B5EF4-FFF2-40B4-BE49-F238E27FC236}">
                <a16:creationId xmlns:a16="http://schemas.microsoft.com/office/drawing/2014/main" id="{6418102F-7776-DD2D-887A-B07AA619067F}"/>
              </a:ext>
            </a:extLst>
          </p:cNvPr>
          <p:cNvSpPr/>
          <p:nvPr/>
        </p:nvSpPr>
        <p:spPr>
          <a:xfrm>
            <a:off x="5232273"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Construction</a:t>
            </a:r>
            <a:endParaRPr lang="en-US" sz="1450" dirty="0">
              <a:solidFill>
                <a:schemeClr val="bg1"/>
              </a:solidFill>
            </a:endParaRPr>
          </a:p>
        </p:txBody>
      </p:sp>
      <p:sp>
        <p:nvSpPr>
          <p:cNvPr id="13" name="Text 37">
            <a:extLst>
              <a:ext uri="{FF2B5EF4-FFF2-40B4-BE49-F238E27FC236}">
                <a16:creationId xmlns:a16="http://schemas.microsoft.com/office/drawing/2014/main" id="{AEBE678D-97A2-91E7-1483-C89E50686686}"/>
              </a:ext>
            </a:extLst>
          </p:cNvPr>
          <p:cNvSpPr/>
          <p:nvPr/>
        </p:nvSpPr>
        <p:spPr>
          <a:xfrm>
            <a:off x="7472553"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Readiness</a:t>
            </a:r>
            <a:endParaRPr lang="en-US" sz="1450" dirty="0">
              <a:solidFill>
                <a:schemeClr val="bg1"/>
              </a:solidFill>
            </a:endParaRPr>
          </a:p>
        </p:txBody>
      </p:sp>
      <p:sp>
        <p:nvSpPr>
          <p:cNvPr id="15" name="Text 47">
            <a:extLst>
              <a:ext uri="{FF2B5EF4-FFF2-40B4-BE49-F238E27FC236}">
                <a16:creationId xmlns:a16="http://schemas.microsoft.com/office/drawing/2014/main" id="{E2531784-A4EF-F39F-37B6-7C7884353C25}"/>
              </a:ext>
            </a:extLst>
          </p:cNvPr>
          <p:cNvSpPr/>
          <p:nvPr/>
        </p:nvSpPr>
        <p:spPr>
          <a:xfrm>
            <a:off x="9712833"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Operations</a:t>
            </a:r>
            <a:endParaRPr lang="en-US" sz="1450" dirty="0">
              <a:solidFill>
                <a:schemeClr val="bg1"/>
              </a:solidFill>
            </a:endParaRPr>
          </a:p>
        </p:txBody>
      </p:sp>
      <p:sp>
        <p:nvSpPr>
          <p:cNvPr id="17" name="Text 61">
            <a:extLst>
              <a:ext uri="{FF2B5EF4-FFF2-40B4-BE49-F238E27FC236}">
                <a16:creationId xmlns:a16="http://schemas.microsoft.com/office/drawing/2014/main" id="{C52220BC-1F00-4235-5F88-1CA9E6E75F52}"/>
              </a:ext>
            </a:extLst>
          </p:cNvPr>
          <p:cNvSpPr/>
          <p:nvPr/>
        </p:nvSpPr>
        <p:spPr>
          <a:xfrm>
            <a:off x="1149096" y="4826053"/>
            <a:ext cx="1984248" cy="256032"/>
          </a:xfrm>
          <a:prstGeom prst="rect">
            <a:avLst/>
          </a:prstGeom>
          <a:noFill/>
          <a:ln/>
        </p:spPr>
        <p:txBody>
          <a:bodyPr wrap="square" lIns="0" tIns="0" rIns="0" bIns="0" rtlCol="0" anchor="ctr"/>
          <a:lstStyle/>
          <a:p>
            <a:pPr marL="0" indent="0" algn="ctr">
              <a:buNone/>
            </a:pPr>
            <a:r>
              <a:rPr lang="en-US" sz="950" dirty="0">
                <a:solidFill>
                  <a:schemeClr val="bg1"/>
                </a:solidFill>
                <a:latin typeface="Calibri" pitchFamily="34" charset="0"/>
                <a:ea typeface="Calibri" pitchFamily="34" charset="-122"/>
                <a:cs typeface="Calibri" pitchFamily="34" charset="-120"/>
              </a:rPr>
              <a:t>Layer 1 — model</a:t>
            </a:r>
            <a:endParaRPr lang="en-US" sz="950" dirty="0">
              <a:solidFill>
                <a:schemeClr val="bg1"/>
              </a:solidFill>
            </a:endParaRPr>
          </a:p>
        </p:txBody>
      </p:sp>
      <p:sp>
        <p:nvSpPr>
          <p:cNvPr id="19" name="Text 63">
            <a:extLst>
              <a:ext uri="{FF2B5EF4-FFF2-40B4-BE49-F238E27FC236}">
                <a16:creationId xmlns:a16="http://schemas.microsoft.com/office/drawing/2014/main" id="{E5DABDC5-6BE1-F285-8C64-C654BA710F0E}"/>
              </a:ext>
            </a:extLst>
          </p:cNvPr>
          <p:cNvSpPr/>
          <p:nvPr/>
        </p:nvSpPr>
        <p:spPr>
          <a:xfrm>
            <a:off x="2980944" y="4826053"/>
            <a:ext cx="1984248" cy="256032"/>
          </a:xfrm>
          <a:prstGeom prst="rect">
            <a:avLst/>
          </a:prstGeom>
          <a:noFill/>
          <a:ln/>
        </p:spPr>
        <p:txBody>
          <a:bodyPr wrap="square" lIns="0" tIns="0" rIns="0" bIns="0" rtlCol="0" anchor="ctr"/>
          <a:lstStyle/>
          <a:p>
            <a:pPr marL="0" indent="0" algn="ctr">
              <a:buNone/>
            </a:pPr>
            <a:r>
              <a:rPr lang="en-US" sz="950" dirty="0">
                <a:solidFill>
                  <a:schemeClr val="bg1"/>
                </a:solidFill>
                <a:latin typeface="Calibri" pitchFamily="34" charset="0"/>
                <a:ea typeface="Calibri" pitchFamily="34" charset="-122"/>
                <a:cs typeface="Calibri" pitchFamily="34" charset="-120"/>
              </a:rPr>
              <a:t>Layer 2 — wrapping</a:t>
            </a:r>
            <a:endParaRPr lang="en-US" sz="950" dirty="0">
              <a:solidFill>
                <a:schemeClr val="bg1"/>
              </a:solidFill>
            </a:endParaRPr>
          </a:p>
        </p:txBody>
      </p:sp>
      <p:sp>
        <p:nvSpPr>
          <p:cNvPr id="21" name="Text 65">
            <a:extLst>
              <a:ext uri="{FF2B5EF4-FFF2-40B4-BE49-F238E27FC236}">
                <a16:creationId xmlns:a16="http://schemas.microsoft.com/office/drawing/2014/main" id="{80783C6C-AE3D-1AE6-C7DB-17EE0206D95D}"/>
              </a:ext>
            </a:extLst>
          </p:cNvPr>
          <p:cNvSpPr/>
          <p:nvPr/>
        </p:nvSpPr>
        <p:spPr>
          <a:xfrm>
            <a:off x="5193792" y="4826053"/>
            <a:ext cx="1984248" cy="256032"/>
          </a:xfrm>
          <a:prstGeom prst="rect">
            <a:avLst/>
          </a:prstGeom>
          <a:noFill/>
          <a:ln/>
        </p:spPr>
        <p:txBody>
          <a:bodyPr wrap="square" lIns="0" tIns="0" rIns="0" bIns="0" rtlCol="0" anchor="ctr"/>
          <a:lstStyle/>
          <a:p>
            <a:pPr marL="0" indent="0" algn="ctr">
              <a:buNone/>
            </a:pPr>
            <a:r>
              <a:rPr lang="en-US" sz="950" dirty="0">
                <a:solidFill>
                  <a:schemeClr val="bg1"/>
                </a:solidFill>
                <a:latin typeface="Calibri" pitchFamily="34" charset="0"/>
                <a:ea typeface="Calibri" pitchFamily="34" charset="-122"/>
                <a:cs typeface="Calibri" pitchFamily="34" charset="-120"/>
              </a:rPr>
              <a:t>Layer 3 — evals &amp; guardrails</a:t>
            </a:r>
            <a:endParaRPr lang="en-US" sz="950" dirty="0">
              <a:solidFill>
                <a:schemeClr val="bg1"/>
              </a:solidFill>
            </a:endParaRPr>
          </a:p>
        </p:txBody>
      </p:sp>
      <p:sp>
        <p:nvSpPr>
          <p:cNvPr id="23" name="Text 67">
            <a:extLst>
              <a:ext uri="{FF2B5EF4-FFF2-40B4-BE49-F238E27FC236}">
                <a16:creationId xmlns:a16="http://schemas.microsoft.com/office/drawing/2014/main" id="{828D1E80-F6A1-29DF-F4B1-9C0F4CD1B829}"/>
              </a:ext>
            </a:extLst>
          </p:cNvPr>
          <p:cNvSpPr/>
          <p:nvPr/>
        </p:nvSpPr>
        <p:spPr>
          <a:xfrm>
            <a:off x="7406640" y="4826053"/>
            <a:ext cx="1984248" cy="256032"/>
          </a:xfrm>
          <a:prstGeom prst="rect">
            <a:avLst/>
          </a:prstGeom>
          <a:noFill/>
          <a:ln/>
        </p:spPr>
        <p:txBody>
          <a:bodyPr wrap="square" lIns="0" tIns="0" rIns="0" bIns="0" rtlCol="0" anchor="ctr"/>
          <a:lstStyle/>
          <a:p>
            <a:pPr marL="0" indent="0" algn="ctr">
              <a:buNone/>
            </a:pPr>
            <a:r>
              <a:rPr lang="en-US" sz="950" dirty="0">
                <a:solidFill>
                  <a:schemeClr val="bg1"/>
                </a:solidFill>
                <a:latin typeface="Calibri" pitchFamily="34" charset="0"/>
                <a:ea typeface="Calibri" pitchFamily="34" charset="-122"/>
                <a:cs typeface="Calibri" pitchFamily="34" charset="-120"/>
              </a:rPr>
              <a:t>Layer 4 — production &amp; ops</a:t>
            </a:r>
            <a:endParaRPr lang="en-US" sz="950" dirty="0">
              <a:solidFill>
                <a:schemeClr val="bg1"/>
              </a:solidFill>
            </a:endParaRPr>
          </a:p>
        </p:txBody>
      </p:sp>
      <p:sp>
        <p:nvSpPr>
          <p:cNvPr id="25" name="Text 69">
            <a:extLst>
              <a:ext uri="{FF2B5EF4-FFF2-40B4-BE49-F238E27FC236}">
                <a16:creationId xmlns:a16="http://schemas.microsoft.com/office/drawing/2014/main" id="{4159887E-B0A0-6F64-63B7-EC818147D4CB}"/>
              </a:ext>
            </a:extLst>
          </p:cNvPr>
          <p:cNvSpPr/>
          <p:nvPr/>
        </p:nvSpPr>
        <p:spPr>
          <a:xfrm>
            <a:off x="9619488" y="4826053"/>
            <a:ext cx="1984248" cy="256032"/>
          </a:xfrm>
          <a:prstGeom prst="rect">
            <a:avLst/>
          </a:prstGeom>
          <a:noFill/>
          <a:ln/>
        </p:spPr>
        <p:txBody>
          <a:bodyPr wrap="square" lIns="0" tIns="0" rIns="0" bIns="0" rtlCol="0" anchor="ctr"/>
          <a:lstStyle/>
          <a:p>
            <a:pPr marL="0" indent="0" algn="ctr">
              <a:buNone/>
            </a:pPr>
            <a:r>
              <a:rPr lang="en-US" sz="950" dirty="0">
                <a:solidFill>
                  <a:schemeClr val="bg1"/>
                </a:solidFill>
                <a:latin typeface="Calibri" pitchFamily="34" charset="0"/>
                <a:ea typeface="Calibri" pitchFamily="34" charset="-122"/>
                <a:cs typeface="Calibri" pitchFamily="34" charset="-120"/>
              </a:rPr>
              <a:t>Layer 5 — optimization</a:t>
            </a:r>
            <a:endParaRPr lang="en-US" sz="950" dirty="0">
              <a:solidFill>
                <a:schemeClr val="bg1"/>
              </a:solidFill>
            </a:endParaRPr>
          </a:p>
        </p:txBody>
      </p:sp>
      <p:sp>
        <p:nvSpPr>
          <p:cNvPr id="27" name="Text 5">
            <a:extLst>
              <a:ext uri="{FF2B5EF4-FFF2-40B4-BE49-F238E27FC236}">
                <a16:creationId xmlns:a16="http://schemas.microsoft.com/office/drawing/2014/main" id="{0160561C-1F44-CB79-78E3-2BC7CD473661}"/>
              </a:ext>
            </a:extLst>
          </p:cNvPr>
          <p:cNvSpPr/>
          <p:nvPr/>
        </p:nvSpPr>
        <p:spPr>
          <a:xfrm>
            <a:off x="-48387" y="434835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AIDLC -&gt;</a:t>
            </a:r>
            <a:endParaRPr lang="en-US" sz="1450" dirty="0">
              <a:solidFill>
                <a:schemeClr val="bg1"/>
              </a:solidFill>
            </a:endParaRPr>
          </a:p>
        </p:txBody>
      </p:sp>
      <p:sp>
        <p:nvSpPr>
          <p:cNvPr id="29" name="Text 5">
            <a:extLst>
              <a:ext uri="{FF2B5EF4-FFF2-40B4-BE49-F238E27FC236}">
                <a16:creationId xmlns:a16="http://schemas.microsoft.com/office/drawing/2014/main" id="{480A1905-D3F5-A7F7-0C68-7219584FBC87}"/>
              </a:ext>
            </a:extLst>
          </p:cNvPr>
          <p:cNvSpPr/>
          <p:nvPr/>
        </p:nvSpPr>
        <p:spPr>
          <a:xfrm>
            <a:off x="-48387" y="4824603"/>
            <a:ext cx="1828800" cy="292608"/>
          </a:xfrm>
          <a:prstGeom prst="rect">
            <a:avLst/>
          </a:prstGeom>
          <a:noFill/>
          <a:ln/>
        </p:spPr>
        <p:txBody>
          <a:bodyPr wrap="square" lIns="0" tIns="0" rIns="0" bIns="0" rtlCol="0" anchor="ctr"/>
          <a:lstStyle/>
          <a:p>
            <a:pPr marL="0" indent="0" algn="ctr">
              <a:buNone/>
            </a:pPr>
            <a:r>
              <a:rPr lang="en-US" sz="1450" b="1" dirty="0">
                <a:solidFill>
                  <a:schemeClr val="bg1"/>
                </a:solidFill>
                <a:latin typeface="Calibri" pitchFamily="34" charset="0"/>
                <a:ea typeface="Calibri" pitchFamily="34" charset="-122"/>
                <a:cs typeface="Calibri" pitchFamily="34" charset="-120"/>
              </a:rPr>
              <a:t>5 Layer spine -&gt;</a:t>
            </a:r>
            <a:endParaRPr lang="en-US" sz="1450" dirty="0">
              <a:solidFill>
                <a:schemeClr val="bg1"/>
              </a:solidFill>
            </a:endParaRPr>
          </a:p>
        </p:txBody>
      </p:sp>
      <p:pic>
        <p:nvPicPr>
          <p:cNvPr id="6" name="Picture 5">
            <a:extLst>
              <a:ext uri="{FF2B5EF4-FFF2-40B4-BE49-F238E27FC236}">
                <a16:creationId xmlns:a16="http://schemas.microsoft.com/office/drawing/2014/main" id="{E05A52BF-0A01-0A94-71F2-BAF4D8D6116F}"/>
              </a:ext>
            </a:extLst>
          </p:cNvPr>
          <p:cNvPicPr>
            <a:picLocks noChangeAspect="1"/>
          </p:cNvPicPr>
          <p:nvPr/>
        </p:nvPicPr>
        <p:blipFill>
          <a:blip r:embed="rId3"/>
          <a:stretch>
            <a:fillRect/>
          </a:stretch>
        </p:blipFill>
        <p:spPr>
          <a:xfrm>
            <a:off x="7956395" y="117890"/>
            <a:ext cx="4181170" cy="2501235"/>
          </a:xfrm>
          <a:prstGeom prst="rect">
            <a:avLst/>
          </a:prstGeom>
        </p:spPr>
      </p:pic>
      <p:sp>
        <p:nvSpPr>
          <p:cNvPr id="10" name="Speech Bubble: Oval 9">
            <a:extLst>
              <a:ext uri="{FF2B5EF4-FFF2-40B4-BE49-F238E27FC236}">
                <a16:creationId xmlns:a16="http://schemas.microsoft.com/office/drawing/2014/main" id="{D1F44F1F-9525-1D69-C394-1B4BD4CF24CF}"/>
              </a:ext>
            </a:extLst>
          </p:cNvPr>
          <p:cNvSpPr/>
          <p:nvPr/>
        </p:nvSpPr>
        <p:spPr>
          <a:xfrm>
            <a:off x="1498754" y="3552565"/>
            <a:ext cx="1881894" cy="659843"/>
          </a:xfrm>
          <a:prstGeom prst="wedgeEllipseCallout">
            <a:avLst>
              <a:gd name="adj1" fmla="val -17015"/>
              <a:gd name="adj2" fmla="val 882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Identify and validate the Right problem</a:t>
            </a:r>
          </a:p>
        </p:txBody>
      </p:sp>
      <p:sp>
        <p:nvSpPr>
          <p:cNvPr id="18" name="Speech Bubble: Oval 17">
            <a:extLst>
              <a:ext uri="{FF2B5EF4-FFF2-40B4-BE49-F238E27FC236}">
                <a16:creationId xmlns:a16="http://schemas.microsoft.com/office/drawing/2014/main" id="{A95A8235-53B9-CC33-0A39-955F4D25596B}"/>
              </a:ext>
            </a:extLst>
          </p:cNvPr>
          <p:cNvSpPr/>
          <p:nvPr/>
        </p:nvSpPr>
        <p:spPr>
          <a:xfrm>
            <a:off x="3592707" y="3636801"/>
            <a:ext cx="1372486" cy="548407"/>
          </a:xfrm>
          <a:prstGeom prst="wedgeEllipseCallout">
            <a:avLst>
              <a:gd name="adj1" fmla="val -24640"/>
              <a:gd name="adj2" fmla="val 7917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Architect the Solution</a:t>
            </a:r>
          </a:p>
        </p:txBody>
      </p:sp>
      <p:sp>
        <p:nvSpPr>
          <p:cNvPr id="22" name="Speech Bubble: Oval 21">
            <a:extLst>
              <a:ext uri="{FF2B5EF4-FFF2-40B4-BE49-F238E27FC236}">
                <a16:creationId xmlns:a16="http://schemas.microsoft.com/office/drawing/2014/main" id="{8CB33E8F-E309-DDCC-BE1A-49E6ABD85691}"/>
              </a:ext>
            </a:extLst>
          </p:cNvPr>
          <p:cNvSpPr/>
          <p:nvPr/>
        </p:nvSpPr>
        <p:spPr>
          <a:xfrm>
            <a:off x="5477710" y="3636801"/>
            <a:ext cx="1700330" cy="531559"/>
          </a:xfrm>
          <a:prstGeom prst="wedgeEllipseCallout">
            <a:avLst>
              <a:gd name="adj1" fmla="val -19296"/>
              <a:gd name="adj2" fmla="val 9199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Build, Demo, Refine</a:t>
            </a:r>
          </a:p>
        </p:txBody>
      </p:sp>
      <p:sp>
        <p:nvSpPr>
          <p:cNvPr id="26" name="Speech Bubble: Oval 25">
            <a:extLst>
              <a:ext uri="{FF2B5EF4-FFF2-40B4-BE49-F238E27FC236}">
                <a16:creationId xmlns:a16="http://schemas.microsoft.com/office/drawing/2014/main" id="{9C715488-BB00-E775-A65F-06BEBFED9165}"/>
              </a:ext>
            </a:extLst>
          </p:cNvPr>
          <p:cNvSpPr/>
          <p:nvPr/>
        </p:nvSpPr>
        <p:spPr>
          <a:xfrm>
            <a:off x="7601023" y="3611620"/>
            <a:ext cx="1700330" cy="531559"/>
          </a:xfrm>
          <a:prstGeom prst="wedgeEllipseCallout">
            <a:avLst>
              <a:gd name="adj1" fmla="val -19297"/>
              <a:gd name="adj2" fmla="val 10427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Prepare for Launch</a:t>
            </a:r>
          </a:p>
        </p:txBody>
      </p:sp>
      <p:sp>
        <p:nvSpPr>
          <p:cNvPr id="30" name="Speech Bubble: Oval 29">
            <a:extLst>
              <a:ext uri="{FF2B5EF4-FFF2-40B4-BE49-F238E27FC236}">
                <a16:creationId xmlns:a16="http://schemas.microsoft.com/office/drawing/2014/main" id="{163593E2-5884-D770-CBE8-0E37B16C987B}"/>
              </a:ext>
            </a:extLst>
          </p:cNvPr>
          <p:cNvSpPr/>
          <p:nvPr/>
        </p:nvSpPr>
        <p:spPr>
          <a:xfrm>
            <a:off x="10031195" y="3572080"/>
            <a:ext cx="1700330" cy="531559"/>
          </a:xfrm>
          <a:prstGeom prst="wedgeEllipseCallout">
            <a:avLst>
              <a:gd name="adj1" fmla="val -20065"/>
              <a:gd name="adj2" fmla="val 98133"/>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bg1"/>
                </a:solidFill>
              </a:rPr>
              <a:t>Run, Monitor &amp; Improve</a:t>
            </a:r>
          </a:p>
        </p:txBody>
      </p:sp>
      <p:sp>
        <p:nvSpPr>
          <p:cNvPr id="36" name="Callout: Line 35">
            <a:extLst>
              <a:ext uri="{FF2B5EF4-FFF2-40B4-BE49-F238E27FC236}">
                <a16:creationId xmlns:a16="http://schemas.microsoft.com/office/drawing/2014/main" id="{8DB23702-6CFA-F6A7-5F90-C4EB8685D9AA}"/>
              </a:ext>
            </a:extLst>
          </p:cNvPr>
          <p:cNvSpPr/>
          <p:nvPr/>
        </p:nvSpPr>
        <p:spPr>
          <a:xfrm>
            <a:off x="3477511" y="5325956"/>
            <a:ext cx="1104410" cy="400110"/>
          </a:xfrm>
          <a:prstGeom prst="borderCallout1">
            <a:avLst>
              <a:gd name="adj1" fmla="val -1506"/>
              <a:gd name="adj2" fmla="val 49524"/>
              <a:gd name="adj3" fmla="val -57009"/>
              <a:gd name="adj4" fmla="val 29525"/>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Knowledge, tools, memory</a:t>
            </a:r>
          </a:p>
        </p:txBody>
      </p:sp>
      <p:sp>
        <p:nvSpPr>
          <p:cNvPr id="38" name="Callout: Line 37">
            <a:extLst>
              <a:ext uri="{FF2B5EF4-FFF2-40B4-BE49-F238E27FC236}">
                <a16:creationId xmlns:a16="http://schemas.microsoft.com/office/drawing/2014/main" id="{63CB0D34-EF55-A248-EC52-4A8CF28CF94E}"/>
              </a:ext>
            </a:extLst>
          </p:cNvPr>
          <p:cNvSpPr/>
          <p:nvPr/>
        </p:nvSpPr>
        <p:spPr>
          <a:xfrm>
            <a:off x="5823066" y="5325956"/>
            <a:ext cx="1104410" cy="400110"/>
          </a:xfrm>
          <a:prstGeom prst="borderCallout1">
            <a:avLst>
              <a:gd name="adj1" fmla="val -1506"/>
              <a:gd name="adj2" fmla="val 49524"/>
              <a:gd name="adj3" fmla="val -57009"/>
              <a:gd name="adj4" fmla="val 29525"/>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release gate, moved to the center</a:t>
            </a:r>
          </a:p>
        </p:txBody>
      </p:sp>
      <p:sp>
        <p:nvSpPr>
          <p:cNvPr id="40" name="Callout: Line 39">
            <a:extLst>
              <a:ext uri="{FF2B5EF4-FFF2-40B4-BE49-F238E27FC236}">
                <a16:creationId xmlns:a16="http://schemas.microsoft.com/office/drawing/2014/main" id="{6A90A593-1350-41DE-4EC9-F29AACC65262}"/>
              </a:ext>
            </a:extLst>
          </p:cNvPr>
          <p:cNvSpPr/>
          <p:nvPr/>
        </p:nvSpPr>
        <p:spPr>
          <a:xfrm>
            <a:off x="7872870" y="5313854"/>
            <a:ext cx="1104410" cy="400110"/>
          </a:xfrm>
          <a:prstGeom prst="borderCallout1">
            <a:avLst>
              <a:gd name="adj1" fmla="val -1506"/>
              <a:gd name="adj2" fmla="val 49524"/>
              <a:gd name="adj3" fmla="val -61906"/>
              <a:gd name="adj4" fmla="val 52589"/>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latency, cost, observability, rollback</a:t>
            </a:r>
          </a:p>
        </p:txBody>
      </p:sp>
      <p:sp>
        <p:nvSpPr>
          <p:cNvPr id="42" name="Callout: Line 41">
            <a:extLst>
              <a:ext uri="{FF2B5EF4-FFF2-40B4-BE49-F238E27FC236}">
                <a16:creationId xmlns:a16="http://schemas.microsoft.com/office/drawing/2014/main" id="{AB718F46-FF75-A477-5FF7-68B0BEA020E3}"/>
              </a:ext>
            </a:extLst>
          </p:cNvPr>
          <p:cNvSpPr/>
          <p:nvPr/>
        </p:nvSpPr>
        <p:spPr>
          <a:xfrm>
            <a:off x="10035537" y="5313854"/>
            <a:ext cx="1104410" cy="400110"/>
          </a:xfrm>
          <a:prstGeom prst="borderCallout1">
            <a:avLst>
              <a:gd name="adj1" fmla="val -1506"/>
              <a:gd name="adj2" fmla="val 49524"/>
              <a:gd name="adj3" fmla="val -61906"/>
              <a:gd name="adj4" fmla="val 52589"/>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routing, caching, multi agent decision</a:t>
            </a:r>
          </a:p>
        </p:txBody>
      </p:sp>
      <p:sp>
        <p:nvSpPr>
          <p:cNvPr id="44" name="Callout: Line 43">
            <a:extLst>
              <a:ext uri="{FF2B5EF4-FFF2-40B4-BE49-F238E27FC236}">
                <a16:creationId xmlns:a16="http://schemas.microsoft.com/office/drawing/2014/main" id="{B87315F7-A73C-0146-0796-F0FC70809C46}"/>
              </a:ext>
            </a:extLst>
          </p:cNvPr>
          <p:cNvSpPr/>
          <p:nvPr/>
        </p:nvSpPr>
        <p:spPr>
          <a:xfrm>
            <a:off x="1700172" y="5335929"/>
            <a:ext cx="1104410" cy="400110"/>
          </a:xfrm>
          <a:prstGeom prst="borderCallout1">
            <a:avLst>
              <a:gd name="adj1" fmla="val -1506"/>
              <a:gd name="adj2" fmla="val 49524"/>
              <a:gd name="adj3" fmla="val -60274"/>
              <a:gd name="adj4" fmla="val 43718"/>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bg1"/>
                </a:solidFill>
              </a:rPr>
              <a:t>non-deterministic component</a:t>
            </a:r>
          </a:p>
        </p:txBody>
      </p:sp>
      <p:sp>
        <p:nvSpPr>
          <p:cNvPr id="45" name="TextBox 44">
            <a:extLst>
              <a:ext uri="{FF2B5EF4-FFF2-40B4-BE49-F238E27FC236}">
                <a16:creationId xmlns:a16="http://schemas.microsoft.com/office/drawing/2014/main" id="{9DA9517D-90C6-6A68-5061-8AD92160EC07}"/>
              </a:ext>
            </a:extLst>
          </p:cNvPr>
          <p:cNvSpPr txBox="1"/>
          <p:nvPr/>
        </p:nvSpPr>
        <p:spPr>
          <a:xfrm>
            <a:off x="9362493" y="6431187"/>
            <a:ext cx="2558642" cy="369332"/>
          </a:xfrm>
          <a:prstGeom prst="rect">
            <a:avLst/>
          </a:prstGeom>
          <a:noFill/>
        </p:spPr>
        <p:txBody>
          <a:bodyPr wrap="square" rtlCol="0">
            <a:spAutoFit/>
          </a:bodyPr>
          <a:lstStyle/>
          <a:p>
            <a:r>
              <a:rPr lang="en-US" sz="1300" dirty="0">
                <a:solidFill>
                  <a:srgbClr val="7C93A3"/>
                </a:solidFill>
                <a:latin typeface="Calibri" pitchFamily="34" charset="0"/>
                <a:ea typeface="Calibri" pitchFamily="34" charset="-122"/>
                <a:cs typeface="Calibri" pitchFamily="34" charset="-120"/>
              </a:rPr>
              <a:t>credit</a:t>
            </a:r>
            <a:r>
              <a:rPr lang="en-US" dirty="0"/>
              <a:t> </a:t>
            </a:r>
            <a:r>
              <a:rPr lang="en-US" sz="1300" dirty="0">
                <a:solidFill>
                  <a:srgbClr val="7C93A3"/>
                </a:solidFill>
                <a:latin typeface="Calibri" pitchFamily="34" charset="0"/>
                <a:ea typeface="Calibri" pitchFamily="34" charset="-122"/>
                <a:cs typeface="Calibri" pitchFamily="34" charset="-120"/>
              </a:rPr>
              <a:t>to</a:t>
            </a:r>
            <a:r>
              <a:rPr lang="en-US" dirty="0"/>
              <a:t> </a:t>
            </a:r>
            <a:r>
              <a:rPr lang="en-US" sz="1300" dirty="0">
                <a:solidFill>
                  <a:srgbClr val="7C93A3"/>
                </a:solidFill>
                <a:latin typeface="Calibri" pitchFamily="34" charset="0"/>
                <a:ea typeface="Calibri" pitchFamily="34" charset="-122"/>
                <a:cs typeface="Calibri" pitchFamily="34" charset="-120"/>
              </a:rPr>
              <a:t>LevelUp</a:t>
            </a:r>
            <a:r>
              <a:rPr lang="en-US" dirty="0"/>
              <a:t> </a:t>
            </a:r>
            <a:r>
              <a:rPr lang="en-US" sz="1300" dirty="0">
                <a:solidFill>
                  <a:srgbClr val="7C93A3"/>
                </a:solidFill>
                <a:latin typeface="Calibri" pitchFamily="34" charset="0"/>
                <a:ea typeface="Calibri" pitchFamily="34" charset="-122"/>
                <a:cs typeface="Calibri" pitchFamily="34" charset="-120"/>
              </a:rPr>
              <a:t>Labs</a:t>
            </a:r>
          </a:p>
        </p:txBody>
      </p:sp>
    </p:spTree>
    <p:extLst>
      <p:ext uri="{BB962C8B-B14F-4D97-AF65-F5344CB8AC3E}">
        <p14:creationId xmlns:p14="http://schemas.microsoft.com/office/powerpoint/2010/main" val="504418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FRAMING</a:t>
            </a:r>
            <a:endParaRPr lang="en-US" sz="1100" dirty="0"/>
          </a:p>
        </p:txBody>
      </p:sp>
      <p:sp>
        <p:nvSpPr>
          <p:cNvPr id="3" name="Text 1"/>
          <p:cNvSpPr/>
          <p:nvPr/>
        </p:nvSpPr>
        <p:spPr>
          <a:xfrm>
            <a:off x="548640" y="621792"/>
            <a:ext cx="8852535" cy="685800"/>
          </a:xfrm>
          <a:prstGeom prst="rect">
            <a:avLst/>
          </a:prstGeom>
          <a:noFill/>
          <a:ln/>
        </p:spPr>
        <p:txBody>
          <a:bodyPr wrap="square" lIns="0" tIns="0" rIns="0" bIns="0" rtlCol="0" anchor="ctr"/>
          <a:lstStyle/>
          <a:p>
            <a:pPr marL="0" indent="0">
              <a:buNone/>
            </a:pPr>
            <a:r>
              <a:rPr lang="en-US" sz="2500" b="1" dirty="0">
                <a:solidFill>
                  <a:srgbClr val="24303B"/>
                </a:solidFill>
                <a:latin typeface="Cambria" pitchFamily="34" charset="0"/>
                <a:ea typeface="Cambria" pitchFamily="34" charset="-122"/>
                <a:cs typeface="Cambria" pitchFamily="34" charset="-120"/>
              </a:rPr>
              <a:t>The problem, and what this walkthrough is meant to show</a:t>
            </a:r>
            <a:endParaRPr lang="en-US" sz="2500" dirty="0"/>
          </a:p>
        </p:txBody>
      </p:sp>
      <p:sp>
        <p:nvSpPr>
          <p:cNvPr id="4" name="Shape 2"/>
          <p:cNvSpPr/>
          <p:nvPr/>
        </p:nvSpPr>
        <p:spPr>
          <a:xfrm>
            <a:off x="548639" y="1506067"/>
            <a:ext cx="8371243" cy="4527179"/>
          </a:xfrm>
          <a:prstGeom prst="roundRect">
            <a:avLst>
              <a:gd name="adj" fmla="val 2000"/>
            </a:avLst>
          </a:prstGeom>
          <a:solidFill>
            <a:srgbClr val="F3F6F6"/>
          </a:solidFill>
          <a:ln/>
        </p:spPr>
        <p:txBody>
          <a:bodyPr/>
          <a:lstStyle/>
          <a:p>
            <a:endParaRPr lang="en-US"/>
          </a:p>
        </p:txBody>
      </p:sp>
      <p:sp>
        <p:nvSpPr>
          <p:cNvPr id="5" name="Text 3"/>
          <p:cNvSpPr/>
          <p:nvPr/>
        </p:nvSpPr>
        <p:spPr>
          <a:xfrm>
            <a:off x="822960" y="1603781"/>
            <a:ext cx="4846320" cy="411480"/>
          </a:xfrm>
          <a:prstGeom prst="rect">
            <a:avLst/>
          </a:prstGeom>
          <a:noFill/>
          <a:ln/>
        </p:spPr>
        <p:txBody>
          <a:bodyPr wrap="square" lIns="0" tIns="0" rIns="0" bIns="0" rtlCol="0" anchor="ctr"/>
          <a:lstStyle/>
          <a:p>
            <a:pPr marL="0" indent="0">
              <a:buNone/>
            </a:pPr>
            <a:r>
              <a:rPr lang="en-US" sz="1500" b="1" dirty="0">
                <a:solidFill>
                  <a:srgbClr val="1B3B5F"/>
                </a:solidFill>
                <a:latin typeface="Calibri" pitchFamily="34" charset="0"/>
                <a:ea typeface="Calibri" pitchFamily="34" charset="-122"/>
                <a:cs typeface="Calibri" pitchFamily="34" charset="-120"/>
              </a:rPr>
              <a:t>The business problem</a:t>
            </a:r>
            <a:endParaRPr lang="en-US" sz="1500" dirty="0"/>
          </a:p>
        </p:txBody>
      </p:sp>
      <p:sp>
        <p:nvSpPr>
          <p:cNvPr id="6" name="Text 4"/>
          <p:cNvSpPr/>
          <p:nvPr/>
        </p:nvSpPr>
        <p:spPr>
          <a:xfrm>
            <a:off x="822958" y="2286000"/>
            <a:ext cx="7478359" cy="3431235"/>
          </a:xfrm>
          <a:prstGeom prst="rect">
            <a:avLst/>
          </a:prstGeom>
          <a:noFill/>
          <a:ln/>
        </p:spPr>
        <p:txBody>
          <a:bodyPr wrap="square" lIns="0" tIns="0" rIns="0" bIns="0" rtlCol="0" anchor="ctr"/>
          <a:lstStyle/>
          <a:p>
            <a:pPr marL="342900" indent="-342900">
              <a:spcAft>
                <a:spcPts val="1000"/>
              </a:spcAft>
              <a:buSzPct val="100000"/>
              <a:buFontTx/>
              <a:buChar char="•"/>
            </a:pPr>
            <a:r>
              <a:rPr lang="en-US" sz="1250" dirty="0">
                <a:solidFill>
                  <a:srgbClr val="24303B"/>
                </a:solidFill>
                <a:latin typeface="Calibri" pitchFamily="34" charset="0"/>
                <a:ea typeface="Calibri" pitchFamily="34" charset="-122"/>
                <a:cs typeface="Calibri" pitchFamily="34" charset="-120"/>
              </a:rPr>
              <a:t>UHG operates across Optum Health, Optum Insight, Optum Rx, and related segments under one roof, generating $447.6B in revenue</a:t>
            </a:r>
            <a:endParaRPr lang="en-US" sz="1250" dirty="0"/>
          </a:p>
          <a:p>
            <a:pPr marL="342900" indent="-342900">
              <a:spcAft>
                <a:spcPts val="1000"/>
              </a:spcAft>
              <a:buSzPct val="100000"/>
              <a:buChar char="•"/>
            </a:pPr>
            <a:r>
              <a:rPr lang="en-US" sz="1250" dirty="0">
                <a:solidFill>
                  <a:srgbClr val="24303B"/>
                </a:solidFill>
                <a:latin typeface="Calibri" pitchFamily="34" charset="0"/>
                <a:ea typeface="Calibri" pitchFamily="34" charset="-122"/>
                <a:cs typeface="Calibri" pitchFamily="34" charset="-120"/>
              </a:rPr>
              <a:t>44% of that revenue comes directly from CMS — regulatory and policy risk isn't a side consideration here, it's close to the central one</a:t>
            </a:r>
            <a:endParaRPr lang="en-US" sz="1250" dirty="0"/>
          </a:p>
          <a:p>
            <a:pPr marL="342900" indent="-342900">
              <a:spcAft>
                <a:spcPts val="1000"/>
              </a:spcAft>
              <a:buSzPct val="100000"/>
              <a:buChar char="•"/>
            </a:pPr>
            <a:r>
              <a:rPr lang="en-US" sz="1250" dirty="0">
                <a:solidFill>
                  <a:srgbClr val="24303B"/>
                </a:solidFill>
                <a:latin typeface="Calibri" pitchFamily="34" charset="0"/>
                <a:ea typeface="Calibri" pitchFamily="34" charset="-122"/>
                <a:cs typeface="Calibri" pitchFamily="34" charset="-120"/>
              </a:rPr>
              <a:t>Today: comparing exposure across segments is manual, inconsistent, and produces no audit trail</a:t>
            </a:r>
            <a:endParaRPr lang="en-US" sz="1250" dirty="0"/>
          </a:p>
          <a:p>
            <a:pPr marL="342900" indent="-342900">
              <a:spcAft>
                <a:spcPts val="1000"/>
              </a:spcAft>
              <a:buSzPct val="100000"/>
              <a:buChar char="•"/>
            </a:pPr>
            <a:r>
              <a:rPr lang="en-US" sz="1250" dirty="0">
                <a:solidFill>
                  <a:srgbClr val="24303B"/>
                </a:solidFill>
                <a:latin typeface="Calibri" pitchFamily="34" charset="0"/>
                <a:ea typeface="Calibri" pitchFamily="34" charset="-122"/>
                <a:cs typeface="Calibri" pitchFamily="34" charset="-120"/>
              </a:rPr>
              <a:t>This project: one auditable risk and opportunity score per business driver per segment, in minutes instead of days</a:t>
            </a:r>
          </a:p>
          <a:p>
            <a:pPr marL="342900" indent="-342900">
              <a:spcAft>
                <a:spcPts val="1000"/>
              </a:spcAft>
              <a:buSzPct val="100000"/>
              <a:buChar char="•"/>
            </a:pPr>
            <a:r>
              <a:rPr lang="en-US" sz="1400" dirty="0">
                <a:solidFill>
                  <a:srgbClr val="24303B"/>
                </a:solidFill>
                <a:latin typeface="Calibri" pitchFamily="34" charset="0"/>
                <a:ea typeface="Calibri" pitchFamily="34" charset="-122"/>
                <a:cs typeface="Calibri" pitchFamily="34" charset="-120"/>
              </a:rPr>
              <a:t>Analysts and executives need a consistent, auditable answer to: </a:t>
            </a:r>
          </a:p>
          <a:p>
            <a:pPr>
              <a:spcAft>
                <a:spcPts val="1000"/>
              </a:spcAft>
              <a:buSzPct val="100000"/>
            </a:pPr>
            <a:r>
              <a:rPr lang="en-US" sz="1400" dirty="0">
                <a:solidFill>
                  <a:srgbClr val="24303B"/>
                </a:solidFill>
                <a:latin typeface="Calibri" pitchFamily="34" charset="0"/>
                <a:ea typeface="Calibri" pitchFamily="34" charset="-122"/>
                <a:cs typeface="Calibri" pitchFamily="34" charset="-120"/>
              </a:rPr>
              <a:t>	</a:t>
            </a:r>
            <a:r>
              <a:rPr lang="en-US" sz="1400" dirty="0">
                <a:solidFill>
                  <a:srgbClr val="24303B"/>
                </a:solidFill>
                <a:highlight>
                  <a:srgbClr val="C0C0C0"/>
                </a:highlight>
                <a:latin typeface="Calibri" pitchFamily="34" charset="0"/>
                <a:ea typeface="Calibri" pitchFamily="34" charset="-122"/>
                <a:cs typeface="Calibri" pitchFamily="34" charset="-120"/>
              </a:rPr>
              <a:t>“How exposed is segment X to disruptor Y — and what pathway should we consider?”</a:t>
            </a:r>
            <a:endParaRPr lang="en-US" sz="1250" dirty="0">
              <a:solidFill>
                <a:srgbClr val="24303B"/>
              </a:solidFill>
              <a:latin typeface="Calibri" pitchFamily="34" charset="0"/>
              <a:ea typeface="Calibri" pitchFamily="34" charset="-122"/>
              <a:cs typeface="Calibri" pitchFamily="34" charset="-120"/>
            </a:endParaRPr>
          </a:p>
          <a:p>
            <a:pPr marL="342900" indent="-342900">
              <a:spcAft>
                <a:spcPts val="1000"/>
              </a:spcAft>
              <a:buSzPct val="100000"/>
              <a:buFontTx/>
              <a:buChar char="•"/>
            </a:pPr>
            <a:r>
              <a:rPr lang="en-US" sz="1250" dirty="0">
                <a:solidFill>
                  <a:srgbClr val="24303B"/>
                </a:solidFill>
                <a:latin typeface="Calibri" pitchFamily="34" charset="0"/>
                <a:ea typeface="Calibri" pitchFamily="34" charset="-122"/>
                <a:cs typeface="Calibri" pitchFamily="34" charset="-120"/>
              </a:rPr>
              <a:t>Shared disruptors: Medicare/regulatory changes, cyber/data risk, political volatility</a:t>
            </a:r>
          </a:p>
          <a:p>
            <a:pPr marL="342900" indent="-342900">
              <a:spcAft>
                <a:spcPts val="1000"/>
              </a:spcAft>
              <a:buSzPct val="100000"/>
              <a:buFontTx/>
              <a:buChar char="•"/>
            </a:pPr>
            <a:r>
              <a:rPr lang="en-US" sz="1400" dirty="0">
                <a:solidFill>
                  <a:srgbClr val="24303B"/>
                </a:solidFill>
                <a:latin typeface="Calibri" pitchFamily="34" charset="0"/>
                <a:ea typeface="Calibri" pitchFamily="34" charset="-122"/>
                <a:cs typeface="Calibri" pitchFamily="34" charset="-120"/>
              </a:rPr>
              <a:t>Today: spreadsheets or unconstrained LLM chats — neither is governed or reproducible</a:t>
            </a:r>
          </a:p>
          <a:p>
            <a:pPr marL="342900" indent="-342900">
              <a:spcAft>
                <a:spcPts val="1000"/>
              </a:spcAft>
              <a:buSzPct val="100000"/>
              <a:buFontTx/>
              <a:buChar char="•"/>
            </a:pPr>
            <a:endParaRPr lang="en-US" sz="1250" dirty="0">
              <a:solidFill>
                <a:srgbClr val="24303B"/>
              </a:solidFill>
              <a:latin typeface="Calibri" pitchFamily="34" charset="0"/>
              <a:ea typeface="Calibri" pitchFamily="34" charset="-122"/>
              <a:cs typeface="Calibri" pitchFamily="34" charset="-120"/>
            </a:endParaRPr>
          </a:p>
          <a:p>
            <a:pPr marL="342900" indent="-342900">
              <a:spcAft>
                <a:spcPts val="1000"/>
              </a:spcAft>
              <a:buSzPct val="100000"/>
              <a:buChar char="•"/>
            </a:pPr>
            <a:endParaRPr lang="en-US" sz="1250" dirty="0">
              <a:solidFill>
                <a:srgbClr val="24303B"/>
              </a:solidFill>
              <a:latin typeface="Calibri" pitchFamily="34" charset="0"/>
              <a:ea typeface="Calibri" pitchFamily="34" charset="-122"/>
              <a:cs typeface="Calibri" pitchFamily="34" charset="-120"/>
            </a:endParaRPr>
          </a:p>
          <a:p>
            <a:pPr marL="342900" indent="-342900">
              <a:spcAft>
                <a:spcPts val="1000"/>
              </a:spcAft>
              <a:buSzPct val="100000"/>
              <a:buChar char="•"/>
            </a:pP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SCOPING</a:t>
            </a:r>
            <a:endParaRPr lang="en-US" sz="1100" dirty="0"/>
          </a:p>
        </p:txBody>
      </p:sp>
      <p:sp>
        <p:nvSpPr>
          <p:cNvPr id="3" name="Text 1"/>
          <p:cNvSpPr/>
          <p:nvPr/>
        </p:nvSpPr>
        <p:spPr>
          <a:xfrm>
            <a:off x="548640" y="621792"/>
            <a:ext cx="9124278" cy="685800"/>
          </a:xfrm>
          <a:prstGeom prst="rect">
            <a:avLst/>
          </a:prstGeom>
          <a:noFill/>
          <a:ln/>
        </p:spPr>
        <p:txBody>
          <a:bodyPr wrap="square" lIns="0" tIns="0" rIns="0" bIns="0" rtlCol="0" anchor="ctr"/>
          <a:lstStyle/>
          <a:p>
            <a:pPr marL="0" indent="0">
              <a:buNone/>
            </a:pPr>
            <a:r>
              <a:rPr lang="en-US" sz="2500" b="1" dirty="0">
                <a:solidFill>
                  <a:srgbClr val="24303B"/>
                </a:solidFill>
                <a:latin typeface="Cambria" pitchFamily="34" charset="0"/>
                <a:ea typeface="Cambria" pitchFamily="34" charset="-122"/>
                <a:cs typeface="Cambria" pitchFamily="34" charset="-120"/>
              </a:rPr>
              <a:t>Problem - first scoping, before any architecture</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3960073172"/>
              </p:ext>
            </p:extLst>
          </p:nvPr>
        </p:nvGraphicFramePr>
        <p:xfrm>
          <a:off x="548640" y="1508760"/>
          <a:ext cx="9124278" cy="2552700"/>
        </p:xfrm>
        <a:graphic>
          <a:graphicData uri="http://schemas.openxmlformats.org/drawingml/2006/table">
            <a:tbl>
              <a:tblPr/>
              <a:tblGrid>
                <a:gridCol w="2262218">
                  <a:extLst>
                    <a:ext uri="{9D8B030D-6E8A-4147-A177-3AD203B41FA5}">
                      <a16:colId xmlns:a16="http://schemas.microsoft.com/office/drawing/2014/main" val="20000"/>
                    </a:ext>
                  </a:extLst>
                </a:gridCol>
                <a:gridCol w="6862060">
                  <a:extLst>
                    <a:ext uri="{9D8B030D-6E8A-4147-A177-3AD203B41FA5}">
                      <a16:colId xmlns:a16="http://schemas.microsoft.com/office/drawing/2014/main" val="20001"/>
                    </a:ext>
                  </a:extLst>
                </a:gridCol>
              </a:tblGrid>
              <a:tr h="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Dimension</a:t>
                      </a:r>
                      <a:endParaRPr lang="en-US" sz="12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Answer</a:t>
                      </a:r>
                      <a:endParaRPr lang="en-US" sz="12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extLst>
                  <a:ext uri="{0D108BD9-81ED-4DB2-BD59-A6C34878D82A}">
                    <a16:rowId xmlns:a16="http://schemas.microsoft.com/office/drawing/2014/main" val="10000"/>
                  </a:ext>
                </a:extLst>
              </a:tr>
              <a:tr h="0">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User and their pain</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Segment finance/strategy leads and executive leadership, both self-serve. </a:t>
                      </a:r>
                    </a:p>
                    <a:p>
                      <a:pPr marL="0" indent="0">
                        <a:buNone/>
                      </a:pPr>
                      <a:r>
                        <a:rPr lang="en-US" sz="1250" dirty="0">
                          <a:solidFill>
                            <a:srgbClr val="24303B"/>
                          </a:solidFill>
                          <a:latin typeface="Calibri" pitchFamily="34" charset="0"/>
                          <a:ea typeface="Calibri" pitchFamily="34" charset="-122"/>
                          <a:cs typeface="Calibri" pitchFamily="34" charset="-120"/>
                        </a:rPr>
                        <a:t>Today: manual reconciliation of a cardinal score against two ordinal ranking systems, inconsistent, no audit trail.</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Outcome, written before the system</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A natural-language scenario question answered in minutes with every number traceable to a source indicator and formula.</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0">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AI intervention, narrowed</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Three LLM steps only: query parsing, event-to-schema extraction, narrative generation. </a:t>
                      </a:r>
                    </a:p>
                    <a:p>
                      <a:pPr marL="0" indent="0">
                        <a:buNone/>
                      </a:pPr>
                      <a:r>
                        <a:rPr lang="en-US" sz="1250" dirty="0">
                          <a:solidFill>
                            <a:srgbClr val="24303B"/>
                          </a:solidFill>
                          <a:latin typeface="Calibri" pitchFamily="34" charset="0"/>
                          <a:ea typeface="Calibri" pitchFamily="34" charset="-122"/>
                          <a:cs typeface="Calibri" pitchFamily="34" charset="-120"/>
                        </a:rPr>
                        <a:t>Everything else is deterministic.</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System and safety</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250" dirty="0">
                          <a:solidFill>
                            <a:srgbClr val="24303B"/>
                          </a:solidFill>
                          <a:latin typeface="Calibri" pitchFamily="34" charset="0"/>
                          <a:ea typeface="Calibri" pitchFamily="34" charset="-122"/>
                          <a:cs typeface="Calibri" pitchFamily="34" charset="-120"/>
                        </a:rPr>
                        <a:t>The model never generates a score. </a:t>
                      </a:r>
                    </a:p>
                    <a:p>
                      <a:pPr marL="0" indent="0">
                        <a:buNone/>
                      </a:pPr>
                      <a:r>
                        <a:rPr lang="en-US" sz="1250" dirty="0">
                          <a:solidFill>
                            <a:srgbClr val="24303B"/>
                          </a:solidFill>
                          <a:latin typeface="Calibri" pitchFamily="34" charset="0"/>
                          <a:ea typeface="Calibri" pitchFamily="34" charset="-122"/>
                          <a:cs typeface="Calibri" pitchFamily="34" charset="-120"/>
                        </a:rPr>
                        <a:t>Overlay events are staged pending human confirmation. </a:t>
                      </a:r>
                    </a:p>
                    <a:p>
                      <a:pPr marL="0" indent="0">
                        <a:buNone/>
                      </a:pPr>
                      <a:r>
                        <a:rPr lang="en-US" sz="1250" dirty="0">
                          <a:solidFill>
                            <a:srgbClr val="24303B"/>
                          </a:solidFill>
                          <a:latin typeface="Calibri" pitchFamily="34" charset="0"/>
                          <a:ea typeface="Calibri" pitchFamily="34" charset="-122"/>
                          <a:cs typeface="Calibri" pitchFamily="34" charset="-120"/>
                        </a:rPr>
                        <a:t>A confidence floor blocks low-confidence recommendations. Access is role- and segment-scoped.</a:t>
                      </a:r>
                      <a:endParaRPr lang="en-US" sz="125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B0216B-AE3D-E461-028E-AEFC9C658254}"/>
              </a:ext>
            </a:extLst>
          </p:cNvPr>
          <p:cNvSpPr txBox="1">
            <a:spLocks/>
          </p:cNvSpPr>
          <p:nvPr/>
        </p:nvSpPr>
        <p:spPr>
          <a:xfrm>
            <a:off x="628649" y="278536"/>
            <a:ext cx="7905751" cy="93114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600"/>
              </a:spcAft>
              <a:defRPr sz="2800" b="1">
                <a:solidFill>
                  <a:srgbClr val="003366"/>
                </a:solidFill>
              </a:defRPr>
            </a:pPr>
            <a:r>
              <a:rPr lang="en-US" sz="2500" b="1" dirty="0">
                <a:solidFill>
                  <a:schemeClr val="bg1"/>
                </a:solidFill>
                <a:latin typeface="Cambria" pitchFamily="34" charset="0"/>
                <a:ea typeface="Cambria" pitchFamily="34" charset="-122"/>
              </a:rPr>
              <a:t>What this POC shows</a:t>
            </a:r>
          </a:p>
        </p:txBody>
      </p:sp>
      <p:sp>
        <p:nvSpPr>
          <p:cNvPr id="3" name="Content Placeholder 2">
            <a:extLst>
              <a:ext uri="{FF2B5EF4-FFF2-40B4-BE49-F238E27FC236}">
                <a16:creationId xmlns:a16="http://schemas.microsoft.com/office/drawing/2014/main" id="{931042C9-15A1-C8D2-0D17-DAB36C9BC349}"/>
              </a:ext>
            </a:extLst>
          </p:cNvPr>
          <p:cNvSpPr txBox="1">
            <a:spLocks/>
          </p:cNvSpPr>
          <p:nvPr/>
        </p:nvSpPr>
        <p:spPr>
          <a:xfrm>
            <a:off x="459350" y="1819855"/>
            <a:ext cx="8782051" cy="2401170"/>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indent="-228600">
              <a:lnSpc>
                <a:spcPct val="90000"/>
              </a:lnSpc>
              <a:spcAft>
                <a:spcPts val="600"/>
              </a:spcAft>
              <a:defRPr sz="1700">
                <a:solidFill>
                  <a:srgbClr val="555555"/>
                </a:solidFill>
              </a:defRPr>
            </a:pPr>
            <a:r>
              <a:rPr lang="en-US" sz="1250" dirty="0"/>
              <a:t>A designed framework adapted to UnitedHealth Group</a:t>
            </a:r>
          </a:p>
          <a:p>
            <a:pPr indent="-228600">
              <a:lnSpc>
                <a:spcPct val="90000"/>
              </a:lnSpc>
              <a:spcAft>
                <a:spcPts val="600"/>
              </a:spcAft>
              <a:defRPr sz="1700">
                <a:solidFill>
                  <a:srgbClr val="555555"/>
                </a:solidFill>
              </a:defRPr>
            </a:pPr>
            <a:r>
              <a:rPr lang="en-US" sz="1250" dirty="0"/>
              <a:t>End-to-end ownership — scoped, designed, built, and pressure-tested  (for the today’s demo – not fully vetted)</a:t>
            </a:r>
          </a:p>
          <a:p>
            <a:pPr indent="-228600">
              <a:lnSpc>
                <a:spcPct val="90000"/>
              </a:lnSpc>
              <a:spcAft>
                <a:spcPts val="600"/>
              </a:spcAft>
              <a:defRPr sz="1700">
                <a:solidFill>
                  <a:srgbClr val="555555"/>
                </a:solidFill>
              </a:defRPr>
            </a:pPr>
            <a:r>
              <a:rPr lang="en-US" sz="1250" dirty="0"/>
              <a:t>Deterministic quant core produces scores; LLMs do narrow, bounded tasks only</a:t>
            </a:r>
          </a:p>
          <a:p>
            <a:pPr indent="-228600">
              <a:lnSpc>
                <a:spcPct val="90000"/>
              </a:lnSpc>
              <a:spcAft>
                <a:spcPts val="600"/>
              </a:spcAft>
              <a:defRPr sz="1700">
                <a:solidFill>
                  <a:srgbClr val="555555"/>
                </a:solidFill>
              </a:defRPr>
            </a:pPr>
            <a:r>
              <a:rPr lang="en-US" sz="1250" dirty="0"/>
              <a:t>Fail-closed guardrails: refuse when out of scope, unauthorized, or low confidence</a:t>
            </a:r>
          </a:p>
          <a:p>
            <a:pPr indent="-228600">
              <a:lnSpc>
                <a:spcPct val="90000"/>
              </a:lnSpc>
              <a:spcAft>
                <a:spcPts val="600"/>
              </a:spcAft>
              <a:defRPr sz="1700">
                <a:solidFill>
                  <a:srgbClr val="555555"/>
                </a:solidFill>
              </a:defRPr>
            </a:pPr>
            <a:r>
              <a:rPr lang="en-US" sz="1250" dirty="0"/>
              <a:t>Human-in-the-loop for high-judgment overlay extractions (always staged first)</a:t>
            </a:r>
          </a:p>
          <a:p>
            <a:pPr indent="-228600">
              <a:lnSpc>
                <a:spcPct val="90000"/>
              </a:lnSpc>
              <a:spcAft>
                <a:spcPts val="600"/>
              </a:spcAft>
              <a:defRPr sz="1700">
                <a:solidFill>
                  <a:srgbClr val="555555"/>
                </a:solidFill>
              </a:defRPr>
            </a:pPr>
            <a:r>
              <a:rPr lang="en-US" sz="1250" dirty="0"/>
              <a:t>One-line thesis: governed risk intelligence — numbers from code, not from chat</a:t>
            </a:r>
          </a:p>
          <a:p>
            <a:pPr marL="400050" lvl="1" indent="-228600">
              <a:lnSpc>
                <a:spcPct val="90000"/>
              </a:lnSpc>
              <a:defRPr sz="1400" i="1">
                <a:solidFill>
                  <a:srgbClr val="007A87"/>
                </a:solidFill>
              </a:defRPr>
            </a:pPr>
            <a:r>
              <a:rPr lang="en-US" sz="850" dirty="0"/>
              <a:t>Note: No proprietary UHG data used.</a:t>
            </a:r>
          </a:p>
        </p:txBody>
      </p:sp>
    </p:spTree>
    <p:extLst>
      <p:ext uri="{BB962C8B-B14F-4D97-AF65-F5344CB8AC3E}">
        <p14:creationId xmlns:p14="http://schemas.microsoft.com/office/powerpoint/2010/main" val="3480805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9144000" cy="457200"/>
          </a:xfrm>
          <a:prstGeom prst="rect">
            <a:avLst/>
          </a:prstGeom>
          <a:noFill/>
          <a:ln/>
        </p:spPr>
        <p:txBody>
          <a:bodyPr wrap="square" lIns="0" tIns="0" rIns="0" bIns="0" rtlCol="0" anchor="ctr"/>
          <a:lstStyle/>
          <a:p>
            <a:pPr marL="0" indent="0">
              <a:buNone/>
            </a:pPr>
            <a:r>
              <a:rPr lang="en-US" sz="2500" b="1" dirty="0">
                <a:solidFill>
                  <a:srgbClr val="24303B"/>
                </a:solidFill>
                <a:latin typeface="Cambria" pitchFamily="34" charset="0"/>
                <a:ea typeface="Cambria" pitchFamily="34" charset="-122"/>
                <a:cs typeface="Cambria" pitchFamily="34" charset="-120"/>
              </a:rPr>
              <a:t>Source &amp; ontology layer</a:t>
            </a:r>
            <a:endParaRPr lang="en-US" sz="2500" dirty="0"/>
          </a:p>
        </p:txBody>
      </p:sp>
      <p:sp>
        <p:nvSpPr>
          <p:cNvPr id="3" name="Text 1"/>
          <p:cNvSpPr/>
          <p:nvPr/>
        </p:nvSpPr>
        <p:spPr>
          <a:xfrm>
            <a:off x="457200" y="731520"/>
            <a:ext cx="10058400" cy="237744"/>
          </a:xfrm>
          <a:prstGeom prst="rect">
            <a:avLst/>
          </a:prstGeom>
          <a:noFill/>
          <a:ln/>
        </p:spPr>
        <p:txBody>
          <a:bodyPr wrap="square" lIns="0" tIns="0" rIns="0" bIns="0" rtlCol="0" anchor="ctr"/>
          <a:lstStyle/>
          <a:p>
            <a:pPr marL="0" indent="0">
              <a:buNone/>
            </a:pPr>
            <a:r>
              <a:rPr lang="en-US" sz="1300" dirty="0">
                <a:solidFill>
                  <a:srgbClr val="5B6670"/>
                </a:solidFill>
                <a:latin typeface="Calibri" pitchFamily="34" charset="0"/>
                <a:ea typeface="Calibri" pitchFamily="34" charset="-122"/>
                <a:cs typeface="Calibri" pitchFamily="34" charset="-120"/>
              </a:rPr>
              <a:t>Three sources, mapped into one common taxonomy before any math touches them</a:t>
            </a:r>
            <a:endParaRPr lang="en-US" sz="1300" dirty="0"/>
          </a:p>
        </p:txBody>
      </p:sp>
      <p:sp>
        <p:nvSpPr>
          <p:cNvPr id="4" name="Shape 2"/>
          <p:cNvSpPr/>
          <p:nvPr/>
        </p:nvSpPr>
        <p:spPr>
          <a:xfrm>
            <a:off x="548640" y="969043"/>
            <a:ext cx="3593592" cy="548640"/>
          </a:xfrm>
          <a:prstGeom prst="roundRect">
            <a:avLst>
              <a:gd name="adj" fmla="val 13333"/>
            </a:avLst>
          </a:prstGeom>
          <a:solidFill>
            <a:srgbClr val="1B3B5F"/>
          </a:solidFill>
          <a:ln/>
        </p:spPr>
        <p:txBody>
          <a:bodyPr/>
          <a:lstStyle/>
          <a:p>
            <a:endParaRPr lang="en-US"/>
          </a:p>
        </p:txBody>
      </p:sp>
      <p:sp>
        <p:nvSpPr>
          <p:cNvPr id="5" name="Text 3"/>
          <p:cNvSpPr/>
          <p:nvPr/>
        </p:nvSpPr>
        <p:spPr>
          <a:xfrm>
            <a:off x="587185" y="1023907"/>
            <a:ext cx="3721608" cy="2743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Hazard source (S&amp;P): 6 categories, </a:t>
            </a:r>
          </a:p>
          <a:p>
            <a:r>
              <a:rPr lang="en-US" sz="1400" b="1" dirty="0">
                <a:solidFill>
                  <a:srgbClr val="FFFFFF"/>
                </a:solidFill>
                <a:latin typeface="Calibri" pitchFamily="34" charset="0"/>
                <a:ea typeface="Calibri" pitchFamily="34" charset="-122"/>
                <a:cs typeface="Calibri" pitchFamily="34" charset="-120"/>
              </a:rPr>
              <a:t>	                 22 subfactors </a:t>
            </a:r>
          </a:p>
        </p:txBody>
      </p:sp>
      <p:sp>
        <p:nvSpPr>
          <p:cNvPr id="6" name="Text 4"/>
          <p:cNvSpPr/>
          <p:nvPr/>
        </p:nvSpPr>
        <p:spPr>
          <a:xfrm>
            <a:off x="685800" y="1298227"/>
            <a:ext cx="3319272"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Cardinal · event-driven</a:t>
            </a:r>
            <a:endParaRPr lang="en-US" sz="1000" dirty="0"/>
          </a:p>
        </p:txBody>
      </p:sp>
      <p:sp>
        <p:nvSpPr>
          <p:cNvPr id="7" name="Shape 5"/>
          <p:cNvSpPr/>
          <p:nvPr/>
        </p:nvSpPr>
        <p:spPr>
          <a:xfrm>
            <a:off x="548640" y="1664208"/>
            <a:ext cx="3593592" cy="749808"/>
          </a:xfrm>
          <a:prstGeom prst="roundRect">
            <a:avLst>
              <a:gd name="adj" fmla="val 7317"/>
            </a:avLst>
          </a:prstGeom>
          <a:solidFill>
            <a:srgbClr val="F3F6F6"/>
          </a:solidFill>
          <a:ln/>
        </p:spPr>
        <p:txBody>
          <a:bodyPr/>
          <a:lstStyle/>
          <a:p>
            <a:endParaRPr lang="en-US"/>
          </a:p>
        </p:txBody>
      </p:sp>
      <p:sp>
        <p:nvSpPr>
          <p:cNvPr id="8" name="Text 6"/>
          <p:cNvSpPr/>
          <p:nvPr/>
        </p:nvSpPr>
        <p:spPr>
          <a:xfrm>
            <a:off x="676656" y="1719072"/>
            <a:ext cx="3337560" cy="146304"/>
          </a:xfrm>
          <a:prstGeom prst="rect">
            <a:avLst/>
          </a:prstGeom>
          <a:noFill/>
          <a:ln/>
        </p:spPr>
        <p:txBody>
          <a:bodyPr wrap="square" lIns="0" tIns="0" rIns="0" bIns="0" rtlCol="0" anchor="ctr"/>
          <a:lstStyle/>
          <a:p>
            <a:pPr marL="0" indent="0">
              <a:buNone/>
            </a:pPr>
            <a:r>
              <a:rPr lang="en-US" sz="750" b="1" kern="0" spc="50" dirty="0">
                <a:solidFill>
                  <a:srgbClr val="1B3B5F"/>
                </a:solidFill>
                <a:latin typeface="Calibri" pitchFamily="34" charset="0"/>
                <a:ea typeface="Calibri" pitchFamily="34" charset="-122"/>
                <a:cs typeface="Calibri" pitchFamily="34" charset="-120"/>
              </a:rPr>
              <a:t>POLICY</a:t>
            </a:r>
            <a:endParaRPr lang="en-US" sz="750" dirty="0"/>
          </a:p>
        </p:txBody>
      </p:sp>
      <p:sp>
        <p:nvSpPr>
          <p:cNvPr id="9" name="Text 7"/>
          <p:cNvSpPr/>
          <p:nvPr/>
        </p:nvSpPr>
        <p:spPr>
          <a:xfrm>
            <a:off x="676656" y="1865376"/>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CMS Medicare Advantage rate notice</a:t>
            </a:r>
            <a:endParaRPr lang="en-US" sz="950" dirty="0"/>
          </a:p>
        </p:txBody>
      </p:sp>
      <p:sp>
        <p:nvSpPr>
          <p:cNvPr id="10" name="Shape 8"/>
          <p:cNvSpPr/>
          <p:nvPr/>
        </p:nvSpPr>
        <p:spPr>
          <a:xfrm>
            <a:off x="676656" y="2176272"/>
            <a:ext cx="769925"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11" name="Text 9"/>
          <p:cNvSpPr/>
          <p:nvPr/>
        </p:nvSpPr>
        <p:spPr>
          <a:xfrm>
            <a:off x="676656" y="2176272"/>
            <a:ext cx="769925"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Capital (3)</a:t>
            </a:r>
            <a:endParaRPr lang="en-US" sz="800" dirty="0"/>
          </a:p>
        </p:txBody>
      </p:sp>
      <p:sp>
        <p:nvSpPr>
          <p:cNvPr id="12" name="Shape 10"/>
          <p:cNvSpPr/>
          <p:nvPr/>
        </p:nvSpPr>
        <p:spPr>
          <a:xfrm>
            <a:off x="1510589" y="2176272"/>
            <a:ext cx="713232"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13" name="Text 11"/>
          <p:cNvSpPr/>
          <p:nvPr/>
        </p:nvSpPr>
        <p:spPr>
          <a:xfrm>
            <a:off x="1510589" y="2176272"/>
            <a:ext cx="713232"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Demand (2)</a:t>
            </a:r>
            <a:endParaRPr lang="en-US" sz="800" dirty="0"/>
          </a:p>
        </p:txBody>
      </p:sp>
      <p:sp>
        <p:nvSpPr>
          <p:cNvPr id="14" name="Shape 12"/>
          <p:cNvSpPr/>
          <p:nvPr/>
        </p:nvSpPr>
        <p:spPr>
          <a:xfrm>
            <a:off x="548640" y="2505456"/>
            <a:ext cx="3593592" cy="749808"/>
          </a:xfrm>
          <a:prstGeom prst="roundRect">
            <a:avLst>
              <a:gd name="adj" fmla="val 7317"/>
            </a:avLst>
          </a:prstGeom>
          <a:solidFill>
            <a:srgbClr val="F3F6F6"/>
          </a:solidFill>
          <a:ln/>
        </p:spPr>
        <p:txBody>
          <a:bodyPr/>
          <a:lstStyle/>
          <a:p>
            <a:endParaRPr lang="en-US"/>
          </a:p>
        </p:txBody>
      </p:sp>
      <p:sp>
        <p:nvSpPr>
          <p:cNvPr id="15" name="Text 13"/>
          <p:cNvSpPr/>
          <p:nvPr/>
        </p:nvSpPr>
        <p:spPr>
          <a:xfrm>
            <a:off x="676656" y="2560320"/>
            <a:ext cx="3337560" cy="146304"/>
          </a:xfrm>
          <a:prstGeom prst="rect">
            <a:avLst/>
          </a:prstGeom>
          <a:noFill/>
          <a:ln/>
        </p:spPr>
        <p:txBody>
          <a:bodyPr wrap="square" lIns="0" tIns="0" rIns="0" bIns="0" rtlCol="0" anchor="ctr"/>
          <a:lstStyle/>
          <a:p>
            <a:pPr marL="0" indent="0">
              <a:buNone/>
            </a:pPr>
            <a:r>
              <a:rPr lang="en-US" sz="750" b="1" kern="0" spc="50" dirty="0">
                <a:solidFill>
                  <a:srgbClr val="1B3B5F"/>
                </a:solidFill>
                <a:latin typeface="Calibri" pitchFamily="34" charset="0"/>
                <a:ea typeface="Calibri" pitchFamily="34" charset="-122"/>
                <a:cs typeface="Calibri" pitchFamily="34" charset="-120"/>
              </a:rPr>
              <a:t>POLICY</a:t>
            </a:r>
            <a:endParaRPr lang="en-US" sz="750" dirty="0"/>
          </a:p>
        </p:txBody>
      </p:sp>
      <p:sp>
        <p:nvSpPr>
          <p:cNvPr id="16" name="Text 14"/>
          <p:cNvSpPr/>
          <p:nvPr/>
        </p:nvSpPr>
        <p:spPr>
          <a:xfrm>
            <a:off x="676656" y="2706624"/>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PBM / drug-pricing rulemaking</a:t>
            </a:r>
            <a:endParaRPr lang="en-US" sz="950" dirty="0"/>
          </a:p>
        </p:txBody>
      </p:sp>
      <p:sp>
        <p:nvSpPr>
          <p:cNvPr id="17" name="Shape 15"/>
          <p:cNvSpPr/>
          <p:nvPr/>
        </p:nvSpPr>
        <p:spPr>
          <a:xfrm>
            <a:off x="676656" y="3017520"/>
            <a:ext cx="769925"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18" name="Text 16"/>
          <p:cNvSpPr/>
          <p:nvPr/>
        </p:nvSpPr>
        <p:spPr>
          <a:xfrm>
            <a:off x="676656" y="3017520"/>
            <a:ext cx="769925"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Capital (2)</a:t>
            </a:r>
            <a:endParaRPr lang="en-US" sz="800" dirty="0"/>
          </a:p>
        </p:txBody>
      </p:sp>
      <p:sp>
        <p:nvSpPr>
          <p:cNvPr id="19" name="Shape 17"/>
          <p:cNvSpPr/>
          <p:nvPr/>
        </p:nvSpPr>
        <p:spPr>
          <a:xfrm>
            <a:off x="1510589" y="3017520"/>
            <a:ext cx="713232"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20" name="Text 18"/>
          <p:cNvSpPr/>
          <p:nvPr/>
        </p:nvSpPr>
        <p:spPr>
          <a:xfrm>
            <a:off x="1510589" y="3017520"/>
            <a:ext cx="713232"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Supply (2)</a:t>
            </a:r>
            <a:endParaRPr lang="en-US" sz="800" dirty="0"/>
          </a:p>
        </p:txBody>
      </p:sp>
      <p:sp>
        <p:nvSpPr>
          <p:cNvPr id="21" name="Shape 19"/>
          <p:cNvSpPr/>
          <p:nvPr/>
        </p:nvSpPr>
        <p:spPr>
          <a:xfrm>
            <a:off x="548640" y="3346704"/>
            <a:ext cx="3593592" cy="749808"/>
          </a:xfrm>
          <a:prstGeom prst="roundRect">
            <a:avLst>
              <a:gd name="adj" fmla="val 7317"/>
            </a:avLst>
          </a:prstGeom>
          <a:solidFill>
            <a:srgbClr val="F3F6F6"/>
          </a:solidFill>
          <a:ln/>
        </p:spPr>
        <p:txBody>
          <a:bodyPr/>
          <a:lstStyle/>
          <a:p>
            <a:endParaRPr lang="en-US"/>
          </a:p>
        </p:txBody>
      </p:sp>
      <p:sp>
        <p:nvSpPr>
          <p:cNvPr id="22" name="Text 20"/>
          <p:cNvSpPr/>
          <p:nvPr/>
        </p:nvSpPr>
        <p:spPr>
          <a:xfrm>
            <a:off x="676656" y="3401568"/>
            <a:ext cx="3337560" cy="146304"/>
          </a:xfrm>
          <a:prstGeom prst="rect">
            <a:avLst/>
          </a:prstGeom>
          <a:noFill/>
          <a:ln/>
        </p:spPr>
        <p:txBody>
          <a:bodyPr wrap="square" lIns="0" tIns="0" rIns="0" bIns="0" rtlCol="0" anchor="ctr"/>
          <a:lstStyle/>
          <a:p>
            <a:pPr marL="0" indent="0">
              <a:buNone/>
            </a:pPr>
            <a:r>
              <a:rPr lang="en-US" sz="750" b="1" kern="0" spc="50" dirty="0">
                <a:solidFill>
                  <a:srgbClr val="1B3B5F"/>
                </a:solidFill>
                <a:latin typeface="Calibri" pitchFamily="34" charset="0"/>
                <a:ea typeface="Calibri" pitchFamily="34" charset="-122"/>
                <a:cs typeface="Calibri" pitchFamily="34" charset="-120"/>
              </a:rPr>
              <a:t>ENFORCEMENT</a:t>
            </a:r>
            <a:endParaRPr lang="en-US" sz="750" dirty="0"/>
          </a:p>
        </p:txBody>
      </p:sp>
      <p:sp>
        <p:nvSpPr>
          <p:cNvPr id="23" name="Text 21"/>
          <p:cNvSpPr/>
          <p:nvPr/>
        </p:nvSpPr>
        <p:spPr>
          <a:xfrm>
            <a:off x="676656" y="3547872"/>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CMS/OIG enforcement action</a:t>
            </a:r>
            <a:endParaRPr lang="en-US" sz="950" dirty="0"/>
          </a:p>
        </p:txBody>
      </p:sp>
      <p:sp>
        <p:nvSpPr>
          <p:cNvPr id="24" name="Shape 22"/>
          <p:cNvSpPr/>
          <p:nvPr/>
        </p:nvSpPr>
        <p:spPr>
          <a:xfrm>
            <a:off x="676656" y="3858768"/>
            <a:ext cx="883310"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25" name="Text 23"/>
          <p:cNvSpPr/>
          <p:nvPr/>
        </p:nvSpPr>
        <p:spPr>
          <a:xfrm>
            <a:off x="676656" y="3858768"/>
            <a:ext cx="883310"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Brand/Rep (3)</a:t>
            </a:r>
            <a:endParaRPr lang="en-US" sz="800" dirty="0"/>
          </a:p>
        </p:txBody>
      </p:sp>
      <p:sp>
        <p:nvSpPr>
          <p:cNvPr id="26" name="Shape 24"/>
          <p:cNvSpPr/>
          <p:nvPr/>
        </p:nvSpPr>
        <p:spPr>
          <a:xfrm>
            <a:off x="1623974" y="3858768"/>
            <a:ext cx="769925"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27" name="Text 25"/>
          <p:cNvSpPr/>
          <p:nvPr/>
        </p:nvSpPr>
        <p:spPr>
          <a:xfrm>
            <a:off x="1623974" y="3858768"/>
            <a:ext cx="769925"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Capital (1)</a:t>
            </a:r>
            <a:endParaRPr lang="en-US" sz="800" dirty="0"/>
          </a:p>
        </p:txBody>
      </p:sp>
      <p:sp>
        <p:nvSpPr>
          <p:cNvPr id="28" name="Shape 26"/>
          <p:cNvSpPr/>
          <p:nvPr/>
        </p:nvSpPr>
        <p:spPr>
          <a:xfrm>
            <a:off x="548640" y="4187952"/>
            <a:ext cx="3593592" cy="749808"/>
          </a:xfrm>
          <a:prstGeom prst="roundRect">
            <a:avLst>
              <a:gd name="adj" fmla="val 7317"/>
            </a:avLst>
          </a:prstGeom>
          <a:solidFill>
            <a:srgbClr val="F3F6F6"/>
          </a:solidFill>
          <a:ln/>
        </p:spPr>
        <p:txBody>
          <a:bodyPr/>
          <a:lstStyle/>
          <a:p>
            <a:endParaRPr lang="en-US"/>
          </a:p>
        </p:txBody>
      </p:sp>
      <p:sp>
        <p:nvSpPr>
          <p:cNvPr id="29" name="Text 27"/>
          <p:cNvSpPr/>
          <p:nvPr/>
        </p:nvSpPr>
        <p:spPr>
          <a:xfrm>
            <a:off x="676656" y="4242816"/>
            <a:ext cx="3337560" cy="146304"/>
          </a:xfrm>
          <a:prstGeom prst="rect">
            <a:avLst/>
          </a:prstGeom>
          <a:noFill/>
          <a:ln/>
        </p:spPr>
        <p:txBody>
          <a:bodyPr wrap="square" lIns="0" tIns="0" rIns="0" bIns="0" rtlCol="0" anchor="ctr"/>
          <a:lstStyle/>
          <a:p>
            <a:pPr marL="0" indent="0">
              <a:buNone/>
            </a:pPr>
            <a:r>
              <a:rPr lang="en-US" sz="750" b="1" kern="0" spc="50" dirty="0">
                <a:solidFill>
                  <a:srgbClr val="1B3B5F"/>
                </a:solidFill>
                <a:latin typeface="Calibri" pitchFamily="34" charset="0"/>
                <a:ea typeface="Calibri" pitchFamily="34" charset="-122"/>
                <a:cs typeface="Calibri" pitchFamily="34" charset="-120"/>
              </a:rPr>
              <a:t>SECURITY</a:t>
            </a:r>
            <a:endParaRPr lang="en-US" sz="750" dirty="0"/>
          </a:p>
        </p:txBody>
      </p:sp>
      <p:sp>
        <p:nvSpPr>
          <p:cNvPr id="30" name="Text 28"/>
          <p:cNvSpPr/>
          <p:nvPr/>
        </p:nvSpPr>
        <p:spPr>
          <a:xfrm>
            <a:off x="676656" y="4389120"/>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Health-data breach disclosure</a:t>
            </a:r>
            <a:endParaRPr lang="en-US" sz="950" dirty="0"/>
          </a:p>
        </p:txBody>
      </p:sp>
      <p:sp>
        <p:nvSpPr>
          <p:cNvPr id="31" name="Shape 29"/>
          <p:cNvSpPr/>
          <p:nvPr/>
        </p:nvSpPr>
        <p:spPr>
          <a:xfrm>
            <a:off x="676656" y="4700016"/>
            <a:ext cx="1053389"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32" name="Text 30"/>
          <p:cNvSpPr/>
          <p:nvPr/>
        </p:nvSpPr>
        <p:spPr>
          <a:xfrm>
            <a:off x="676656" y="4700016"/>
            <a:ext cx="1053389"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Data/Digital (3)</a:t>
            </a:r>
            <a:endParaRPr lang="en-US" sz="800" dirty="0"/>
          </a:p>
        </p:txBody>
      </p:sp>
      <p:sp>
        <p:nvSpPr>
          <p:cNvPr id="33" name="Shape 31"/>
          <p:cNvSpPr/>
          <p:nvPr/>
        </p:nvSpPr>
        <p:spPr>
          <a:xfrm>
            <a:off x="1794053" y="4700016"/>
            <a:ext cx="883310" cy="219456"/>
          </a:xfrm>
          <a:prstGeom prst="roundRect">
            <a:avLst>
              <a:gd name="adj" fmla="val 20833"/>
            </a:avLst>
          </a:prstGeom>
          <a:solidFill>
            <a:srgbClr val="FFFFFF"/>
          </a:solidFill>
          <a:ln w="9525">
            <a:solidFill>
              <a:srgbClr val="1B3B5F"/>
            </a:solidFill>
            <a:prstDash val="solid"/>
          </a:ln>
        </p:spPr>
        <p:txBody>
          <a:bodyPr/>
          <a:lstStyle/>
          <a:p>
            <a:endParaRPr lang="en-US"/>
          </a:p>
        </p:txBody>
      </p:sp>
      <p:sp>
        <p:nvSpPr>
          <p:cNvPr id="34" name="Text 32"/>
          <p:cNvSpPr/>
          <p:nvPr/>
        </p:nvSpPr>
        <p:spPr>
          <a:xfrm>
            <a:off x="1794053" y="4700016"/>
            <a:ext cx="883310" cy="219456"/>
          </a:xfrm>
          <a:prstGeom prst="rect">
            <a:avLst/>
          </a:prstGeom>
          <a:noFill/>
          <a:ln/>
        </p:spPr>
        <p:txBody>
          <a:bodyPr wrap="square" lIns="0" tIns="0" rIns="0" bIns="0" rtlCol="0" anchor="ctr"/>
          <a:lstStyle/>
          <a:p>
            <a:pPr marL="0" indent="0" algn="ctr">
              <a:buNone/>
            </a:pPr>
            <a:r>
              <a:rPr lang="en-US" sz="800" b="1" dirty="0">
                <a:solidFill>
                  <a:srgbClr val="1B3B5F"/>
                </a:solidFill>
                <a:latin typeface="Calibri" pitchFamily="34" charset="0"/>
                <a:ea typeface="Calibri" pitchFamily="34" charset="-122"/>
                <a:cs typeface="Calibri" pitchFamily="34" charset="-120"/>
              </a:rPr>
              <a:t>Brand/Rep (2)</a:t>
            </a:r>
            <a:endParaRPr lang="en-US" sz="800" dirty="0"/>
          </a:p>
        </p:txBody>
      </p:sp>
      <p:sp>
        <p:nvSpPr>
          <p:cNvPr id="35" name="Shape 33"/>
          <p:cNvSpPr/>
          <p:nvPr/>
        </p:nvSpPr>
        <p:spPr>
          <a:xfrm>
            <a:off x="4279392" y="969043"/>
            <a:ext cx="3593592" cy="548640"/>
          </a:xfrm>
          <a:prstGeom prst="roundRect">
            <a:avLst>
              <a:gd name="adj" fmla="val 13333"/>
            </a:avLst>
          </a:prstGeom>
          <a:solidFill>
            <a:schemeClr val="accent1">
              <a:lumMod val="60000"/>
              <a:lumOff val="40000"/>
            </a:schemeClr>
          </a:solidFill>
          <a:ln/>
        </p:spPr>
        <p:txBody>
          <a:bodyPr/>
          <a:lstStyle/>
          <a:p>
            <a:endParaRPr lang="en-US"/>
          </a:p>
        </p:txBody>
      </p:sp>
      <p:sp>
        <p:nvSpPr>
          <p:cNvPr id="36" name="Text 34"/>
          <p:cNvSpPr/>
          <p:nvPr/>
        </p:nvSpPr>
        <p:spPr>
          <a:xfrm>
            <a:off x="4416552" y="1023907"/>
            <a:ext cx="3319272" cy="2743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Structural source</a:t>
            </a:r>
            <a:r>
              <a:rPr lang="en-US" sz="1400" b="1" dirty="0"/>
              <a:t> </a:t>
            </a:r>
            <a:r>
              <a:rPr lang="en-US" sz="1400" b="1" dirty="0">
                <a:solidFill>
                  <a:srgbClr val="FFFFFF"/>
                </a:solidFill>
                <a:latin typeface="Calibri" pitchFamily="34" charset="0"/>
                <a:ea typeface="Calibri" pitchFamily="34" charset="-122"/>
                <a:cs typeface="Calibri" pitchFamily="34" charset="-120"/>
              </a:rPr>
              <a:t>(IMD WCY): 4 categories, 		         20 subfactors</a:t>
            </a:r>
          </a:p>
        </p:txBody>
      </p:sp>
      <p:sp>
        <p:nvSpPr>
          <p:cNvPr id="37" name="Text 35"/>
          <p:cNvSpPr/>
          <p:nvPr/>
        </p:nvSpPr>
        <p:spPr>
          <a:xfrm>
            <a:off x="4416552" y="1298227"/>
            <a:ext cx="3319272"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Ordinal · annual</a:t>
            </a:r>
            <a:endParaRPr lang="en-US" sz="1000" dirty="0"/>
          </a:p>
        </p:txBody>
      </p:sp>
      <p:sp>
        <p:nvSpPr>
          <p:cNvPr id="38" name="Shape 36"/>
          <p:cNvSpPr/>
          <p:nvPr/>
        </p:nvSpPr>
        <p:spPr>
          <a:xfrm>
            <a:off x="4279392" y="1664208"/>
            <a:ext cx="3593592" cy="749808"/>
          </a:xfrm>
          <a:prstGeom prst="roundRect">
            <a:avLst>
              <a:gd name="adj" fmla="val 7317"/>
            </a:avLst>
          </a:prstGeom>
          <a:solidFill>
            <a:srgbClr val="F3F6F6"/>
          </a:solidFill>
          <a:ln/>
        </p:spPr>
        <p:txBody>
          <a:bodyPr/>
          <a:lstStyle/>
          <a:p>
            <a:endParaRPr lang="en-US"/>
          </a:p>
        </p:txBody>
      </p:sp>
      <p:sp>
        <p:nvSpPr>
          <p:cNvPr id="39" name="Text 37"/>
          <p:cNvSpPr/>
          <p:nvPr/>
        </p:nvSpPr>
        <p:spPr>
          <a:xfrm>
            <a:off x="4407408" y="1719072"/>
            <a:ext cx="1982375" cy="182879"/>
          </a:xfrm>
          <a:prstGeom prst="rect">
            <a:avLst/>
          </a:prstGeom>
          <a:noFill/>
          <a:ln/>
        </p:spPr>
        <p:txBody>
          <a:bodyPr wrap="square" lIns="0" tIns="0" rIns="0" bIns="0" rtlCol="0" anchor="ctr"/>
          <a:lstStyle/>
          <a:p>
            <a:pPr marL="0" indent="0">
              <a:buNone/>
            </a:pPr>
            <a:r>
              <a:rPr lang="en-US" sz="750" b="1" kern="0" spc="50" dirty="0">
                <a:latin typeface="Calibri" pitchFamily="34" charset="0"/>
                <a:ea typeface="Calibri" pitchFamily="34" charset="-122"/>
                <a:cs typeface="Calibri" pitchFamily="34" charset="-120"/>
              </a:rPr>
              <a:t>SYSTEM QUALITY</a:t>
            </a:r>
            <a:endParaRPr lang="en-US" sz="750" dirty="0"/>
          </a:p>
        </p:txBody>
      </p:sp>
      <p:sp>
        <p:nvSpPr>
          <p:cNvPr id="40" name="Text 38"/>
          <p:cNvSpPr/>
          <p:nvPr/>
        </p:nvSpPr>
        <p:spPr>
          <a:xfrm>
            <a:off x="4407408" y="1865376"/>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State health-system performance rank</a:t>
            </a:r>
            <a:endParaRPr lang="en-US" sz="950" dirty="0"/>
          </a:p>
        </p:txBody>
      </p:sp>
      <p:sp>
        <p:nvSpPr>
          <p:cNvPr id="41" name="Shape 39"/>
          <p:cNvSpPr/>
          <p:nvPr/>
        </p:nvSpPr>
        <p:spPr>
          <a:xfrm>
            <a:off x="4407408" y="2176272"/>
            <a:ext cx="713232" cy="219456"/>
          </a:xfrm>
          <a:prstGeom prst="roundRect">
            <a:avLst>
              <a:gd name="adj" fmla="val 20833"/>
            </a:avLst>
          </a:prstGeom>
          <a:noFill/>
          <a:ln w="9525">
            <a:solidFill>
              <a:srgbClr val="3E7C7C"/>
            </a:solidFill>
            <a:prstDash val="solid"/>
          </a:ln>
        </p:spPr>
        <p:txBody>
          <a:bodyPr/>
          <a:lstStyle/>
          <a:p>
            <a:endParaRPr lang="en-US"/>
          </a:p>
        </p:txBody>
      </p:sp>
      <p:sp>
        <p:nvSpPr>
          <p:cNvPr id="42" name="Text 40"/>
          <p:cNvSpPr/>
          <p:nvPr/>
        </p:nvSpPr>
        <p:spPr>
          <a:xfrm>
            <a:off x="4407408" y="2176272"/>
            <a:ext cx="713232"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Demand (2)</a:t>
            </a:r>
            <a:endParaRPr lang="en-US" sz="800" dirty="0"/>
          </a:p>
        </p:txBody>
      </p:sp>
      <p:sp>
        <p:nvSpPr>
          <p:cNvPr id="43" name="Shape 41"/>
          <p:cNvSpPr/>
          <p:nvPr/>
        </p:nvSpPr>
        <p:spPr>
          <a:xfrm>
            <a:off x="5184648" y="2176272"/>
            <a:ext cx="656539" cy="219456"/>
          </a:xfrm>
          <a:prstGeom prst="roundRect">
            <a:avLst>
              <a:gd name="adj" fmla="val 20833"/>
            </a:avLst>
          </a:prstGeom>
          <a:noFill/>
          <a:ln w="9525">
            <a:solidFill>
              <a:srgbClr val="3E7C7C"/>
            </a:solidFill>
            <a:prstDash val="solid"/>
          </a:ln>
        </p:spPr>
        <p:txBody>
          <a:bodyPr/>
          <a:lstStyle/>
          <a:p>
            <a:endParaRPr lang="en-US"/>
          </a:p>
        </p:txBody>
      </p:sp>
      <p:sp>
        <p:nvSpPr>
          <p:cNvPr id="44" name="Text 42"/>
          <p:cNvSpPr/>
          <p:nvPr/>
        </p:nvSpPr>
        <p:spPr>
          <a:xfrm>
            <a:off x="5184648" y="2176272"/>
            <a:ext cx="656539"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Infra (1)</a:t>
            </a:r>
            <a:endParaRPr lang="en-US" sz="800" dirty="0"/>
          </a:p>
        </p:txBody>
      </p:sp>
      <p:sp>
        <p:nvSpPr>
          <p:cNvPr id="45" name="Shape 43"/>
          <p:cNvSpPr/>
          <p:nvPr/>
        </p:nvSpPr>
        <p:spPr>
          <a:xfrm>
            <a:off x="4279392" y="2505456"/>
            <a:ext cx="3593592" cy="749808"/>
          </a:xfrm>
          <a:prstGeom prst="roundRect">
            <a:avLst>
              <a:gd name="adj" fmla="val 7317"/>
            </a:avLst>
          </a:prstGeom>
          <a:solidFill>
            <a:srgbClr val="F3F6F6"/>
          </a:solidFill>
          <a:ln/>
        </p:spPr>
        <p:txBody>
          <a:bodyPr/>
          <a:lstStyle/>
          <a:p>
            <a:endParaRPr lang="en-US"/>
          </a:p>
        </p:txBody>
      </p:sp>
      <p:sp>
        <p:nvSpPr>
          <p:cNvPr id="46" name="Text 44"/>
          <p:cNvSpPr/>
          <p:nvPr/>
        </p:nvSpPr>
        <p:spPr>
          <a:xfrm>
            <a:off x="4407408" y="2560320"/>
            <a:ext cx="3337560" cy="146304"/>
          </a:xfrm>
          <a:prstGeom prst="rect">
            <a:avLst/>
          </a:prstGeom>
          <a:noFill/>
          <a:ln/>
        </p:spPr>
        <p:txBody>
          <a:bodyPr wrap="square" lIns="0" tIns="0" rIns="0" bIns="0" rtlCol="0" anchor="ctr"/>
          <a:lstStyle/>
          <a:p>
            <a:pPr marL="0" indent="0">
              <a:buNone/>
            </a:pPr>
            <a:r>
              <a:rPr lang="en-US" sz="750" b="1" kern="0" spc="50" dirty="0">
                <a:solidFill>
                  <a:srgbClr val="3E7C7C"/>
                </a:solidFill>
                <a:latin typeface="Calibri" pitchFamily="34" charset="0"/>
                <a:ea typeface="Calibri" pitchFamily="34" charset="-122"/>
                <a:cs typeface="Calibri" pitchFamily="34" charset="-120"/>
              </a:rPr>
              <a:t>ACCESS</a:t>
            </a:r>
            <a:endParaRPr lang="en-US" sz="750" dirty="0"/>
          </a:p>
        </p:txBody>
      </p:sp>
      <p:sp>
        <p:nvSpPr>
          <p:cNvPr id="47" name="Text 45"/>
          <p:cNvSpPr/>
          <p:nvPr/>
        </p:nvSpPr>
        <p:spPr>
          <a:xfrm>
            <a:off x="4407408" y="2706624"/>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State Medicaid eligibility/</a:t>
            </a:r>
          </a:p>
          <a:p>
            <a:pPr marL="0" indent="0">
              <a:buNone/>
            </a:pPr>
            <a:r>
              <a:rPr lang="en-US" sz="950" b="1" dirty="0">
                <a:solidFill>
                  <a:srgbClr val="24303B"/>
                </a:solidFill>
                <a:latin typeface="Calibri" pitchFamily="34" charset="0"/>
                <a:ea typeface="Calibri" pitchFamily="34" charset="-122"/>
                <a:cs typeface="Calibri" pitchFamily="34" charset="-120"/>
              </a:rPr>
              <a:t>redetermination rank</a:t>
            </a:r>
            <a:endParaRPr lang="en-US" sz="950" dirty="0"/>
          </a:p>
        </p:txBody>
      </p:sp>
      <p:sp>
        <p:nvSpPr>
          <p:cNvPr id="48" name="Shape 46"/>
          <p:cNvSpPr/>
          <p:nvPr/>
        </p:nvSpPr>
        <p:spPr>
          <a:xfrm>
            <a:off x="4407408" y="3017520"/>
            <a:ext cx="713232" cy="219456"/>
          </a:xfrm>
          <a:prstGeom prst="roundRect">
            <a:avLst>
              <a:gd name="adj" fmla="val 20833"/>
            </a:avLst>
          </a:prstGeom>
          <a:noFill/>
          <a:ln w="9525">
            <a:solidFill>
              <a:srgbClr val="3E7C7C"/>
            </a:solidFill>
            <a:prstDash val="solid"/>
          </a:ln>
        </p:spPr>
        <p:txBody>
          <a:bodyPr/>
          <a:lstStyle/>
          <a:p>
            <a:endParaRPr lang="en-US"/>
          </a:p>
        </p:txBody>
      </p:sp>
      <p:sp>
        <p:nvSpPr>
          <p:cNvPr id="49" name="Text 47"/>
          <p:cNvSpPr/>
          <p:nvPr/>
        </p:nvSpPr>
        <p:spPr>
          <a:xfrm>
            <a:off x="4407408" y="3017520"/>
            <a:ext cx="713232"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Demand (3)</a:t>
            </a:r>
            <a:endParaRPr lang="en-US" sz="800" dirty="0"/>
          </a:p>
        </p:txBody>
      </p:sp>
      <p:sp>
        <p:nvSpPr>
          <p:cNvPr id="50" name="Shape 48"/>
          <p:cNvSpPr/>
          <p:nvPr/>
        </p:nvSpPr>
        <p:spPr>
          <a:xfrm>
            <a:off x="4279392" y="3346704"/>
            <a:ext cx="3593592" cy="749808"/>
          </a:xfrm>
          <a:prstGeom prst="roundRect">
            <a:avLst>
              <a:gd name="adj" fmla="val 7317"/>
            </a:avLst>
          </a:prstGeom>
          <a:solidFill>
            <a:srgbClr val="F3F6F6"/>
          </a:solidFill>
          <a:ln/>
        </p:spPr>
        <p:txBody>
          <a:bodyPr/>
          <a:lstStyle/>
          <a:p>
            <a:endParaRPr lang="en-US"/>
          </a:p>
        </p:txBody>
      </p:sp>
      <p:sp>
        <p:nvSpPr>
          <p:cNvPr id="51" name="Text 49"/>
          <p:cNvSpPr/>
          <p:nvPr/>
        </p:nvSpPr>
        <p:spPr>
          <a:xfrm>
            <a:off x="4407408" y="3401568"/>
            <a:ext cx="3337560" cy="146304"/>
          </a:xfrm>
          <a:prstGeom prst="rect">
            <a:avLst/>
          </a:prstGeom>
          <a:noFill/>
          <a:ln/>
        </p:spPr>
        <p:txBody>
          <a:bodyPr wrap="square" lIns="0" tIns="0" rIns="0" bIns="0" rtlCol="0" anchor="ctr"/>
          <a:lstStyle/>
          <a:p>
            <a:pPr marL="0" indent="0">
              <a:buNone/>
            </a:pPr>
            <a:r>
              <a:rPr lang="en-US" sz="750" b="1" kern="0" spc="50" dirty="0">
                <a:solidFill>
                  <a:srgbClr val="3E7C7C"/>
                </a:solidFill>
                <a:latin typeface="Calibri" pitchFamily="34" charset="0"/>
                <a:ea typeface="Calibri" pitchFamily="34" charset="-122"/>
                <a:cs typeface="Calibri" pitchFamily="34" charset="-120"/>
              </a:rPr>
              <a:t>WORKFORCE</a:t>
            </a:r>
            <a:endParaRPr lang="en-US" sz="750" dirty="0"/>
          </a:p>
        </p:txBody>
      </p:sp>
      <p:sp>
        <p:nvSpPr>
          <p:cNvPr id="52" name="Text 50"/>
          <p:cNvSpPr/>
          <p:nvPr/>
        </p:nvSpPr>
        <p:spPr>
          <a:xfrm>
            <a:off x="4407408" y="3547872"/>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Clinical labor-market tightness rank</a:t>
            </a:r>
            <a:endParaRPr lang="en-US" sz="950" dirty="0"/>
          </a:p>
        </p:txBody>
      </p:sp>
      <p:sp>
        <p:nvSpPr>
          <p:cNvPr id="53" name="Shape 51"/>
          <p:cNvSpPr/>
          <p:nvPr/>
        </p:nvSpPr>
        <p:spPr>
          <a:xfrm>
            <a:off x="4407408" y="3858768"/>
            <a:ext cx="713232" cy="219456"/>
          </a:xfrm>
          <a:prstGeom prst="roundRect">
            <a:avLst>
              <a:gd name="adj" fmla="val 20833"/>
            </a:avLst>
          </a:prstGeom>
          <a:noFill/>
          <a:ln w="9525">
            <a:solidFill>
              <a:srgbClr val="3E7C7C"/>
            </a:solidFill>
            <a:prstDash val="solid"/>
          </a:ln>
        </p:spPr>
        <p:txBody>
          <a:bodyPr/>
          <a:lstStyle/>
          <a:p>
            <a:endParaRPr lang="en-US"/>
          </a:p>
        </p:txBody>
      </p:sp>
      <p:sp>
        <p:nvSpPr>
          <p:cNvPr id="54" name="Text 52"/>
          <p:cNvSpPr/>
          <p:nvPr/>
        </p:nvSpPr>
        <p:spPr>
          <a:xfrm>
            <a:off x="4407408" y="3858768"/>
            <a:ext cx="713232" cy="219456"/>
          </a:xfrm>
          <a:prstGeom prst="rect">
            <a:avLst/>
          </a:prstGeom>
          <a:no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Talent (3)</a:t>
            </a:r>
            <a:endParaRPr lang="en-US" sz="800" dirty="0"/>
          </a:p>
        </p:txBody>
      </p:sp>
      <p:sp>
        <p:nvSpPr>
          <p:cNvPr id="55" name="Shape 53"/>
          <p:cNvSpPr/>
          <p:nvPr/>
        </p:nvSpPr>
        <p:spPr>
          <a:xfrm>
            <a:off x="8010144" y="969043"/>
            <a:ext cx="3593592" cy="548640"/>
          </a:xfrm>
          <a:prstGeom prst="roundRect">
            <a:avLst>
              <a:gd name="adj" fmla="val 13333"/>
            </a:avLst>
          </a:prstGeom>
          <a:solidFill>
            <a:schemeClr val="accent1">
              <a:lumMod val="75000"/>
            </a:schemeClr>
          </a:solidFill>
          <a:ln/>
        </p:spPr>
        <p:txBody>
          <a:bodyPr/>
          <a:lstStyle/>
          <a:p>
            <a:endParaRPr lang="en-US"/>
          </a:p>
        </p:txBody>
      </p:sp>
      <p:sp>
        <p:nvSpPr>
          <p:cNvPr id="56" name="Text 54"/>
          <p:cNvSpPr/>
          <p:nvPr/>
        </p:nvSpPr>
        <p:spPr>
          <a:xfrm>
            <a:off x="8147304" y="1023907"/>
            <a:ext cx="3319272" cy="274320"/>
          </a:xfrm>
          <a:prstGeom prst="rect">
            <a:avLst/>
          </a:prstGeom>
          <a:noFill/>
          <a:ln/>
        </p:spPr>
        <p:txBody>
          <a:bodyPr wrap="square" lIns="0" tIns="0" rIns="0" bIns="0" rtlCol="0" anchor="ctr"/>
          <a:lstStyle/>
          <a:p>
            <a:r>
              <a:rPr lang="en-US" sz="1400" b="1" dirty="0">
                <a:solidFill>
                  <a:srgbClr val="FFFFFF"/>
                </a:solidFill>
                <a:latin typeface="Calibri" pitchFamily="34" charset="0"/>
                <a:ea typeface="Calibri" pitchFamily="34" charset="-122"/>
                <a:cs typeface="Calibri" pitchFamily="34" charset="-120"/>
              </a:rPr>
              <a:t>Digital source (IMD WDCR): 3 categories, </a:t>
            </a:r>
          </a:p>
          <a:p>
            <a:r>
              <a:rPr lang="en-US" sz="1400" b="1" dirty="0">
                <a:solidFill>
                  <a:srgbClr val="FFFFFF"/>
                </a:solidFill>
                <a:latin typeface="Calibri" pitchFamily="34" charset="0"/>
                <a:ea typeface="Calibri" pitchFamily="34" charset="-122"/>
                <a:cs typeface="Calibri" pitchFamily="34" charset="-120"/>
              </a:rPr>
              <a:t>		      9 subfactors</a:t>
            </a:r>
          </a:p>
        </p:txBody>
      </p:sp>
      <p:sp>
        <p:nvSpPr>
          <p:cNvPr id="57" name="Text 55"/>
          <p:cNvSpPr/>
          <p:nvPr/>
        </p:nvSpPr>
        <p:spPr>
          <a:xfrm>
            <a:off x="8147304" y="1298227"/>
            <a:ext cx="3319272" cy="201168"/>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Ordinal · annual</a:t>
            </a:r>
            <a:endParaRPr lang="en-US" sz="1000" dirty="0"/>
          </a:p>
        </p:txBody>
      </p:sp>
      <p:sp>
        <p:nvSpPr>
          <p:cNvPr id="58" name="Shape 56"/>
          <p:cNvSpPr/>
          <p:nvPr/>
        </p:nvSpPr>
        <p:spPr>
          <a:xfrm>
            <a:off x="8010144" y="1664208"/>
            <a:ext cx="3593592" cy="749808"/>
          </a:xfrm>
          <a:prstGeom prst="roundRect">
            <a:avLst>
              <a:gd name="adj" fmla="val 7317"/>
            </a:avLst>
          </a:prstGeom>
          <a:solidFill>
            <a:srgbClr val="F3F6F6"/>
          </a:solidFill>
          <a:ln/>
        </p:spPr>
        <p:txBody>
          <a:bodyPr/>
          <a:lstStyle/>
          <a:p>
            <a:endParaRPr lang="en-US"/>
          </a:p>
        </p:txBody>
      </p:sp>
      <p:sp>
        <p:nvSpPr>
          <p:cNvPr id="59" name="Text 57"/>
          <p:cNvSpPr/>
          <p:nvPr/>
        </p:nvSpPr>
        <p:spPr>
          <a:xfrm>
            <a:off x="8138160" y="1719072"/>
            <a:ext cx="3337560" cy="146304"/>
          </a:xfrm>
          <a:prstGeom prst="rect">
            <a:avLst/>
          </a:prstGeom>
          <a:noFill/>
          <a:ln>
            <a:solidFill>
              <a:schemeClr val="bg1"/>
            </a:solidFill>
          </a:ln>
        </p:spPr>
        <p:txBody>
          <a:bodyPr wrap="square" lIns="0" tIns="0" rIns="0" bIns="0" rtlCol="0" anchor="ctr"/>
          <a:lstStyle/>
          <a:p>
            <a:pPr marL="0" indent="0">
              <a:buNone/>
            </a:pPr>
            <a:r>
              <a:rPr lang="en-US" sz="750" b="1" kern="0" spc="50" dirty="0">
                <a:latin typeface="Calibri" pitchFamily="34" charset="0"/>
                <a:ea typeface="Calibri" pitchFamily="34" charset="-122"/>
                <a:cs typeface="Calibri" pitchFamily="34" charset="-120"/>
              </a:rPr>
              <a:t>INTEROPERABILITY</a:t>
            </a:r>
            <a:endParaRPr lang="en-US" sz="750" dirty="0"/>
          </a:p>
        </p:txBody>
      </p:sp>
      <p:sp>
        <p:nvSpPr>
          <p:cNvPr id="60" name="Text 58"/>
          <p:cNvSpPr/>
          <p:nvPr/>
        </p:nvSpPr>
        <p:spPr>
          <a:xfrm>
            <a:off x="8138160" y="1865376"/>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Health-data interoperability maturity rank</a:t>
            </a:r>
            <a:endParaRPr lang="en-US" sz="950" dirty="0"/>
          </a:p>
        </p:txBody>
      </p:sp>
      <p:sp>
        <p:nvSpPr>
          <p:cNvPr id="61" name="Shape 59"/>
          <p:cNvSpPr/>
          <p:nvPr/>
        </p:nvSpPr>
        <p:spPr>
          <a:xfrm>
            <a:off x="8138160" y="2176272"/>
            <a:ext cx="1053389" cy="219456"/>
          </a:xfrm>
          <a:prstGeom prst="roundRect">
            <a:avLst>
              <a:gd name="adj" fmla="val 20833"/>
            </a:avLst>
          </a:prstGeom>
          <a:noFill/>
          <a:ln w="9525">
            <a:solidFill>
              <a:srgbClr val="C97B2B"/>
            </a:solidFill>
            <a:prstDash val="solid"/>
          </a:ln>
        </p:spPr>
        <p:txBody>
          <a:bodyPr/>
          <a:lstStyle/>
          <a:p>
            <a:endParaRPr lang="en-US"/>
          </a:p>
        </p:txBody>
      </p:sp>
      <p:sp>
        <p:nvSpPr>
          <p:cNvPr id="62" name="Text 60"/>
          <p:cNvSpPr/>
          <p:nvPr/>
        </p:nvSpPr>
        <p:spPr>
          <a:xfrm>
            <a:off x="8138160" y="2176272"/>
            <a:ext cx="1053389" cy="219456"/>
          </a:xfrm>
          <a:prstGeom prst="rect">
            <a:avLst/>
          </a:prstGeom>
          <a:noFill/>
          <a:ln>
            <a:solidFill>
              <a:schemeClr val="tx2">
                <a:lumMod val="50000"/>
              </a:schemeClr>
            </a:solid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Data/Digital (3)</a:t>
            </a:r>
            <a:endParaRPr lang="en-US" sz="800" dirty="0"/>
          </a:p>
        </p:txBody>
      </p:sp>
      <p:sp>
        <p:nvSpPr>
          <p:cNvPr id="63" name="Shape 61"/>
          <p:cNvSpPr/>
          <p:nvPr/>
        </p:nvSpPr>
        <p:spPr>
          <a:xfrm>
            <a:off x="8010144" y="2505456"/>
            <a:ext cx="3593592" cy="749808"/>
          </a:xfrm>
          <a:prstGeom prst="roundRect">
            <a:avLst>
              <a:gd name="adj" fmla="val 7317"/>
            </a:avLst>
          </a:prstGeom>
          <a:solidFill>
            <a:srgbClr val="F3F6F6"/>
          </a:solidFill>
          <a:ln/>
        </p:spPr>
        <p:txBody>
          <a:bodyPr/>
          <a:lstStyle/>
          <a:p>
            <a:endParaRPr lang="en-US"/>
          </a:p>
        </p:txBody>
      </p:sp>
      <p:sp>
        <p:nvSpPr>
          <p:cNvPr id="64" name="Text 62"/>
          <p:cNvSpPr/>
          <p:nvPr/>
        </p:nvSpPr>
        <p:spPr>
          <a:xfrm>
            <a:off x="8138160" y="2560320"/>
            <a:ext cx="3337560" cy="146304"/>
          </a:xfrm>
          <a:prstGeom prst="rect">
            <a:avLst/>
          </a:prstGeom>
          <a:noFill/>
          <a:ln/>
        </p:spPr>
        <p:txBody>
          <a:bodyPr wrap="square" lIns="0" tIns="0" rIns="0" bIns="0" rtlCol="0" anchor="ctr"/>
          <a:lstStyle/>
          <a:p>
            <a:pPr marL="0" indent="0">
              <a:buNone/>
            </a:pPr>
            <a:r>
              <a:rPr lang="en-US" sz="750" b="1" kern="0" spc="50" dirty="0">
                <a:solidFill>
                  <a:srgbClr val="C97B2B"/>
                </a:solidFill>
                <a:latin typeface="Calibri" pitchFamily="34" charset="0"/>
                <a:ea typeface="Calibri" pitchFamily="34" charset="-122"/>
                <a:cs typeface="Calibri" pitchFamily="34" charset="-120"/>
              </a:rPr>
              <a:t>COMPLIANCE</a:t>
            </a:r>
            <a:endParaRPr lang="en-US" sz="750" dirty="0"/>
          </a:p>
        </p:txBody>
      </p:sp>
      <p:sp>
        <p:nvSpPr>
          <p:cNvPr id="65" name="Text 63"/>
          <p:cNvSpPr/>
          <p:nvPr/>
        </p:nvSpPr>
        <p:spPr>
          <a:xfrm>
            <a:off x="8138160" y="2706624"/>
            <a:ext cx="3337560" cy="329184"/>
          </a:xfrm>
          <a:prstGeom prst="rect">
            <a:avLst/>
          </a:prstGeom>
          <a:noFill/>
          <a:ln/>
        </p:spPr>
        <p:txBody>
          <a:bodyPr wrap="square" lIns="0" tIns="0" rIns="0" bIns="0" rtlCol="0" anchor="ctr"/>
          <a:lstStyle/>
          <a:p>
            <a:pPr marL="0" indent="0">
              <a:buNone/>
            </a:pPr>
            <a:r>
              <a:rPr lang="en-US" sz="950" b="1" dirty="0">
                <a:solidFill>
                  <a:srgbClr val="24303B"/>
                </a:solidFill>
                <a:latin typeface="Calibri" pitchFamily="34" charset="0"/>
                <a:ea typeface="Calibri" pitchFamily="34" charset="-122"/>
                <a:cs typeface="Calibri" pitchFamily="34" charset="-120"/>
              </a:rPr>
              <a:t>HIPAA enforcement-activity rank</a:t>
            </a:r>
            <a:endParaRPr lang="en-US" sz="950" dirty="0"/>
          </a:p>
        </p:txBody>
      </p:sp>
      <p:sp>
        <p:nvSpPr>
          <p:cNvPr id="66" name="Shape 64"/>
          <p:cNvSpPr/>
          <p:nvPr/>
        </p:nvSpPr>
        <p:spPr>
          <a:xfrm>
            <a:off x="8138160" y="3017520"/>
            <a:ext cx="1053389" cy="219456"/>
          </a:xfrm>
          <a:prstGeom prst="roundRect">
            <a:avLst>
              <a:gd name="adj" fmla="val 20833"/>
            </a:avLst>
          </a:prstGeom>
          <a:noFill/>
          <a:ln w="9525">
            <a:solidFill>
              <a:srgbClr val="C97B2B"/>
            </a:solidFill>
            <a:prstDash val="solid"/>
          </a:ln>
        </p:spPr>
        <p:txBody>
          <a:bodyPr/>
          <a:lstStyle/>
          <a:p>
            <a:endParaRPr lang="en-US"/>
          </a:p>
        </p:txBody>
      </p:sp>
      <p:sp>
        <p:nvSpPr>
          <p:cNvPr id="67" name="Text 65"/>
          <p:cNvSpPr/>
          <p:nvPr/>
        </p:nvSpPr>
        <p:spPr>
          <a:xfrm>
            <a:off x="8138160" y="3017520"/>
            <a:ext cx="1053389" cy="219456"/>
          </a:xfrm>
          <a:prstGeom prst="rect">
            <a:avLst/>
          </a:prstGeom>
          <a:noFill/>
          <a:ln>
            <a:solidFill>
              <a:schemeClr val="tx2">
                <a:lumMod val="50000"/>
              </a:schemeClr>
            </a:solid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Data/Digital (2)</a:t>
            </a:r>
            <a:endParaRPr lang="en-US" sz="800" dirty="0"/>
          </a:p>
        </p:txBody>
      </p:sp>
      <p:sp>
        <p:nvSpPr>
          <p:cNvPr id="68" name="Shape 66"/>
          <p:cNvSpPr/>
          <p:nvPr/>
        </p:nvSpPr>
        <p:spPr>
          <a:xfrm>
            <a:off x="9255557" y="3017520"/>
            <a:ext cx="883310" cy="219456"/>
          </a:xfrm>
          <a:prstGeom prst="roundRect">
            <a:avLst>
              <a:gd name="adj" fmla="val 20833"/>
            </a:avLst>
          </a:prstGeom>
          <a:noFill/>
          <a:ln w="9525">
            <a:solidFill>
              <a:srgbClr val="C97B2B"/>
            </a:solidFill>
            <a:prstDash val="solid"/>
          </a:ln>
        </p:spPr>
        <p:txBody>
          <a:bodyPr/>
          <a:lstStyle/>
          <a:p>
            <a:endParaRPr lang="en-US"/>
          </a:p>
        </p:txBody>
      </p:sp>
      <p:sp>
        <p:nvSpPr>
          <p:cNvPr id="69" name="Text 67"/>
          <p:cNvSpPr/>
          <p:nvPr/>
        </p:nvSpPr>
        <p:spPr>
          <a:xfrm>
            <a:off x="9255557" y="3017520"/>
            <a:ext cx="883310" cy="219456"/>
          </a:xfrm>
          <a:prstGeom prst="rect">
            <a:avLst/>
          </a:prstGeom>
          <a:noFill/>
          <a:ln>
            <a:solidFill>
              <a:schemeClr val="tx2">
                <a:lumMod val="50000"/>
              </a:schemeClr>
            </a:solidFill>
          </a:ln>
        </p:spPr>
        <p:txBody>
          <a:bodyPr wrap="square" lIns="0" tIns="0" rIns="0" bIns="0" rtlCol="0" anchor="ctr"/>
          <a:lstStyle/>
          <a:p>
            <a:pPr marL="0" indent="0" algn="ctr">
              <a:buNone/>
            </a:pPr>
            <a:r>
              <a:rPr lang="en-US" sz="800" b="1" dirty="0">
                <a:latin typeface="Calibri" pitchFamily="34" charset="0"/>
                <a:ea typeface="Calibri" pitchFamily="34" charset="-122"/>
                <a:cs typeface="Calibri" pitchFamily="34" charset="-120"/>
              </a:rPr>
              <a:t>Brand/Rep (1)</a:t>
            </a:r>
            <a:endParaRPr lang="en-US" sz="800" dirty="0"/>
          </a:p>
        </p:txBody>
      </p:sp>
      <p:sp>
        <p:nvSpPr>
          <p:cNvPr id="70" name="Shape 68"/>
          <p:cNvSpPr/>
          <p:nvPr/>
        </p:nvSpPr>
        <p:spPr>
          <a:xfrm>
            <a:off x="2345436" y="5029199"/>
            <a:ext cx="0" cy="831773"/>
          </a:xfrm>
          <a:prstGeom prst="line">
            <a:avLst/>
          </a:prstGeom>
          <a:noFill/>
          <a:ln w="15875">
            <a:solidFill>
              <a:srgbClr val="5B6670"/>
            </a:solidFill>
            <a:prstDash val="solid"/>
            <a:tailEnd type="triangle"/>
          </a:ln>
        </p:spPr>
        <p:txBody>
          <a:bodyPr/>
          <a:lstStyle/>
          <a:p>
            <a:endParaRPr lang="en-US"/>
          </a:p>
        </p:txBody>
      </p:sp>
      <p:sp>
        <p:nvSpPr>
          <p:cNvPr id="71" name="Shape 69"/>
          <p:cNvSpPr/>
          <p:nvPr/>
        </p:nvSpPr>
        <p:spPr>
          <a:xfrm>
            <a:off x="6076187" y="5029199"/>
            <a:ext cx="19789" cy="783855"/>
          </a:xfrm>
          <a:prstGeom prst="line">
            <a:avLst/>
          </a:prstGeom>
          <a:noFill/>
          <a:ln w="15875">
            <a:solidFill>
              <a:srgbClr val="5B6670"/>
            </a:solidFill>
            <a:prstDash val="solid"/>
            <a:tailEnd type="triangle"/>
          </a:ln>
        </p:spPr>
        <p:txBody>
          <a:bodyPr/>
          <a:lstStyle/>
          <a:p>
            <a:endParaRPr lang="en-US"/>
          </a:p>
        </p:txBody>
      </p:sp>
      <p:sp>
        <p:nvSpPr>
          <p:cNvPr id="72" name="Shape 70"/>
          <p:cNvSpPr/>
          <p:nvPr/>
        </p:nvSpPr>
        <p:spPr>
          <a:xfrm>
            <a:off x="9806940" y="5029200"/>
            <a:ext cx="0" cy="831772"/>
          </a:xfrm>
          <a:prstGeom prst="line">
            <a:avLst/>
          </a:prstGeom>
          <a:noFill/>
          <a:ln w="15875">
            <a:solidFill>
              <a:srgbClr val="5B6670"/>
            </a:solidFill>
            <a:prstDash val="solid"/>
            <a:tailEnd type="triangle"/>
          </a:ln>
        </p:spPr>
        <p:txBody>
          <a:bodyPr/>
          <a:lstStyle/>
          <a:p>
            <a:endParaRPr lang="en-US"/>
          </a:p>
        </p:txBody>
      </p:sp>
      <p:sp>
        <p:nvSpPr>
          <p:cNvPr id="73" name="Shape 71"/>
          <p:cNvSpPr/>
          <p:nvPr/>
        </p:nvSpPr>
        <p:spPr>
          <a:xfrm>
            <a:off x="548640" y="6032511"/>
            <a:ext cx="11055096" cy="822960"/>
          </a:xfrm>
          <a:prstGeom prst="roundRect">
            <a:avLst>
              <a:gd name="adj" fmla="val 11111"/>
            </a:avLst>
          </a:prstGeom>
          <a:solidFill>
            <a:srgbClr val="132B45"/>
          </a:solidFill>
          <a:ln/>
        </p:spPr>
        <p:txBody>
          <a:bodyPr/>
          <a:lstStyle/>
          <a:p>
            <a:endParaRPr lang="en-US"/>
          </a:p>
        </p:txBody>
      </p:sp>
      <p:sp>
        <p:nvSpPr>
          <p:cNvPr id="74" name="Text 72"/>
          <p:cNvSpPr/>
          <p:nvPr/>
        </p:nvSpPr>
        <p:spPr>
          <a:xfrm>
            <a:off x="731520" y="6105663"/>
            <a:ext cx="10689336" cy="237744"/>
          </a:xfrm>
          <a:prstGeom prst="rect">
            <a:avLst/>
          </a:prstGeom>
          <a:noFill/>
          <a:ln/>
        </p:spPr>
        <p:txBody>
          <a:bodyPr wrap="square" lIns="0" tIns="0" rIns="0" bIns="0" rtlCol="0" anchor="ctr"/>
          <a:lstStyle/>
          <a:p>
            <a:pPr marL="0" indent="0">
              <a:buNone/>
            </a:pPr>
            <a:r>
              <a:rPr lang="en-US" sz="1050" b="1" dirty="0">
                <a:solidFill>
                  <a:srgbClr val="C97B2B"/>
                </a:solidFill>
                <a:latin typeface="Calibri" pitchFamily="34" charset="0"/>
                <a:ea typeface="Calibri" pitchFamily="34" charset="-122"/>
                <a:cs typeface="Calibri" pitchFamily="34" charset="-120"/>
              </a:rPr>
              <a:t>Common driver taxonomy — every indicator above loads onto one or more of these 7 drivers</a:t>
            </a:r>
            <a:endParaRPr lang="en-US" sz="1050" dirty="0"/>
          </a:p>
        </p:txBody>
      </p:sp>
      <p:sp>
        <p:nvSpPr>
          <p:cNvPr id="75" name="Shape 73"/>
          <p:cNvSpPr/>
          <p:nvPr/>
        </p:nvSpPr>
        <p:spPr>
          <a:xfrm>
            <a:off x="731520" y="6407415"/>
            <a:ext cx="1453896" cy="292608"/>
          </a:xfrm>
          <a:prstGeom prst="roundRect">
            <a:avLst>
              <a:gd name="adj" fmla="val 15625"/>
            </a:avLst>
          </a:prstGeom>
          <a:solidFill>
            <a:srgbClr val="24466E"/>
          </a:solidFill>
          <a:ln/>
        </p:spPr>
        <p:txBody>
          <a:bodyPr/>
          <a:lstStyle/>
          <a:p>
            <a:endParaRPr lang="en-US"/>
          </a:p>
        </p:txBody>
      </p:sp>
      <p:sp>
        <p:nvSpPr>
          <p:cNvPr id="76" name="Text 74"/>
          <p:cNvSpPr/>
          <p:nvPr/>
        </p:nvSpPr>
        <p:spPr>
          <a:xfrm>
            <a:off x="731520"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Demand</a:t>
            </a:r>
            <a:endParaRPr lang="en-US" sz="850" dirty="0"/>
          </a:p>
        </p:txBody>
      </p:sp>
      <p:sp>
        <p:nvSpPr>
          <p:cNvPr id="77" name="Shape 75"/>
          <p:cNvSpPr/>
          <p:nvPr/>
        </p:nvSpPr>
        <p:spPr>
          <a:xfrm>
            <a:off x="2258568" y="6407415"/>
            <a:ext cx="1453896" cy="292608"/>
          </a:xfrm>
          <a:prstGeom prst="roundRect">
            <a:avLst>
              <a:gd name="adj" fmla="val 15625"/>
            </a:avLst>
          </a:prstGeom>
          <a:solidFill>
            <a:srgbClr val="24466E"/>
          </a:solidFill>
          <a:ln/>
        </p:spPr>
        <p:txBody>
          <a:bodyPr/>
          <a:lstStyle/>
          <a:p>
            <a:endParaRPr lang="en-US"/>
          </a:p>
        </p:txBody>
      </p:sp>
      <p:sp>
        <p:nvSpPr>
          <p:cNvPr id="78" name="Text 76"/>
          <p:cNvSpPr/>
          <p:nvPr/>
        </p:nvSpPr>
        <p:spPr>
          <a:xfrm>
            <a:off x="2258568"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Supply</a:t>
            </a:r>
            <a:endParaRPr lang="en-US" sz="850" dirty="0"/>
          </a:p>
        </p:txBody>
      </p:sp>
      <p:sp>
        <p:nvSpPr>
          <p:cNvPr id="79" name="Shape 77"/>
          <p:cNvSpPr/>
          <p:nvPr/>
        </p:nvSpPr>
        <p:spPr>
          <a:xfrm>
            <a:off x="3785616" y="6407415"/>
            <a:ext cx="1453896" cy="292608"/>
          </a:xfrm>
          <a:prstGeom prst="roundRect">
            <a:avLst>
              <a:gd name="adj" fmla="val 15625"/>
            </a:avLst>
          </a:prstGeom>
          <a:solidFill>
            <a:srgbClr val="24466E"/>
          </a:solidFill>
          <a:ln/>
        </p:spPr>
        <p:txBody>
          <a:bodyPr/>
          <a:lstStyle/>
          <a:p>
            <a:endParaRPr lang="en-US"/>
          </a:p>
        </p:txBody>
      </p:sp>
      <p:sp>
        <p:nvSpPr>
          <p:cNvPr id="80" name="Text 78"/>
          <p:cNvSpPr/>
          <p:nvPr/>
        </p:nvSpPr>
        <p:spPr>
          <a:xfrm>
            <a:off x="3785616"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Infrastructure</a:t>
            </a:r>
            <a:endParaRPr lang="en-US" sz="850" dirty="0"/>
          </a:p>
        </p:txBody>
      </p:sp>
      <p:sp>
        <p:nvSpPr>
          <p:cNvPr id="81" name="Shape 79"/>
          <p:cNvSpPr/>
          <p:nvPr/>
        </p:nvSpPr>
        <p:spPr>
          <a:xfrm>
            <a:off x="5312664" y="6407415"/>
            <a:ext cx="1453896" cy="292608"/>
          </a:xfrm>
          <a:prstGeom prst="roundRect">
            <a:avLst>
              <a:gd name="adj" fmla="val 15625"/>
            </a:avLst>
          </a:prstGeom>
          <a:solidFill>
            <a:srgbClr val="24466E"/>
          </a:solidFill>
          <a:ln/>
        </p:spPr>
        <p:txBody>
          <a:bodyPr/>
          <a:lstStyle/>
          <a:p>
            <a:endParaRPr lang="en-US"/>
          </a:p>
        </p:txBody>
      </p:sp>
      <p:sp>
        <p:nvSpPr>
          <p:cNvPr id="82" name="Text 80"/>
          <p:cNvSpPr/>
          <p:nvPr/>
        </p:nvSpPr>
        <p:spPr>
          <a:xfrm>
            <a:off x="5312664"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Data &amp; Digital</a:t>
            </a:r>
            <a:endParaRPr lang="en-US" sz="850" dirty="0"/>
          </a:p>
        </p:txBody>
      </p:sp>
      <p:sp>
        <p:nvSpPr>
          <p:cNvPr id="83" name="Shape 81"/>
          <p:cNvSpPr/>
          <p:nvPr/>
        </p:nvSpPr>
        <p:spPr>
          <a:xfrm>
            <a:off x="6839712" y="6407415"/>
            <a:ext cx="1453896" cy="292608"/>
          </a:xfrm>
          <a:prstGeom prst="roundRect">
            <a:avLst>
              <a:gd name="adj" fmla="val 15625"/>
            </a:avLst>
          </a:prstGeom>
          <a:solidFill>
            <a:srgbClr val="24466E"/>
          </a:solidFill>
          <a:ln/>
        </p:spPr>
        <p:txBody>
          <a:bodyPr/>
          <a:lstStyle/>
          <a:p>
            <a:endParaRPr lang="en-US"/>
          </a:p>
        </p:txBody>
      </p:sp>
      <p:sp>
        <p:nvSpPr>
          <p:cNvPr id="84" name="Text 82"/>
          <p:cNvSpPr/>
          <p:nvPr/>
        </p:nvSpPr>
        <p:spPr>
          <a:xfrm>
            <a:off x="6839712"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Capital</a:t>
            </a:r>
            <a:endParaRPr lang="en-US" sz="850" dirty="0"/>
          </a:p>
        </p:txBody>
      </p:sp>
      <p:sp>
        <p:nvSpPr>
          <p:cNvPr id="85" name="Shape 83"/>
          <p:cNvSpPr/>
          <p:nvPr/>
        </p:nvSpPr>
        <p:spPr>
          <a:xfrm>
            <a:off x="8366760" y="6407415"/>
            <a:ext cx="1453896" cy="292608"/>
          </a:xfrm>
          <a:prstGeom prst="roundRect">
            <a:avLst>
              <a:gd name="adj" fmla="val 15625"/>
            </a:avLst>
          </a:prstGeom>
          <a:solidFill>
            <a:srgbClr val="24466E"/>
          </a:solidFill>
          <a:ln/>
        </p:spPr>
        <p:txBody>
          <a:bodyPr/>
          <a:lstStyle/>
          <a:p>
            <a:endParaRPr lang="en-US"/>
          </a:p>
        </p:txBody>
      </p:sp>
      <p:sp>
        <p:nvSpPr>
          <p:cNvPr id="86" name="Text 84"/>
          <p:cNvSpPr/>
          <p:nvPr/>
        </p:nvSpPr>
        <p:spPr>
          <a:xfrm>
            <a:off x="8366760"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Talent</a:t>
            </a:r>
            <a:endParaRPr lang="en-US" sz="850" dirty="0"/>
          </a:p>
        </p:txBody>
      </p:sp>
      <p:sp>
        <p:nvSpPr>
          <p:cNvPr id="87" name="Shape 85"/>
          <p:cNvSpPr/>
          <p:nvPr/>
        </p:nvSpPr>
        <p:spPr>
          <a:xfrm>
            <a:off x="9893808" y="6407415"/>
            <a:ext cx="1453896" cy="292608"/>
          </a:xfrm>
          <a:prstGeom prst="roundRect">
            <a:avLst>
              <a:gd name="adj" fmla="val 15625"/>
            </a:avLst>
          </a:prstGeom>
          <a:solidFill>
            <a:srgbClr val="24466E"/>
          </a:solidFill>
          <a:ln/>
        </p:spPr>
        <p:txBody>
          <a:bodyPr/>
          <a:lstStyle/>
          <a:p>
            <a:endParaRPr lang="en-US"/>
          </a:p>
        </p:txBody>
      </p:sp>
      <p:sp>
        <p:nvSpPr>
          <p:cNvPr id="88" name="Text 86"/>
          <p:cNvSpPr/>
          <p:nvPr/>
        </p:nvSpPr>
        <p:spPr>
          <a:xfrm>
            <a:off x="9893808" y="6407415"/>
            <a:ext cx="1453896"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Brand/Reputation</a:t>
            </a:r>
            <a:endParaRPr lang="en-US" sz="850" dirty="0"/>
          </a:p>
        </p:txBody>
      </p:sp>
      <p:graphicFrame>
        <p:nvGraphicFramePr>
          <p:cNvPr id="91" name="Table 90">
            <a:extLst>
              <a:ext uri="{FF2B5EF4-FFF2-40B4-BE49-F238E27FC236}">
                <a16:creationId xmlns:a16="http://schemas.microsoft.com/office/drawing/2014/main" id="{C6366F77-4E74-EEDA-C4FF-E7EEB5EBFFAE}"/>
              </a:ext>
            </a:extLst>
          </p:cNvPr>
          <p:cNvGraphicFramePr>
            <a:graphicFrameLocks noGrp="1"/>
          </p:cNvGraphicFramePr>
          <p:nvPr>
            <p:extLst>
              <p:ext uri="{D42A27DB-BD31-4B8C-83A1-F6EECF244321}">
                <p14:modId xmlns:p14="http://schemas.microsoft.com/office/powerpoint/2010/main" val="1888123856"/>
              </p:ext>
            </p:extLst>
          </p:nvPr>
        </p:nvGraphicFramePr>
        <p:xfrm>
          <a:off x="2772461" y="1551211"/>
          <a:ext cx="1305763" cy="4465320"/>
        </p:xfrm>
        <a:graphic>
          <a:graphicData uri="http://schemas.openxmlformats.org/drawingml/2006/table">
            <a:tbl>
              <a:tblPr firstRow="1" bandRow="1">
                <a:tableStyleId>{8A107856-5554-42FB-B03E-39F5DBC370BA}</a:tableStyleId>
              </a:tblPr>
              <a:tblGrid>
                <a:gridCol w="1305763">
                  <a:extLst>
                    <a:ext uri="{9D8B030D-6E8A-4147-A177-3AD203B41FA5}">
                      <a16:colId xmlns:a16="http://schemas.microsoft.com/office/drawing/2014/main" val="579609270"/>
                    </a:ext>
                  </a:extLst>
                </a:gridCol>
              </a:tblGrid>
              <a:tr h="370840">
                <a:tc>
                  <a:txBody>
                    <a:bodyPr/>
                    <a:lstStyle/>
                    <a:p>
                      <a:r>
                        <a:rPr lang="en-US" sz="950" b="1" kern="1200" dirty="0">
                          <a:solidFill>
                            <a:schemeClr val="bg1"/>
                          </a:solidFill>
                          <a:latin typeface="Calibri" pitchFamily="34" charset="0"/>
                          <a:ea typeface="Calibri" pitchFamily="34" charset="-122"/>
                          <a:cs typeface="Calibri" pitchFamily="34" charset="-120"/>
                        </a:rPr>
                        <a:t>Political</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Policy Instability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State failure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Government Instability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216318260"/>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Economic</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Recession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Inflation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Currency depreciation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Capital transfer</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Sovereign default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Under development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1440862287"/>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Legal</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Exportation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State contract alteration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Contract enforcement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542863558"/>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Taxation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Tax increase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Tax inconsistency</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2038604402"/>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Operational</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Consumption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Regulatory burden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Labor strikes</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Infrastructure disruption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501528563"/>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Security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Protests and riots</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Terrorism</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Interstate war</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Civil war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50000"/>
                      </a:schemeClr>
                    </a:solidFill>
                  </a:tcPr>
                </a:tc>
                <a:extLst>
                  <a:ext uri="{0D108BD9-81ED-4DB2-BD59-A6C34878D82A}">
                    <a16:rowId xmlns:a16="http://schemas.microsoft.com/office/drawing/2014/main" val="329547699"/>
                  </a:ext>
                </a:extLst>
              </a:tr>
            </a:tbl>
          </a:graphicData>
        </a:graphic>
      </p:graphicFrame>
      <p:graphicFrame>
        <p:nvGraphicFramePr>
          <p:cNvPr id="92" name="Table 91">
            <a:extLst>
              <a:ext uri="{FF2B5EF4-FFF2-40B4-BE49-F238E27FC236}">
                <a16:creationId xmlns:a16="http://schemas.microsoft.com/office/drawing/2014/main" id="{02548F9E-9573-00B9-702B-CEC2021F56DD}"/>
              </a:ext>
            </a:extLst>
          </p:cNvPr>
          <p:cNvGraphicFramePr>
            <a:graphicFrameLocks noGrp="1"/>
          </p:cNvGraphicFramePr>
          <p:nvPr>
            <p:extLst>
              <p:ext uri="{D42A27DB-BD31-4B8C-83A1-F6EECF244321}">
                <p14:modId xmlns:p14="http://schemas.microsoft.com/office/powerpoint/2010/main" val="345094211"/>
              </p:ext>
            </p:extLst>
          </p:nvPr>
        </p:nvGraphicFramePr>
        <p:xfrm>
          <a:off x="6545276" y="1567149"/>
          <a:ext cx="1309926" cy="4160520"/>
        </p:xfrm>
        <a:graphic>
          <a:graphicData uri="http://schemas.openxmlformats.org/drawingml/2006/table">
            <a:tbl>
              <a:tblPr firstRow="1" bandRow="1">
                <a:tableStyleId>{8A107856-5554-42FB-B03E-39F5DBC370BA}</a:tableStyleId>
              </a:tblPr>
              <a:tblGrid>
                <a:gridCol w="1309926">
                  <a:extLst>
                    <a:ext uri="{9D8B030D-6E8A-4147-A177-3AD203B41FA5}">
                      <a16:colId xmlns:a16="http://schemas.microsoft.com/office/drawing/2014/main" val="1739546158"/>
                    </a:ext>
                  </a:extLst>
                </a:gridCol>
              </a:tblGrid>
              <a:tr h="370840">
                <a:tc>
                  <a:txBody>
                    <a:bodyPr/>
                    <a:lstStyle/>
                    <a:p>
                      <a:r>
                        <a:rPr lang="en-US" sz="950" b="1" kern="1200" dirty="0">
                          <a:solidFill>
                            <a:schemeClr val="bg1"/>
                          </a:solidFill>
                          <a:latin typeface="Calibri" pitchFamily="34" charset="0"/>
                          <a:ea typeface="Calibri" pitchFamily="34" charset="-122"/>
                          <a:cs typeface="Calibri" pitchFamily="34" charset="-120"/>
                        </a:rPr>
                        <a:t>Economic Performance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Domestic Economy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International Trade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International Investment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Employment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Prices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965233400"/>
                  </a:ext>
                </a:extLst>
              </a:tr>
              <a:tr h="370840">
                <a:tc>
                  <a:txBody>
                    <a:bodyPr/>
                    <a:lstStyle/>
                    <a:p>
                      <a:pPr marL="0" algn="l" defTabSz="914400" rtl="0" eaLnBrk="1" latinLnBrk="0" hangingPunct="1"/>
                      <a:r>
                        <a:rPr lang="en-US" sz="950" b="1" kern="1200" dirty="0">
                          <a:solidFill>
                            <a:schemeClr val="bg1"/>
                          </a:solidFill>
                          <a:latin typeface="Calibri" pitchFamily="34" charset="0"/>
                          <a:ea typeface="Calibri" pitchFamily="34" charset="-122"/>
                          <a:cs typeface="Calibri" pitchFamily="34" charset="-120"/>
                        </a:rPr>
                        <a:t>Government Efficiency</a:t>
                      </a:r>
                    </a:p>
                    <a:p>
                      <a:pPr marL="171450" indent="-171450" algn="l" defTabSz="914400" rtl="0" eaLnBrk="1" latinLnBrk="0" hangingPunct="1">
                        <a:buFontTx/>
                        <a:buChar char="-"/>
                      </a:pPr>
                      <a:r>
                        <a:rPr lang="en-US" sz="800" b="1" kern="1200" dirty="0">
                          <a:solidFill>
                            <a:schemeClr val="bg1"/>
                          </a:solidFill>
                          <a:latin typeface="Calibri" pitchFamily="34" charset="0"/>
                          <a:ea typeface="Calibri" pitchFamily="34" charset="-122"/>
                          <a:cs typeface="Calibri" pitchFamily="34" charset="-120"/>
                        </a:rPr>
                        <a:t>Public Finance</a:t>
                      </a:r>
                    </a:p>
                    <a:p>
                      <a:pPr marL="171450" indent="-171450" algn="l" defTabSz="914400" rtl="0" eaLnBrk="1" latinLnBrk="0" hangingPunct="1">
                        <a:buFontTx/>
                        <a:buChar char="-"/>
                      </a:pPr>
                      <a:r>
                        <a:rPr lang="en-US" sz="800" b="1" kern="1200" dirty="0">
                          <a:solidFill>
                            <a:schemeClr val="bg1"/>
                          </a:solidFill>
                          <a:latin typeface="Calibri" pitchFamily="34" charset="0"/>
                          <a:ea typeface="Calibri" pitchFamily="34" charset="-122"/>
                          <a:cs typeface="Calibri" pitchFamily="34" charset="-120"/>
                        </a:rPr>
                        <a:t>Tax Policy</a:t>
                      </a:r>
                    </a:p>
                    <a:p>
                      <a:pPr marL="171450" indent="-171450" algn="l" defTabSz="914400" rtl="0" eaLnBrk="1" latinLnBrk="0" hangingPunct="1">
                        <a:buFontTx/>
                        <a:buChar char="-"/>
                      </a:pPr>
                      <a:r>
                        <a:rPr lang="en-US" sz="800" b="1" kern="1200" dirty="0">
                          <a:solidFill>
                            <a:schemeClr val="bg1"/>
                          </a:solidFill>
                          <a:latin typeface="Calibri" pitchFamily="34" charset="0"/>
                          <a:ea typeface="Calibri" pitchFamily="34" charset="-122"/>
                          <a:cs typeface="Calibri" pitchFamily="34" charset="-120"/>
                        </a:rPr>
                        <a:t>Institutional Framework</a:t>
                      </a:r>
                    </a:p>
                    <a:p>
                      <a:pPr marL="171450" indent="-171450" algn="l" defTabSz="914400" rtl="0" eaLnBrk="1" latinLnBrk="0" hangingPunct="1">
                        <a:buFontTx/>
                        <a:buChar char="-"/>
                      </a:pPr>
                      <a:r>
                        <a:rPr lang="en-US" sz="800" b="1" kern="1200" dirty="0">
                          <a:solidFill>
                            <a:schemeClr val="bg1"/>
                          </a:solidFill>
                          <a:latin typeface="Calibri" pitchFamily="34" charset="0"/>
                          <a:ea typeface="Calibri" pitchFamily="34" charset="-122"/>
                          <a:cs typeface="Calibri" pitchFamily="34" charset="-120"/>
                        </a:rPr>
                        <a:t>Business legislation</a:t>
                      </a:r>
                    </a:p>
                    <a:p>
                      <a:pPr marL="171450" indent="-171450" algn="l" defTabSz="914400" rtl="0" eaLnBrk="1" latinLnBrk="0" hangingPunct="1">
                        <a:buFontTx/>
                        <a:buChar char="-"/>
                      </a:pPr>
                      <a:r>
                        <a:rPr lang="en-US" sz="800" b="1" kern="1200" dirty="0">
                          <a:solidFill>
                            <a:schemeClr val="bg1"/>
                          </a:solidFill>
                          <a:latin typeface="Calibri" pitchFamily="34" charset="0"/>
                          <a:ea typeface="Calibri" pitchFamily="34" charset="-122"/>
                          <a:cs typeface="Calibri" pitchFamily="34" charset="-120"/>
                        </a:rPr>
                        <a:t>Social Framework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827754948"/>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Business Efficiency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Productivity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Labor Market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Finance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Management Practices</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Attitudes and Values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2878882673"/>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Infrastructure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Basic</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Technological</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Scientific</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Health and Environment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Education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3505794181"/>
                  </a:ext>
                </a:extLst>
              </a:tr>
            </a:tbl>
          </a:graphicData>
        </a:graphic>
      </p:graphicFrame>
      <p:graphicFrame>
        <p:nvGraphicFramePr>
          <p:cNvPr id="93" name="Table 92">
            <a:extLst>
              <a:ext uri="{FF2B5EF4-FFF2-40B4-BE49-F238E27FC236}">
                <a16:creationId xmlns:a16="http://schemas.microsoft.com/office/drawing/2014/main" id="{CAB1B6D8-5D4D-2CE2-9C1C-B38FE8EF98EB}"/>
              </a:ext>
            </a:extLst>
          </p:cNvPr>
          <p:cNvGraphicFramePr>
            <a:graphicFrameLocks noGrp="1"/>
          </p:cNvGraphicFramePr>
          <p:nvPr>
            <p:extLst>
              <p:ext uri="{D42A27DB-BD31-4B8C-83A1-F6EECF244321}">
                <p14:modId xmlns:p14="http://schemas.microsoft.com/office/powerpoint/2010/main" val="2861281249"/>
              </p:ext>
            </p:extLst>
          </p:nvPr>
        </p:nvGraphicFramePr>
        <p:xfrm>
          <a:off x="10524239" y="1557835"/>
          <a:ext cx="1079497" cy="2415540"/>
        </p:xfrm>
        <a:graphic>
          <a:graphicData uri="http://schemas.openxmlformats.org/drawingml/2006/table">
            <a:tbl>
              <a:tblPr firstRow="1" bandRow="1">
                <a:tableStyleId>{8A107856-5554-42FB-B03E-39F5DBC370BA}</a:tableStyleId>
              </a:tblPr>
              <a:tblGrid>
                <a:gridCol w="1079497">
                  <a:extLst>
                    <a:ext uri="{9D8B030D-6E8A-4147-A177-3AD203B41FA5}">
                      <a16:colId xmlns:a16="http://schemas.microsoft.com/office/drawing/2014/main" val="2348745432"/>
                    </a:ext>
                  </a:extLst>
                </a:gridCol>
              </a:tblGrid>
              <a:tr h="370840">
                <a:tc>
                  <a:txBody>
                    <a:bodyPr/>
                    <a:lstStyle/>
                    <a:p>
                      <a:r>
                        <a:rPr lang="en-US" sz="950" b="1" kern="1200" dirty="0">
                          <a:solidFill>
                            <a:schemeClr val="bg1"/>
                          </a:solidFill>
                          <a:latin typeface="Calibri" pitchFamily="34" charset="0"/>
                          <a:ea typeface="Calibri" pitchFamily="34" charset="-122"/>
                          <a:cs typeface="Calibri" pitchFamily="34" charset="-120"/>
                        </a:rPr>
                        <a:t>Knowledge</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Talent</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Training and Education</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 Scientific Concentration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13775076"/>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Technology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Regulatory Framework</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Capital</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Technological Framework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482906368"/>
                  </a:ext>
                </a:extLst>
              </a:tr>
              <a:tr h="370840">
                <a:tc>
                  <a:txBody>
                    <a:bodyPr/>
                    <a:lstStyle/>
                    <a:p>
                      <a:r>
                        <a:rPr lang="en-US" sz="950" b="1" kern="1200" dirty="0">
                          <a:solidFill>
                            <a:schemeClr val="bg1"/>
                          </a:solidFill>
                          <a:latin typeface="Calibri" pitchFamily="34" charset="0"/>
                          <a:ea typeface="Calibri" pitchFamily="34" charset="-122"/>
                          <a:cs typeface="Calibri" pitchFamily="34" charset="-120"/>
                        </a:rPr>
                        <a:t>Future Readiness</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Adaptive Attitudes</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Business Agility</a:t>
                      </a:r>
                    </a:p>
                    <a:p>
                      <a:pPr marL="171450" indent="-171450">
                        <a:buFontTx/>
                        <a:buChar char="-"/>
                      </a:pPr>
                      <a:r>
                        <a:rPr lang="en-US" sz="800" b="1" kern="1200" dirty="0">
                          <a:solidFill>
                            <a:schemeClr val="bg1"/>
                          </a:solidFill>
                          <a:latin typeface="Calibri" pitchFamily="34" charset="0"/>
                          <a:ea typeface="Calibri" pitchFamily="34" charset="-122"/>
                          <a:cs typeface="Calibri" pitchFamily="34" charset="-120"/>
                        </a:rPr>
                        <a:t>IT Integration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4965196"/>
                  </a:ext>
                </a:extLst>
              </a:tr>
            </a:tbl>
          </a:graphicData>
        </a:graphic>
      </p:graphicFrame>
      <p:graphicFrame>
        <p:nvGraphicFramePr>
          <p:cNvPr id="89" name="Table 88">
            <a:extLst>
              <a:ext uri="{FF2B5EF4-FFF2-40B4-BE49-F238E27FC236}">
                <a16:creationId xmlns:a16="http://schemas.microsoft.com/office/drawing/2014/main" id="{92CDA37B-AE9E-D757-98B5-57C66D39D922}"/>
              </a:ext>
            </a:extLst>
          </p:cNvPr>
          <p:cNvGraphicFramePr>
            <a:graphicFrameLocks noGrp="1"/>
          </p:cNvGraphicFramePr>
          <p:nvPr/>
        </p:nvGraphicFramePr>
        <p:xfrm>
          <a:off x="8174516" y="3503364"/>
          <a:ext cx="208280" cy="365760"/>
        </p:xfrm>
        <a:graphic>
          <a:graphicData uri="http://schemas.openxmlformats.org/drawingml/2006/table">
            <a:tbl>
              <a:tblPr/>
              <a:tblGrid>
                <a:gridCol w="208280">
                  <a:extLst>
                    <a:ext uri="{9D8B030D-6E8A-4147-A177-3AD203B41FA5}">
                      <a16:colId xmlns:a16="http://schemas.microsoft.com/office/drawing/2014/main" val="624634642"/>
                    </a:ext>
                  </a:extLst>
                </a:gridCol>
              </a:tblGrid>
              <a:tr h="143219">
                <a:tc>
                  <a:txBody>
                    <a:bodyPr/>
                    <a:lstStyle/>
                    <a:p>
                      <a:endParaRPr lang="en-US" dirty="0"/>
                    </a:p>
                  </a:txBody>
                  <a:tcPr>
                    <a:lnL>
                      <a:noFill/>
                    </a:lnL>
                    <a:lnR>
                      <a:noFill/>
                    </a:lnR>
                    <a:lnT>
                      <a:noFill/>
                    </a:lnT>
                    <a:lnB>
                      <a:noFill/>
                    </a:lnB>
                  </a:tcPr>
                </a:tc>
                <a:extLst>
                  <a:ext uri="{0D108BD9-81ED-4DB2-BD59-A6C34878D82A}">
                    <a16:rowId xmlns:a16="http://schemas.microsoft.com/office/drawing/2014/main" val="532608029"/>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THE BUSINESS</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500" b="1" dirty="0">
                <a:solidFill>
                  <a:srgbClr val="24303B"/>
                </a:solidFill>
                <a:latin typeface="Cambria" pitchFamily="34" charset="0"/>
                <a:ea typeface="Cambria" pitchFamily="34" charset="-122"/>
                <a:cs typeface="Cambria" pitchFamily="34" charset="-120"/>
              </a:rPr>
              <a:t>UnitedHealth</a:t>
            </a:r>
            <a:r>
              <a:rPr lang="en-US" sz="2300" b="1" dirty="0">
                <a:solidFill>
                  <a:srgbClr val="24303B"/>
                </a:solidFill>
                <a:latin typeface="Cambria" pitchFamily="34" charset="0"/>
                <a:ea typeface="Cambria" pitchFamily="34" charset="-122"/>
                <a:cs typeface="Cambria" pitchFamily="34" charset="-120"/>
              </a:rPr>
              <a:t> Group segments, FY2025</a:t>
            </a:r>
            <a:endParaRPr lang="en-US" sz="2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1821180"/>
        </p:xfrm>
        <a:graphic>
          <a:graphicData uri="http://schemas.openxmlformats.org/drawingml/2006/table">
            <a:tbl>
              <a:tblPr/>
              <a:tblGrid>
                <a:gridCol w="4206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FY2025 revenue</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YoY</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Primary disruptor relevance</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UnitedHealthcare - Medicare &amp; Retirement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part of $344.9B UHC total</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CMS rate policy (D6)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UnitedHealthcare - Community &amp; State (Medicaid)</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$94.4B</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State/federal policy (D6)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UnitedHealthcare - Employer &amp; Individual</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part of $344.9B UHC total</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ACA/commercial policy (D6)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Optum Health</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$102.0B</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CMS reimbursement (D6)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Optum Rx</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$154.7B</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Drug-pricing/PBM policy (D6)</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Optum Insight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$19.4B</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Data/cyber regulation (D3)</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6"/>
                  </a:ext>
                </a:extLst>
              </a:tr>
            </a:tbl>
          </a:graphicData>
        </a:graphic>
      </p:graphicFrame>
      <p:sp>
        <p:nvSpPr>
          <p:cNvPr id="4" name="Text 2"/>
          <p:cNvSpPr/>
          <p:nvPr/>
        </p:nvSpPr>
        <p:spPr>
          <a:xfrm>
            <a:off x="548640" y="5394960"/>
            <a:ext cx="11064240" cy="731520"/>
          </a:xfrm>
          <a:prstGeom prst="rect">
            <a:avLst/>
          </a:prstGeom>
          <a:noFill/>
          <a:ln/>
        </p:spPr>
        <p:txBody>
          <a:bodyPr wrap="square" lIns="0" tIns="0" rIns="0" bIns="0" rtlCol="0" anchor="ctr"/>
          <a:lstStyle/>
          <a:p>
            <a:pPr marL="0" indent="0">
              <a:buNone/>
            </a:pPr>
            <a:r>
              <a:rPr lang="en-US" sz="1250" i="1" dirty="0">
                <a:solidFill>
                  <a:srgbClr val="5B6670"/>
                </a:solidFill>
                <a:latin typeface="Calibri" pitchFamily="34" charset="0"/>
                <a:ea typeface="Calibri" pitchFamily="34" charset="-122"/>
                <a:cs typeface="Calibri" pitchFamily="34" charset="-120"/>
              </a:rPr>
              <a:t>Consolidated FY2025 revenue: $447.6B. 44% of revenue is CMS-derived — the structural fact that reweights this framework toward D6 and D3 and away from the trade/conflict disruptors that dominated the original automotive design.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METHODOLOGY</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The five-layer spine</a:t>
            </a:r>
            <a:endParaRPr lang="en-US" sz="2300" dirty="0"/>
          </a:p>
        </p:txBody>
      </p:sp>
      <p:sp>
        <p:nvSpPr>
          <p:cNvPr id="4" name="Shape 2"/>
          <p:cNvSpPr/>
          <p:nvPr/>
        </p:nvSpPr>
        <p:spPr>
          <a:xfrm>
            <a:off x="548640" y="1481328"/>
            <a:ext cx="11064240" cy="914400"/>
          </a:xfrm>
          <a:prstGeom prst="roundRect">
            <a:avLst>
              <a:gd name="adj" fmla="val 10000"/>
            </a:avLst>
          </a:prstGeom>
          <a:solidFill>
            <a:srgbClr val="F3F6F6"/>
          </a:solidFill>
          <a:ln/>
        </p:spPr>
        <p:txBody>
          <a:bodyPr/>
          <a:lstStyle/>
          <a:p>
            <a:endParaRPr lang="en-US"/>
          </a:p>
        </p:txBody>
      </p:sp>
      <p:sp>
        <p:nvSpPr>
          <p:cNvPr id="5" name="Shape 3"/>
          <p:cNvSpPr/>
          <p:nvPr/>
        </p:nvSpPr>
        <p:spPr>
          <a:xfrm>
            <a:off x="731520" y="1572768"/>
            <a:ext cx="457200" cy="457200"/>
          </a:xfrm>
          <a:prstGeom prst="roundRect">
            <a:avLst>
              <a:gd name="adj" fmla="val 50000"/>
            </a:avLst>
          </a:prstGeom>
          <a:solidFill>
            <a:srgbClr val="A9BEDA"/>
          </a:solidFill>
          <a:ln/>
        </p:spPr>
        <p:txBody>
          <a:bodyPr/>
          <a:lstStyle/>
          <a:p>
            <a:endParaRPr lang="en-US"/>
          </a:p>
        </p:txBody>
      </p:sp>
      <p:sp>
        <p:nvSpPr>
          <p:cNvPr id="6" name="Text 4"/>
          <p:cNvSpPr/>
          <p:nvPr/>
        </p:nvSpPr>
        <p:spPr>
          <a:xfrm>
            <a:off x="731520" y="1572768"/>
            <a:ext cx="457200" cy="457200"/>
          </a:xfrm>
          <a:prstGeom prst="rect">
            <a:avLst/>
          </a:prstGeom>
          <a:noFill/>
          <a:ln/>
        </p:spPr>
        <p:txBody>
          <a:bodyPr wrap="square" lIns="0" tIns="0" rIns="0" bIns="0" rtlCol="0" anchor="ctr"/>
          <a:lstStyle/>
          <a:p>
            <a:pPr marL="0" indent="0" algn="ctr">
              <a:buNone/>
            </a:pPr>
            <a:r>
              <a:rPr lang="en-US" sz="1600" b="1" dirty="0">
                <a:solidFill>
                  <a:srgbClr val="132B45"/>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325880" y="1536192"/>
            <a:ext cx="2377440" cy="457200"/>
          </a:xfrm>
          <a:prstGeom prst="rect">
            <a:avLst/>
          </a:prstGeom>
          <a:noFill/>
          <a:ln/>
        </p:spPr>
        <p:txBody>
          <a:bodyPr wrap="square" lIns="0" tIns="0" rIns="0" bIns="0" rtlCol="0" anchor="ctr"/>
          <a:lstStyle/>
          <a:p>
            <a:pPr marL="0" indent="0">
              <a:buNone/>
            </a:pPr>
            <a:r>
              <a:rPr lang="en-US" sz="1400" b="1" dirty="0">
                <a:solidFill>
                  <a:srgbClr val="1B3B5F"/>
                </a:solidFill>
                <a:latin typeface="Calibri" pitchFamily="34" charset="0"/>
                <a:ea typeface="Calibri" pitchFamily="34" charset="-122"/>
                <a:cs typeface="Calibri" pitchFamily="34" charset="-120"/>
              </a:rPr>
              <a:t>The model</a:t>
            </a:r>
            <a:endParaRPr lang="en-US" sz="1400" dirty="0"/>
          </a:p>
        </p:txBody>
      </p:sp>
      <p:sp>
        <p:nvSpPr>
          <p:cNvPr id="8" name="Text 6"/>
          <p:cNvSpPr/>
          <p:nvPr/>
        </p:nvSpPr>
        <p:spPr>
          <a:xfrm>
            <a:off x="3749040" y="1536192"/>
            <a:ext cx="7498080" cy="457200"/>
          </a:xfrm>
          <a:prstGeom prst="rect">
            <a:avLst/>
          </a:prstGeom>
          <a:noFill/>
          <a:ln/>
        </p:spPr>
        <p:txBody>
          <a:bodyPr wrap="square" lIns="0" tIns="0" rIns="0" bIns="0" rtlCol="0" anchor="ctr"/>
          <a:lstStyle/>
          <a:p>
            <a:pPr marL="0" indent="0">
              <a:buNone/>
            </a:pPr>
            <a:r>
              <a:rPr lang="en-US" sz="1100" dirty="0">
                <a:solidFill>
                  <a:srgbClr val="24303B"/>
                </a:solidFill>
                <a:latin typeface="Calibri" pitchFamily="34" charset="0"/>
                <a:ea typeface="Calibri" pitchFamily="34" charset="-122"/>
                <a:cs typeface="Calibri" pitchFamily="34" charset="-120"/>
              </a:rPr>
              <a:t>The one non-deterministic component. Smallest model that clears the bar for each job.</a:t>
            </a:r>
            <a:endParaRPr lang="en-US" sz="1100" dirty="0"/>
          </a:p>
        </p:txBody>
      </p:sp>
      <p:sp>
        <p:nvSpPr>
          <p:cNvPr id="9" name="Shape 7"/>
          <p:cNvSpPr/>
          <p:nvPr/>
        </p:nvSpPr>
        <p:spPr>
          <a:xfrm>
            <a:off x="1325880" y="2048256"/>
            <a:ext cx="1923898" cy="274320"/>
          </a:xfrm>
          <a:prstGeom prst="roundRect">
            <a:avLst>
              <a:gd name="adj" fmla="val 20000"/>
            </a:avLst>
          </a:prstGeom>
          <a:solidFill>
            <a:srgbClr val="A9BEDA"/>
          </a:solidFill>
          <a:ln/>
        </p:spPr>
        <p:txBody>
          <a:bodyPr/>
          <a:lstStyle/>
          <a:p>
            <a:endParaRPr lang="en-US"/>
          </a:p>
        </p:txBody>
      </p:sp>
      <p:sp>
        <p:nvSpPr>
          <p:cNvPr id="10" name="Text 8"/>
          <p:cNvSpPr/>
          <p:nvPr/>
        </p:nvSpPr>
        <p:spPr>
          <a:xfrm>
            <a:off x="1325880" y="2048256"/>
            <a:ext cx="1923898"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Fast model: parse &amp; narrate</a:t>
            </a:r>
            <a:endParaRPr lang="en-US" sz="900" dirty="0"/>
          </a:p>
        </p:txBody>
      </p:sp>
      <p:sp>
        <p:nvSpPr>
          <p:cNvPr id="11" name="Shape 9"/>
          <p:cNvSpPr/>
          <p:nvPr/>
        </p:nvSpPr>
        <p:spPr>
          <a:xfrm>
            <a:off x="3359506" y="2048256"/>
            <a:ext cx="2253082" cy="274320"/>
          </a:xfrm>
          <a:prstGeom prst="roundRect">
            <a:avLst>
              <a:gd name="adj" fmla="val 20000"/>
            </a:avLst>
          </a:prstGeom>
          <a:solidFill>
            <a:srgbClr val="A9BEDA"/>
          </a:solidFill>
          <a:ln/>
        </p:spPr>
        <p:txBody>
          <a:bodyPr/>
          <a:lstStyle/>
          <a:p>
            <a:endParaRPr lang="en-US"/>
          </a:p>
        </p:txBody>
      </p:sp>
      <p:sp>
        <p:nvSpPr>
          <p:cNvPr id="12" name="Text 10"/>
          <p:cNvSpPr/>
          <p:nvPr/>
        </p:nvSpPr>
        <p:spPr>
          <a:xfrm>
            <a:off x="3359506" y="2048256"/>
            <a:ext cx="2253082"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Strong model: overlay extraction</a:t>
            </a:r>
            <a:endParaRPr lang="en-US" sz="900" dirty="0"/>
          </a:p>
        </p:txBody>
      </p:sp>
      <p:sp>
        <p:nvSpPr>
          <p:cNvPr id="13" name="Shape 11"/>
          <p:cNvSpPr/>
          <p:nvPr/>
        </p:nvSpPr>
        <p:spPr>
          <a:xfrm>
            <a:off x="5722315" y="2048256"/>
            <a:ext cx="1594714" cy="274320"/>
          </a:xfrm>
          <a:prstGeom prst="roundRect">
            <a:avLst>
              <a:gd name="adj" fmla="val 20000"/>
            </a:avLst>
          </a:prstGeom>
          <a:solidFill>
            <a:srgbClr val="A9BEDA"/>
          </a:solidFill>
          <a:ln/>
        </p:spPr>
        <p:txBody>
          <a:bodyPr/>
          <a:lstStyle/>
          <a:p>
            <a:endParaRPr lang="en-US"/>
          </a:p>
        </p:txBody>
      </p:sp>
      <p:sp>
        <p:nvSpPr>
          <p:cNvPr id="14" name="Text 12"/>
          <p:cNvSpPr/>
          <p:nvPr/>
        </p:nvSpPr>
        <p:spPr>
          <a:xfrm>
            <a:off x="5722315" y="2048256"/>
            <a:ext cx="1594714"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Structured output only</a:t>
            </a:r>
            <a:endParaRPr lang="en-US" sz="900" dirty="0"/>
          </a:p>
        </p:txBody>
      </p:sp>
      <p:sp>
        <p:nvSpPr>
          <p:cNvPr id="15" name="Shape 13"/>
          <p:cNvSpPr/>
          <p:nvPr/>
        </p:nvSpPr>
        <p:spPr>
          <a:xfrm>
            <a:off x="548640" y="2532888"/>
            <a:ext cx="11064240" cy="914400"/>
          </a:xfrm>
          <a:prstGeom prst="roundRect">
            <a:avLst>
              <a:gd name="adj" fmla="val 10000"/>
            </a:avLst>
          </a:prstGeom>
          <a:solidFill>
            <a:srgbClr val="FFFFFF"/>
          </a:solidFill>
          <a:ln/>
        </p:spPr>
        <p:txBody>
          <a:bodyPr/>
          <a:lstStyle/>
          <a:p>
            <a:endParaRPr lang="en-US"/>
          </a:p>
        </p:txBody>
      </p:sp>
      <p:sp>
        <p:nvSpPr>
          <p:cNvPr id="16" name="Shape 14"/>
          <p:cNvSpPr/>
          <p:nvPr/>
        </p:nvSpPr>
        <p:spPr>
          <a:xfrm>
            <a:off x="731520" y="2624328"/>
            <a:ext cx="457200" cy="457200"/>
          </a:xfrm>
          <a:prstGeom prst="roundRect">
            <a:avLst>
              <a:gd name="adj" fmla="val 50000"/>
            </a:avLst>
          </a:prstGeom>
          <a:solidFill>
            <a:srgbClr val="7FA0C4"/>
          </a:solidFill>
          <a:ln/>
        </p:spPr>
        <p:txBody>
          <a:bodyPr/>
          <a:lstStyle/>
          <a:p>
            <a:endParaRPr lang="en-US"/>
          </a:p>
        </p:txBody>
      </p:sp>
      <p:sp>
        <p:nvSpPr>
          <p:cNvPr id="17" name="Text 15"/>
          <p:cNvSpPr/>
          <p:nvPr/>
        </p:nvSpPr>
        <p:spPr>
          <a:xfrm>
            <a:off x="731520" y="2624328"/>
            <a:ext cx="457200" cy="457200"/>
          </a:xfrm>
          <a:prstGeom prst="rect">
            <a:avLst/>
          </a:prstGeom>
          <a:noFill/>
          <a:ln/>
        </p:spPr>
        <p:txBody>
          <a:bodyPr wrap="square" lIns="0" tIns="0" rIns="0" bIns="0" rtlCol="0" anchor="ctr"/>
          <a:lstStyle/>
          <a:p>
            <a:pPr marL="0" indent="0" algn="ctr">
              <a:buNone/>
            </a:pPr>
            <a:r>
              <a:rPr lang="en-US" sz="1600" b="1" dirty="0">
                <a:solidFill>
                  <a:srgbClr val="132B45"/>
                </a:solidFill>
                <a:latin typeface="Cambria" pitchFamily="34" charset="0"/>
                <a:ea typeface="Cambria" pitchFamily="34" charset="-122"/>
                <a:cs typeface="Cambria" pitchFamily="34" charset="-120"/>
              </a:rPr>
              <a:t>2</a:t>
            </a:r>
            <a:endParaRPr lang="en-US" sz="1600" dirty="0"/>
          </a:p>
        </p:txBody>
      </p:sp>
      <p:sp>
        <p:nvSpPr>
          <p:cNvPr id="18" name="Text 16"/>
          <p:cNvSpPr/>
          <p:nvPr/>
        </p:nvSpPr>
        <p:spPr>
          <a:xfrm>
            <a:off x="1325880" y="2587752"/>
            <a:ext cx="2377440" cy="457200"/>
          </a:xfrm>
          <a:prstGeom prst="rect">
            <a:avLst/>
          </a:prstGeom>
          <a:noFill/>
          <a:ln/>
        </p:spPr>
        <p:txBody>
          <a:bodyPr wrap="square" lIns="0" tIns="0" rIns="0" bIns="0" rtlCol="0" anchor="ctr"/>
          <a:lstStyle/>
          <a:p>
            <a:pPr marL="0" indent="0">
              <a:buNone/>
            </a:pPr>
            <a:r>
              <a:rPr lang="en-US" sz="1400" b="1" dirty="0">
                <a:solidFill>
                  <a:srgbClr val="1B3B5F"/>
                </a:solidFill>
                <a:latin typeface="Calibri" pitchFamily="34" charset="0"/>
                <a:ea typeface="Calibri" pitchFamily="34" charset="-122"/>
                <a:cs typeface="Calibri" pitchFamily="34" charset="-120"/>
              </a:rPr>
              <a:t>Wrapping layer</a:t>
            </a:r>
            <a:endParaRPr lang="en-US" sz="1400" dirty="0"/>
          </a:p>
        </p:txBody>
      </p:sp>
      <p:sp>
        <p:nvSpPr>
          <p:cNvPr id="19" name="Text 17"/>
          <p:cNvSpPr/>
          <p:nvPr/>
        </p:nvSpPr>
        <p:spPr>
          <a:xfrm>
            <a:off x="3749040" y="2587752"/>
            <a:ext cx="7498080" cy="457200"/>
          </a:xfrm>
          <a:prstGeom prst="rect">
            <a:avLst/>
          </a:prstGeom>
          <a:noFill/>
          <a:ln/>
        </p:spPr>
        <p:txBody>
          <a:bodyPr wrap="square" lIns="0" tIns="0" rIns="0" bIns="0" rtlCol="0" anchor="ctr"/>
          <a:lstStyle/>
          <a:p>
            <a:pPr marL="0" indent="0">
              <a:buNone/>
            </a:pPr>
            <a:r>
              <a:rPr lang="en-US" sz="1100" dirty="0">
                <a:solidFill>
                  <a:srgbClr val="24303B"/>
                </a:solidFill>
                <a:latin typeface="Calibri" pitchFamily="34" charset="0"/>
                <a:ea typeface="Calibri" pitchFamily="34" charset="-122"/>
                <a:cs typeface="Calibri" pitchFamily="34" charset="-120"/>
              </a:rPr>
              <a:t>Knowledge, tools, memory — most design time goes here.</a:t>
            </a:r>
            <a:endParaRPr lang="en-US" sz="1100" dirty="0"/>
          </a:p>
        </p:txBody>
      </p:sp>
      <p:sp>
        <p:nvSpPr>
          <p:cNvPr id="20" name="Shape 18"/>
          <p:cNvSpPr/>
          <p:nvPr/>
        </p:nvSpPr>
        <p:spPr>
          <a:xfrm>
            <a:off x="1325880" y="3099816"/>
            <a:ext cx="2055571" cy="274320"/>
          </a:xfrm>
          <a:prstGeom prst="roundRect">
            <a:avLst>
              <a:gd name="adj" fmla="val 20000"/>
            </a:avLst>
          </a:prstGeom>
          <a:solidFill>
            <a:srgbClr val="7FA0C4"/>
          </a:solidFill>
          <a:ln/>
        </p:spPr>
        <p:txBody>
          <a:bodyPr/>
          <a:lstStyle/>
          <a:p>
            <a:endParaRPr lang="en-US"/>
          </a:p>
        </p:txBody>
      </p:sp>
      <p:sp>
        <p:nvSpPr>
          <p:cNvPr id="21" name="Text 19"/>
          <p:cNvSpPr/>
          <p:nvPr/>
        </p:nvSpPr>
        <p:spPr>
          <a:xfrm>
            <a:off x="1325880" y="3099816"/>
            <a:ext cx="2055571"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Knowledge: indicator registry</a:t>
            </a:r>
            <a:endParaRPr lang="en-US" sz="900" dirty="0"/>
          </a:p>
        </p:txBody>
      </p:sp>
      <p:sp>
        <p:nvSpPr>
          <p:cNvPr id="22" name="Shape 20"/>
          <p:cNvSpPr/>
          <p:nvPr/>
        </p:nvSpPr>
        <p:spPr>
          <a:xfrm>
            <a:off x="3491179" y="3099816"/>
            <a:ext cx="1528877" cy="274320"/>
          </a:xfrm>
          <a:prstGeom prst="roundRect">
            <a:avLst>
              <a:gd name="adj" fmla="val 20000"/>
            </a:avLst>
          </a:prstGeom>
          <a:solidFill>
            <a:srgbClr val="7FA0C4"/>
          </a:solidFill>
          <a:ln/>
        </p:spPr>
        <p:txBody>
          <a:bodyPr/>
          <a:lstStyle/>
          <a:p>
            <a:endParaRPr lang="en-US"/>
          </a:p>
        </p:txBody>
      </p:sp>
      <p:sp>
        <p:nvSpPr>
          <p:cNvPr id="23" name="Text 21"/>
          <p:cNvSpPr/>
          <p:nvPr/>
        </p:nvSpPr>
        <p:spPr>
          <a:xfrm>
            <a:off x="3491179" y="3099816"/>
            <a:ext cx="1528877"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Tools: typed &amp; narrow</a:t>
            </a:r>
            <a:endParaRPr lang="en-US" sz="900" dirty="0"/>
          </a:p>
        </p:txBody>
      </p:sp>
      <p:sp>
        <p:nvSpPr>
          <p:cNvPr id="24" name="Shape 22"/>
          <p:cNvSpPr/>
          <p:nvPr/>
        </p:nvSpPr>
        <p:spPr>
          <a:xfrm>
            <a:off x="5129784" y="3099816"/>
            <a:ext cx="1594714" cy="274320"/>
          </a:xfrm>
          <a:prstGeom prst="roundRect">
            <a:avLst>
              <a:gd name="adj" fmla="val 20000"/>
            </a:avLst>
          </a:prstGeom>
          <a:solidFill>
            <a:srgbClr val="7FA0C4"/>
          </a:solidFill>
          <a:ln/>
        </p:spPr>
        <p:txBody>
          <a:bodyPr/>
          <a:lstStyle/>
          <a:p>
            <a:endParaRPr lang="en-US"/>
          </a:p>
        </p:txBody>
      </p:sp>
      <p:sp>
        <p:nvSpPr>
          <p:cNvPr id="25" name="Text 23"/>
          <p:cNvSpPr/>
          <p:nvPr/>
        </p:nvSpPr>
        <p:spPr>
          <a:xfrm>
            <a:off x="5129784" y="3099816"/>
            <a:ext cx="1594714" cy="274320"/>
          </a:xfrm>
          <a:prstGeom prst="rect">
            <a:avLst/>
          </a:prstGeom>
          <a:noFill/>
          <a:ln/>
        </p:spPr>
        <p:txBody>
          <a:bodyPr wrap="square" lIns="0" tIns="0" rIns="0" bIns="0" rtlCol="0" anchor="ctr"/>
          <a:lstStyle/>
          <a:p>
            <a:pPr marL="0" indent="0" algn="ctr">
              <a:buNone/>
            </a:pPr>
            <a:r>
              <a:rPr lang="en-US" sz="900" b="1" dirty="0">
                <a:solidFill>
                  <a:srgbClr val="132B45"/>
                </a:solidFill>
                <a:latin typeface="Calibri" pitchFamily="34" charset="0"/>
                <a:ea typeface="Calibri" pitchFamily="34" charset="-122"/>
                <a:cs typeface="Calibri" pitchFamily="34" charset="-120"/>
              </a:rPr>
              <a:t>Memory: session-scoped</a:t>
            </a:r>
            <a:endParaRPr lang="en-US" sz="900" dirty="0"/>
          </a:p>
        </p:txBody>
      </p:sp>
      <p:sp>
        <p:nvSpPr>
          <p:cNvPr id="26" name="Shape 24"/>
          <p:cNvSpPr/>
          <p:nvPr/>
        </p:nvSpPr>
        <p:spPr>
          <a:xfrm>
            <a:off x="548640" y="3584448"/>
            <a:ext cx="11064240" cy="914400"/>
          </a:xfrm>
          <a:prstGeom prst="roundRect">
            <a:avLst>
              <a:gd name="adj" fmla="val 10000"/>
            </a:avLst>
          </a:prstGeom>
          <a:solidFill>
            <a:srgbClr val="F3F6F6"/>
          </a:solidFill>
          <a:ln/>
        </p:spPr>
        <p:txBody>
          <a:bodyPr/>
          <a:lstStyle/>
          <a:p>
            <a:endParaRPr lang="en-US"/>
          </a:p>
        </p:txBody>
      </p:sp>
      <p:sp>
        <p:nvSpPr>
          <p:cNvPr id="27" name="Shape 25"/>
          <p:cNvSpPr/>
          <p:nvPr/>
        </p:nvSpPr>
        <p:spPr>
          <a:xfrm>
            <a:off x="731520" y="3675888"/>
            <a:ext cx="457200" cy="457200"/>
          </a:xfrm>
          <a:prstGeom prst="roundRect">
            <a:avLst>
              <a:gd name="adj" fmla="val 50000"/>
            </a:avLst>
          </a:prstGeom>
          <a:solidFill>
            <a:srgbClr val="5580AC"/>
          </a:solidFill>
          <a:ln/>
        </p:spPr>
        <p:txBody>
          <a:bodyPr/>
          <a:lstStyle/>
          <a:p>
            <a:endParaRPr lang="en-US"/>
          </a:p>
        </p:txBody>
      </p:sp>
      <p:sp>
        <p:nvSpPr>
          <p:cNvPr id="28" name="Text 26"/>
          <p:cNvSpPr/>
          <p:nvPr/>
        </p:nvSpPr>
        <p:spPr>
          <a:xfrm>
            <a:off x="731520" y="36758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9" name="Text 27"/>
          <p:cNvSpPr/>
          <p:nvPr/>
        </p:nvSpPr>
        <p:spPr>
          <a:xfrm>
            <a:off x="1325880" y="3639312"/>
            <a:ext cx="2377440" cy="457200"/>
          </a:xfrm>
          <a:prstGeom prst="rect">
            <a:avLst/>
          </a:prstGeom>
          <a:noFill/>
          <a:ln/>
        </p:spPr>
        <p:txBody>
          <a:bodyPr wrap="square" lIns="0" tIns="0" rIns="0" bIns="0" rtlCol="0" anchor="ctr"/>
          <a:lstStyle/>
          <a:p>
            <a:pPr marL="0" indent="0">
              <a:buNone/>
            </a:pPr>
            <a:r>
              <a:rPr lang="en-US" sz="1400" b="1" dirty="0">
                <a:solidFill>
                  <a:srgbClr val="1B3B5F"/>
                </a:solidFill>
                <a:latin typeface="Calibri" pitchFamily="34" charset="0"/>
                <a:ea typeface="Calibri" pitchFamily="34" charset="-122"/>
                <a:cs typeface="Calibri" pitchFamily="34" charset="-120"/>
              </a:rPr>
              <a:t>Evals and guardrails</a:t>
            </a:r>
            <a:endParaRPr lang="en-US" sz="1400" dirty="0"/>
          </a:p>
        </p:txBody>
      </p:sp>
      <p:sp>
        <p:nvSpPr>
          <p:cNvPr id="30" name="Text 28"/>
          <p:cNvSpPr/>
          <p:nvPr/>
        </p:nvSpPr>
        <p:spPr>
          <a:xfrm>
            <a:off x="3749040" y="3639312"/>
            <a:ext cx="7498080" cy="457200"/>
          </a:xfrm>
          <a:prstGeom prst="rect">
            <a:avLst/>
          </a:prstGeom>
          <a:noFill/>
          <a:ln/>
        </p:spPr>
        <p:txBody>
          <a:bodyPr wrap="square" lIns="0" tIns="0" rIns="0" bIns="0" rtlCol="0" anchor="ctr"/>
          <a:lstStyle/>
          <a:p>
            <a:pPr marL="0" indent="0">
              <a:buNone/>
            </a:pPr>
            <a:r>
              <a:rPr lang="en-US" sz="1100" dirty="0">
                <a:solidFill>
                  <a:srgbClr val="24303B"/>
                </a:solidFill>
                <a:latin typeface="Calibri" pitchFamily="34" charset="0"/>
                <a:ea typeface="Calibri" pitchFamily="34" charset="-122"/>
                <a:cs typeface="Calibri" pitchFamily="34" charset="-120"/>
              </a:rPr>
              <a:t>The center of the design, not a final check, because the model is non-deterministic.</a:t>
            </a:r>
            <a:endParaRPr lang="en-US" sz="1100" dirty="0"/>
          </a:p>
        </p:txBody>
      </p:sp>
      <p:sp>
        <p:nvSpPr>
          <p:cNvPr id="31" name="Shape 29"/>
          <p:cNvSpPr/>
          <p:nvPr/>
        </p:nvSpPr>
        <p:spPr>
          <a:xfrm>
            <a:off x="1325880" y="4151376"/>
            <a:ext cx="2582266" cy="274320"/>
          </a:xfrm>
          <a:prstGeom prst="roundRect">
            <a:avLst>
              <a:gd name="adj" fmla="val 20000"/>
            </a:avLst>
          </a:prstGeom>
          <a:solidFill>
            <a:srgbClr val="5580AC"/>
          </a:solidFill>
          <a:ln/>
        </p:spPr>
        <p:txBody>
          <a:bodyPr/>
          <a:lstStyle/>
          <a:p>
            <a:endParaRPr lang="en-US"/>
          </a:p>
        </p:txBody>
      </p:sp>
      <p:sp>
        <p:nvSpPr>
          <p:cNvPr id="32" name="Text 30"/>
          <p:cNvSpPr/>
          <p:nvPr/>
        </p:nvSpPr>
        <p:spPr>
          <a:xfrm>
            <a:off x="1325880" y="4151376"/>
            <a:ext cx="2582266"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Guardrails: confidence floor, staging</a:t>
            </a:r>
            <a:endParaRPr lang="en-US" sz="900" dirty="0"/>
          </a:p>
        </p:txBody>
      </p:sp>
      <p:sp>
        <p:nvSpPr>
          <p:cNvPr id="33" name="Shape 31"/>
          <p:cNvSpPr/>
          <p:nvPr/>
        </p:nvSpPr>
        <p:spPr>
          <a:xfrm>
            <a:off x="4017874" y="4151376"/>
            <a:ext cx="2253082" cy="274320"/>
          </a:xfrm>
          <a:prstGeom prst="roundRect">
            <a:avLst>
              <a:gd name="adj" fmla="val 20000"/>
            </a:avLst>
          </a:prstGeom>
          <a:solidFill>
            <a:srgbClr val="5580AC"/>
          </a:solidFill>
          <a:ln/>
        </p:spPr>
        <p:txBody>
          <a:bodyPr/>
          <a:lstStyle/>
          <a:p>
            <a:endParaRPr lang="en-US"/>
          </a:p>
        </p:txBody>
      </p:sp>
      <p:sp>
        <p:nvSpPr>
          <p:cNvPr id="34" name="Text 32"/>
          <p:cNvSpPr/>
          <p:nvPr/>
        </p:nvSpPr>
        <p:spPr>
          <a:xfrm>
            <a:off x="4017874" y="4151376"/>
            <a:ext cx="225308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Evals: double-rated ground truth</a:t>
            </a:r>
            <a:endParaRPr lang="en-US" sz="900" dirty="0"/>
          </a:p>
        </p:txBody>
      </p:sp>
      <p:sp>
        <p:nvSpPr>
          <p:cNvPr id="35" name="Shape 33"/>
          <p:cNvSpPr/>
          <p:nvPr/>
        </p:nvSpPr>
        <p:spPr>
          <a:xfrm>
            <a:off x="6380683" y="4151376"/>
            <a:ext cx="1923898" cy="274320"/>
          </a:xfrm>
          <a:prstGeom prst="roundRect">
            <a:avLst>
              <a:gd name="adj" fmla="val 20000"/>
            </a:avLst>
          </a:prstGeom>
          <a:solidFill>
            <a:srgbClr val="5580AC"/>
          </a:solidFill>
          <a:ln/>
        </p:spPr>
        <p:txBody>
          <a:bodyPr/>
          <a:lstStyle/>
          <a:p>
            <a:endParaRPr lang="en-US"/>
          </a:p>
        </p:txBody>
      </p:sp>
      <p:sp>
        <p:nvSpPr>
          <p:cNvPr id="36" name="Text 34"/>
          <p:cNvSpPr/>
          <p:nvPr/>
        </p:nvSpPr>
        <p:spPr>
          <a:xfrm>
            <a:off x="6380683" y="4151376"/>
            <a:ext cx="192389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Validated via real </a:t>
            </a:r>
            <a:r>
              <a:rPr lang="en-US" sz="900" b="1" dirty="0" err="1">
                <a:solidFill>
                  <a:srgbClr val="FFFFFF"/>
                </a:solidFill>
                <a:latin typeface="Calibri" pitchFamily="34" charset="0"/>
                <a:ea typeface="Calibri" pitchFamily="34" charset="-122"/>
                <a:cs typeface="Calibri" pitchFamily="34" charset="-120"/>
              </a:rPr>
              <a:t>backtest</a:t>
            </a:r>
            <a:endParaRPr lang="en-US" sz="900" dirty="0"/>
          </a:p>
        </p:txBody>
      </p:sp>
      <p:sp>
        <p:nvSpPr>
          <p:cNvPr id="37" name="Shape 35"/>
          <p:cNvSpPr/>
          <p:nvPr/>
        </p:nvSpPr>
        <p:spPr>
          <a:xfrm>
            <a:off x="548640" y="4636008"/>
            <a:ext cx="11064240" cy="914400"/>
          </a:xfrm>
          <a:prstGeom prst="roundRect">
            <a:avLst>
              <a:gd name="adj" fmla="val 10000"/>
            </a:avLst>
          </a:prstGeom>
          <a:solidFill>
            <a:srgbClr val="FFFFFF"/>
          </a:solidFill>
          <a:ln/>
        </p:spPr>
        <p:txBody>
          <a:bodyPr/>
          <a:lstStyle/>
          <a:p>
            <a:endParaRPr lang="en-US"/>
          </a:p>
        </p:txBody>
      </p:sp>
      <p:sp>
        <p:nvSpPr>
          <p:cNvPr id="38" name="Shape 36"/>
          <p:cNvSpPr/>
          <p:nvPr/>
        </p:nvSpPr>
        <p:spPr>
          <a:xfrm>
            <a:off x="731520" y="4727448"/>
            <a:ext cx="457200" cy="457200"/>
          </a:xfrm>
          <a:prstGeom prst="roundRect">
            <a:avLst>
              <a:gd name="adj" fmla="val 50000"/>
            </a:avLst>
          </a:prstGeom>
          <a:solidFill>
            <a:srgbClr val="305F92"/>
          </a:solidFill>
          <a:ln/>
        </p:spPr>
        <p:txBody>
          <a:bodyPr/>
          <a:lstStyle/>
          <a:p>
            <a:endParaRPr lang="en-US"/>
          </a:p>
        </p:txBody>
      </p:sp>
      <p:sp>
        <p:nvSpPr>
          <p:cNvPr id="39" name="Text 37"/>
          <p:cNvSpPr/>
          <p:nvPr/>
        </p:nvSpPr>
        <p:spPr>
          <a:xfrm>
            <a:off x="731520" y="47274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40" name="Text 38"/>
          <p:cNvSpPr/>
          <p:nvPr/>
        </p:nvSpPr>
        <p:spPr>
          <a:xfrm>
            <a:off x="1325880" y="4690872"/>
            <a:ext cx="2377440" cy="457200"/>
          </a:xfrm>
          <a:prstGeom prst="rect">
            <a:avLst/>
          </a:prstGeom>
          <a:noFill/>
          <a:ln/>
        </p:spPr>
        <p:txBody>
          <a:bodyPr wrap="square" lIns="0" tIns="0" rIns="0" bIns="0" rtlCol="0" anchor="ctr"/>
          <a:lstStyle/>
          <a:p>
            <a:pPr marL="0" indent="0">
              <a:buNone/>
            </a:pPr>
            <a:r>
              <a:rPr lang="en-US" sz="1400" b="1" dirty="0">
                <a:solidFill>
                  <a:srgbClr val="1B3B5F"/>
                </a:solidFill>
                <a:latin typeface="Calibri" pitchFamily="34" charset="0"/>
                <a:ea typeface="Calibri" pitchFamily="34" charset="-122"/>
                <a:cs typeface="Calibri" pitchFamily="34" charset="-120"/>
              </a:rPr>
              <a:t>Production and ops</a:t>
            </a:r>
            <a:endParaRPr lang="en-US" sz="1400" dirty="0"/>
          </a:p>
        </p:txBody>
      </p:sp>
      <p:sp>
        <p:nvSpPr>
          <p:cNvPr id="41" name="Text 39"/>
          <p:cNvSpPr/>
          <p:nvPr/>
        </p:nvSpPr>
        <p:spPr>
          <a:xfrm>
            <a:off x="3749040" y="4690872"/>
            <a:ext cx="7498080" cy="457200"/>
          </a:xfrm>
          <a:prstGeom prst="rect">
            <a:avLst/>
          </a:prstGeom>
          <a:noFill/>
          <a:ln/>
        </p:spPr>
        <p:txBody>
          <a:bodyPr wrap="square" lIns="0" tIns="0" rIns="0" bIns="0" rtlCol="0" anchor="ctr"/>
          <a:lstStyle/>
          <a:p>
            <a:pPr marL="0" indent="0">
              <a:buNone/>
            </a:pPr>
            <a:r>
              <a:rPr lang="en-US" sz="1100" dirty="0">
                <a:solidFill>
                  <a:srgbClr val="24303B"/>
                </a:solidFill>
                <a:latin typeface="Calibri" pitchFamily="34" charset="0"/>
                <a:ea typeface="Calibri" pitchFamily="34" charset="-122"/>
                <a:cs typeface="Calibri" pitchFamily="34" charset="-120"/>
              </a:rPr>
              <a:t>Serving, cost/latency/quality tradeoffs, observability, rollback.</a:t>
            </a:r>
            <a:endParaRPr lang="en-US" sz="1100" dirty="0"/>
          </a:p>
        </p:txBody>
      </p:sp>
      <p:sp>
        <p:nvSpPr>
          <p:cNvPr id="42" name="Shape 40"/>
          <p:cNvSpPr/>
          <p:nvPr/>
        </p:nvSpPr>
        <p:spPr>
          <a:xfrm>
            <a:off x="1325880" y="5202936"/>
            <a:ext cx="1594714" cy="274320"/>
          </a:xfrm>
          <a:prstGeom prst="roundRect">
            <a:avLst>
              <a:gd name="adj" fmla="val 20000"/>
            </a:avLst>
          </a:prstGeom>
          <a:solidFill>
            <a:srgbClr val="305F92"/>
          </a:solidFill>
          <a:ln/>
        </p:spPr>
        <p:txBody>
          <a:bodyPr/>
          <a:lstStyle/>
          <a:p>
            <a:endParaRPr lang="en-US"/>
          </a:p>
        </p:txBody>
      </p:sp>
      <p:sp>
        <p:nvSpPr>
          <p:cNvPr id="43" name="Text 41"/>
          <p:cNvSpPr/>
          <p:nvPr/>
        </p:nvSpPr>
        <p:spPr>
          <a:xfrm>
            <a:off x="1325880" y="5202936"/>
            <a:ext cx="159471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Latency &amp; cost targets</a:t>
            </a:r>
            <a:endParaRPr lang="en-US" sz="900" dirty="0"/>
          </a:p>
        </p:txBody>
      </p:sp>
      <p:sp>
        <p:nvSpPr>
          <p:cNvPr id="44" name="Shape 42"/>
          <p:cNvSpPr/>
          <p:nvPr/>
        </p:nvSpPr>
        <p:spPr>
          <a:xfrm>
            <a:off x="3030322" y="5202936"/>
            <a:ext cx="2121408" cy="274320"/>
          </a:xfrm>
          <a:prstGeom prst="roundRect">
            <a:avLst>
              <a:gd name="adj" fmla="val 20000"/>
            </a:avLst>
          </a:prstGeom>
          <a:solidFill>
            <a:srgbClr val="305F92"/>
          </a:solidFill>
          <a:ln/>
        </p:spPr>
        <p:txBody>
          <a:bodyPr/>
          <a:lstStyle/>
          <a:p>
            <a:endParaRPr lang="en-US"/>
          </a:p>
        </p:txBody>
      </p:sp>
      <p:sp>
        <p:nvSpPr>
          <p:cNvPr id="45" name="Text 43"/>
          <p:cNvSpPr/>
          <p:nvPr/>
        </p:nvSpPr>
        <p:spPr>
          <a:xfrm>
            <a:off x="3030322" y="5202936"/>
            <a:ext cx="2121408"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Observability: traceable spans</a:t>
            </a:r>
            <a:endParaRPr lang="en-US" sz="900" dirty="0"/>
          </a:p>
        </p:txBody>
      </p:sp>
      <p:sp>
        <p:nvSpPr>
          <p:cNvPr id="46" name="Shape 44"/>
          <p:cNvSpPr/>
          <p:nvPr/>
        </p:nvSpPr>
        <p:spPr>
          <a:xfrm>
            <a:off x="5261458" y="5202936"/>
            <a:ext cx="1858061" cy="274320"/>
          </a:xfrm>
          <a:prstGeom prst="roundRect">
            <a:avLst>
              <a:gd name="adj" fmla="val 20000"/>
            </a:avLst>
          </a:prstGeom>
          <a:solidFill>
            <a:srgbClr val="305F92"/>
          </a:solidFill>
          <a:ln/>
        </p:spPr>
        <p:txBody>
          <a:bodyPr/>
          <a:lstStyle/>
          <a:p>
            <a:endParaRPr lang="en-US"/>
          </a:p>
        </p:txBody>
      </p:sp>
      <p:sp>
        <p:nvSpPr>
          <p:cNvPr id="47" name="Text 45"/>
          <p:cNvSpPr/>
          <p:nvPr/>
        </p:nvSpPr>
        <p:spPr>
          <a:xfrm>
            <a:off x="5261458" y="5202936"/>
            <a:ext cx="1858061"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Rollback: versioned params</a:t>
            </a:r>
            <a:endParaRPr lang="en-US" sz="900" dirty="0"/>
          </a:p>
        </p:txBody>
      </p:sp>
      <p:sp>
        <p:nvSpPr>
          <p:cNvPr id="48" name="Shape 46"/>
          <p:cNvSpPr/>
          <p:nvPr/>
        </p:nvSpPr>
        <p:spPr>
          <a:xfrm>
            <a:off x="548640" y="5687568"/>
            <a:ext cx="11064240" cy="914400"/>
          </a:xfrm>
          <a:prstGeom prst="roundRect">
            <a:avLst>
              <a:gd name="adj" fmla="val 10000"/>
            </a:avLst>
          </a:prstGeom>
          <a:solidFill>
            <a:srgbClr val="F3F6F6"/>
          </a:solidFill>
          <a:ln/>
        </p:spPr>
        <p:txBody>
          <a:bodyPr/>
          <a:lstStyle/>
          <a:p>
            <a:endParaRPr lang="en-US"/>
          </a:p>
        </p:txBody>
      </p:sp>
      <p:sp>
        <p:nvSpPr>
          <p:cNvPr id="49" name="Shape 47"/>
          <p:cNvSpPr/>
          <p:nvPr/>
        </p:nvSpPr>
        <p:spPr>
          <a:xfrm>
            <a:off x="731520" y="5779008"/>
            <a:ext cx="457200" cy="457200"/>
          </a:xfrm>
          <a:prstGeom prst="roundRect">
            <a:avLst>
              <a:gd name="adj" fmla="val 50000"/>
            </a:avLst>
          </a:prstGeom>
          <a:solidFill>
            <a:srgbClr val="1B3B5F"/>
          </a:solidFill>
          <a:ln/>
        </p:spPr>
        <p:txBody>
          <a:bodyPr/>
          <a:lstStyle/>
          <a:p>
            <a:endParaRPr lang="en-US"/>
          </a:p>
        </p:txBody>
      </p:sp>
      <p:sp>
        <p:nvSpPr>
          <p:cNvPr id="50" name="Text 48"/>
          <p:cNvSpPr/>
          <p:nvPr/>
        </p:nvSpPr>
        <p:spPr>
          <a:xfrm>
            <a:off x="731520" y="57790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51" name="Text 49"/>
          <p:cNvSpPr/>
          <p:nvPr/>
        </p:nvSpPr>
        <p:spPr>
          <a:xfrm>
            <a:off x="1325880" y="5742432"/>
            <a:ext cx="2377440" cy="457200"/>
          </a:xfrm>
          <a:prstGeom prst="rect">
            <a:avLst/>
          </a:prstGeom>
          <a:noFill/>
          <a:ln/>
        </p:spPr>
        <p:txBody>
          <a:bodyPr wrap="square" lIns="0" tIns="0" rIns="0" bIns="0" rtlCol="0" anchor="ctr"/>
          <a:lstStyle/>
          <a:p>
            <a:pPr marL="0" indent="0">
              <a:buNone/>
            </a:pPr>
            <a:r>
              <a:rPr lang="en-US" sz="1400" b="1" dirty="0">
                <a:solidFill>
                  <a:srgbClr val="1B3B5F"/>
                </a:solidFill>
                <a:latin typeface="Calibri" pitchFamily="34" charset="0"/>
                <a:ea typeface="Calibri" pitchFamily="34" charset="-122"/>
                <a:cs typeface="Calibri" pitchFamily="34" charset="-120"/>
              </a:rPr>
              <a:t>Optimization</a:t>
            </a:r>
            <a:endParaRPr lang="en-US" sz="1400" dirty="0"/>
          </a:p>
        </p:txBody>
      </p:sp>
      <p:sp>
        <p:nvSpPr>
          <p:cNvPr id="52" name="Text 50"/>
          <p:cNvSpPr/>
          <p:nvPr/>
        </p:nvSpPr>
        <p:spPr>
          <a:xfrm>
            <a:off x="3749040" y="5742432"/>
            <a:ext cx="7498080" cy="457200"/>
          </a:xfrm>
          <a:prstGeom prst="rect">
            <a:avLst/>
          </a:prstGeom>
          <a:noFill/>
          <a:ln/>
        </p:spPr>
        <p:txBody>
          <a:bodyPr wrap="square" lIns="0" tIns="0" rIns="0" bIns="0" rtlCol="0" anchor="ctr"/>
          <a:lstStyle/>
          <a:p>
            <a:pPr marL="0" indent="0">
              <a:buNone/>
            </a:pPr>
            <a:r>
              <a:rPr lang="en-US" sz="1100" dirty="0">
                <a:solidFill>
                  <a:srgbClr val="24303B"/>
                </a:solidFill>
                <a:latin typeface="Calibri" pitchFamily="34" charset="0"/>
                <a:ea typeface="Calibri" pitchFamily="34" charset="-122"/>
                <a:cs typeface="Calibri" pitchFamily="34" charset="-120"/>
              </a:rPr>
              <a:t>Routing, caching, and — last, and only if earned — multi-agent.</a:t>
            </a:r>
            <a:endParaRPr lang="en-US" sz="1100" dirty="0"/>
          </a:p>
        </p:txBody>
      </p:sp>
      <p:sp>
        <p:nvSpPr>
          <p:cNvPr id="53" name="Shape 51"/>
          <p:cNvSpPr/>
          <p:nvPr/>
        </p:nvSpPr>
        <p:spPr>
          <a:xfrm>
            <a:off x="1325880" y="6254496"/>
            <a:ext cx="1199693" cy="274320"/>
          </a:xfrm>
          <a:prstGeom prst="roundRect">
            <a:avLst>
              <a:gd name="adj" fmla="val 20000"/>
            </a:avLst>
          </a:prstGeom>
          <a:solidFill>
            <a:srgbClr val="1B3B5F"/>
          </a:solidFill>
          <a:ln/>
        </p:spPr>
        <p:txBody>
          <a:bodyPr/>
          <a:lstStyle/>
          <a:p>
            <a:endParaRPr lang="en-US"/>
          </a:p>
        </p:txBody>
      </p:sp>
      <p:sp>
        <p:nvSpPr>
          <p:cNvPr id="54" name="Text 52"/>
          <p:cNvSpPr/>
          <p:nvPr/>
        </p:nvSpPr>
        <p:spPr>
          <a:xfrm>
            <a:off x="1325880" y="6254496"/>
            <a:ext cx="1199693"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Semantic caching</a:t>
            </a:r>
            <a:endParaRPr lang="en-US" sz="900" dirty="0"/>
          </a:p>
        </p:txBody>
      </p:sp>
      <p:sp>
        <p:nvSpPr>
          <p:cNvPr id="55" name="Shape 53"/>
          <p:cNvSpPr/>
          <p:nvPr/>
        </p:nvSpPr>
        <p:spPr>
          <a:xfrm>
            <a:off x="2635301" y="6254496"/>
            <a:ext cx="1002182" cy="274320"/>
          </a:xfrm>
          <a:prstGeom prst="roundRect">
            <a:avLst>
              <a:gd name="adj" fmla="val 20000"/>
            </a:avLst>
          </a:prstGeom>
          <a:solidFill>
            <a:srgbClr val="1B3B5F"/>
          </a:solidFill>
          <a:ln/>
        </p:spPr>
        <p:txBody>
          <a:bodyPr/>
          <a:lstStyle/>
          <a:p>
            <a:endParaRPr lang="en-US"/>
          </a:p>
        </p:txBody>
      </p:sp>
      <p:sp>
        <p:nvSpPr>
          <p:cNvPr id="56" name="Text 54"/>
          <p:cNvSpPr/>
          <p:nvPr/>
        </p:nvSpPr>
        <p:spPr>
          <a:xfrm>
            <a:off x="2635301" y="6254496"/>
            <a:ext cx="1002182"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Model routing</a:t>
            </a:r>
            <a:endParaRPr lang="en-US" sz="900" dirty="0"/>
          </a:p>
        </p:txBody>
      </p:sp>
      <p:sp>
        <p:nvSpPr>
          <p:cNvPr id="57" name="Shape 55"/>
          <p:cNvSpPr/>
          <p:nvPr/>
        </p:nvSpPr>
        <p:spPr>
          <a:xfrm>
            <a:off x="3747211" y="6254496"/>
            <a:ext cx="1792224" cy="274320"/>
          </a:xfrm>
          <a:prstGeom prst="roundRect">
            <a:avLst>
              <a:gd name="adj" fmla="val 20000"/>
            </a:avLst>
          </a:prstGeom>
          <a:solidFill>
            <a:srgbClr val="1B3B5F"/>
          </a:solidFill>
          <a:ln/>
        </p:spPr>
        <p:txBody>
          <a:bodyPr/>
          <a:lstStyle/>
          <a:p>
            <a:endParaRPr lang="en-US"/>
          </a:p>
        </p:txBody>
      </p:sp>
      <p:sp>
        <p:nvSpPr>
          <p:cNvPr id="58" name="Text 56"/>
          <p:cNvSpPr/>
          <p:nvPr/>
        </p:nvSpPr>
        <p:spPr>
          <a:xfrm>
            <a:off x="3747211" y="6254496"/>
            <a:ext cx="17922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 multi-agent by default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56032"/>
            <a:ext cx="8686800" cy="457200"/>
          </a:xfrm>
          <a:prstGeom prst="rect">
            <a:avLst/>
          </a:prstGeom>
          <a:noFill/>
          <a:ln/>
        </p:spPr>
        <p:txBody>
          <a:bodyPr wrap="square" lIns="0" tIns="0" rIns="0" bIns="0" rtlCol="0" anchor="ctr"/>
          <a:lstStyle/>
          <a:p>
            <a:pPr marL="0" indent="0">
              <a:buNone/>
            </a:pPr>
            <a:r>
              <a:rPr lang="en-US" sz="2500" b="1" dirty="0">
                <a:solidFill>
                  <a:srgbClr val="24303B"/>
                </a:solidFill>
                <a:latin typeface="Cambria" pitchFamily="34" charset="0"/>
                <a:ea typeface="Cambria" pitchFamily="34" charset="-122"/>
                <a:cs typeface="Cambria" pitchFamily="34" charset="-120"/>
              </a:rPr>
              <a:t>AI DLC × five-layer spine</a:t>
            </a:r>
            <a:endParaRPr lang="en-US" sz="2500" dirty="0"/>
          </a:p>
        </p:txBody>
      </p:sp>
      <p:sp>
        <p:nvSpPr>
          <p:cNvPr id="3" name="Text 1"/>
          <p:cNvSpPr/>
          <p:nvPr/>
        </p:nvSpPr>
        <p:spPr>
          <a:xfrm>
            <a:off x="457200" y="731520"/>
            <a:ext cx="6858000" cy="237744"/>
          </a:xfrm>
          <a:prstGeom prst="rect">
            <a:avLst/>
          </a:prstGeom>
          <a:noFill/>
          <a:ln/>
        </p:spPr>
        <p:txBody>
          <a:bodyPr wrap="square" lIns="0" tIns="0" rIns="0" bIns="0" rtlCol="0" anchor="ctr"/>
          <a:lstStyle/>
          <a:p>
            <a:pPr marL="0" indent="0">
              <a:buNone/>
            </a:pPr>
            <a:r>
              <a:rPr lang="en-US" sz="1300" dirty="0">
                <a:solidFill>
                  <a:srgbClr val="5B6670"/>
                </a:solidFill>
                <a:latin typeface="Calibri" pitchFamily="34" charset="0"/>
                <a:ea typeface="Calibri" pitchFamily="34" charset="-122"/>
                <a:cs typeface="Calibri" pitchFamily="34" charset="-120"/>
              </a:rPr>
              <a:t>Where each lifecycle phase does its heaviest architectural work</a:t>
            </a:r>
            <a:endParaRPr lang="en-US" sz="1300" dirty="0"/>
          </a:p>
        </p:txBody>
      </p:sp>
      <p:sp>
        <p:nvSpPr>
          <p:cNvPr id="4" name="Shape 2"/>
          <p:cNvSpPr/>
          <p:nvPr/>
        </p:nvSpPr>
        <p:spPr>
          <a:xfrm>
            <a:off x="566928" y="1371600"/>
            <a:ext cx="2103120" cy="4160520"/>
          </a:xfrm>
          <a:prstGeom prst="roundRect">
            <a:avLst>
              <a:gd name="adj" fmla="val 4348"/>
            </a:avLst>
          </a:prstGeom>
          <a:solidFill>
            <a:srgbClr val="F3F6F6"/>
          </a:solidFill>
          <a:ln/>
        </p:spPr>
        <p:txBody>
          <a:bodyPr/>
          <a:lstStyle/>
          <a:p>
            <a:endParaRPr lang="en-US"/>
          </a:p>
        </p:txBody>
      </p:sp>
      <p:sp>
        <p:nvSpPr>
          <p:cNvPr id="5" name="Shape 3"/>
          <p:cNvSpPr/>
          <p:nvPr/>
        </p:nvSpPr>
        <p:spPr>
          <a:xfrm>
            <a:off x="704088" y="1508760"/>
            <a:ext cx="365760" cy="365760"/>
          </a:xfrm>
          <a:prstGeom prst="roundRect">
            <a:avLst>
              <a:gd name="adj" fmla="val 50000"/>
            </a:avLst>
          </a:prstGeom>
          <a:solidFill>
            <a:srgbClr val="A9BEDA"/>
          </a:solidFill>
          <a:ln/>
        </p:spPr>
        <p:txBody>
          <a:bodyPr/>
          <a:lstStyle/>
          <a:p>
            <a:endParaRPr lang="en-US"/>
          </a:p>
        </p:txBody>
      </p:sp>
      <p:sp>
        <p:nvSpPr>
          <p:cNvPr id="6" name="Text 4"/>
          <p:cNvSpPr/>
          <p:nvPr/>
        </p:nvSpPr>
        <p:spPr>
          <a:xfrm>
            <a:off x="704088" y="1508760"/>
            <a:ext cx="365760" cy="365760"/>
          </a:xfrm>
          <a:prstGeom prst="rect">
            <a:avLst/>
          </a:prstGeom>
          <a:noFill/>
          <a:ln/>
        </p:spPr>
        <p:txBody>
          <a:bodyPr wrap="square" lIns="0" tIns="0" rIns="0" bIns="0" rtlCol="0" anchor="ctr"/>
          <a:lstStyle/>
          <a:p>
            <a:pPr marL="0" indent="0" algn="ctr">
              <a:buNone/>
            </a:pPr>
            <a:r>
              <a:rPr lang="en-US" sz="1500" b="1" dirty="0">
                <a:solidFill>
                  <a:srgbClr val="132B45"/>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704088" y="1938528"/>
            <a:ext cx="1828800" cy="292608"/>
          </a:xfrm>
          <a:prstGeom prst="rect">
            <a:avLst/>
          </a:prstGeom>
          <a:noFill/>
          <a:ln/>
        </p:spPr>
        <p:txBody>
          <a:bodyPr wrap="square" lIns="0" tIns="0" rIns="0" bIns="0" rtlCol="0" anchor="ctr"/>
          <a:lstStyle/>
          <a:p>
            <a:pPr marL="0" indent="0">
              <a:buNone/>
            </a:pPr>
            <a:r>
              <a:rPr lang="en-US" sz="1450" b="1" dirty="0">
                <a:solidFill>
                  <a:srgbClr val="1B3B5F"/>
                </a:solidFill>
                <a:latin typeface="Calibri" pitchFamily="34" charset="0"/>
                <a:ea typeface="Calibri" pitchFamily="34" charset="-122"/>
                <a:cs typeface="Calibri" pitchFamily="34" charset="-120"/>
              </a:rPr>
              <a:t>Discovery</a:t>
            </a:r>
            <a:endParaRPr lang="en-US" sz="1450" dirty="0"/>
          </a:p>
        </p:txBody>
      </p:sp>
      <p:sp>
        <p:nvSpPr>
          <p:cNvPr id="8" name="Text 6"/>
          <p:cNvSpPr/>
          <p:nvPr/>
        </p:nvSpPr>
        <p:spPr>
          <a:xfrm>
            <a:off x="704088" y="2267712"/>
            <a:ext cx="1828800" cy="685800"/>
          </a:xfrm>
          <a:prstGeom prst="rect">
            <a:avLst/>
          </a:prstGeom>
          <a:noFill/>
          <a:ln/>
        </p:spPr>
        <p:txBody>
          <a:bodyPr wrap="square" lIns="0" tIns="0" rIns="0" bIns="0" rtlCol="0" anchor="ctr"/>
          <a:lstStyle/>
          <a:p>
            <a:pPr marL="0" indent="0">
              <a:buNone/>
            </a:pPr>
            <a:r>
              <a:rPr lang="en-US" sz="1050" dirty="0">
                <a:solidFill>
                  <a:srgbClr val="24303B"/>
                </a:solidFill>
                <a:latin typeface="Calibri" pitchFamily="34" charset="0"/>
                <a:ea typeface="Calibri" pitchFamily="34" charset="-122"/>
                <a:cs typeface="Calibri" pitchFamily="34" charset="-120"/>
              </a:rPr>
              <a:t>Validate a problem worth solving</a:t>
            </a:r>
            <a:endParaRPr lang="en-US" sz="1050" dirty="0"/>
          </a:p>
        </p:txBody>
      </p:sp>
      <p:sp>
        <p:nvSpPr>
          <p:cNvPr id="9" name="Shape 7"/>
          <p:cNvSpPr/>
          <p:nvPr/>
        </p:nvSpPr>
        <p:spPr>
          <a:xfrm>
            <a:off x="704088" y="2856508"/>
            <a:ext cx="1828800" cy="0"/>
          </a:xfrm>
          <a:prstGeom prst="line">
            <a:avLst/>
          </a:prstGeom>
          <a:noFill/>
          <a:ln w="9525">
            <a:solidFill>
              <a:srgbClr val="E3E1D9"/>
            </a:solidFill>
            <a:prstDash val="solid"/>
          </a:ln>
        </p:spPr>
        <p:txBody>
          <a:bodyPr/>
          <a:lstStyle/>
          <a:p>
            <a:endParaRPr lang="en-US"/>
          </a:p>
        </p:txBody>
      </p:sp>
      <p:sp>
        <p:nvSpPr>
          <p:cNvPr id="11" name="Text 9"/>
          <p:cNvSpPr/>
          <p:nvPr/>
        </p:nvSpPr>
        <p:spPr>
          <a:xfrm>
            <a:off x="704088" y="3032932"/>
            <a:ext cx="1828800" cy="1051560"/>
          </a:xfrm>
          <a:prstGeom prst="rect">
            <a:avLst/>
          </a:prstGeom>
          <a:noFill/>
          <a:ln/>
        </p:spPr>
        <p:txBody>
          <a:bodyPr wrap="square" lIns="0" tIns="0" rIns="0" bIns="0" rtlCol="0" anchor="ctr"/>
          <a:lstStyle/>
          <a:p>
            <a:pPr marL="0" indent="0">
              <a:buNone/>
            </a:pPr>
            <a:r>
              <a:rPr lang="en-US" sz="950" i="1" dirty="0">
                <a:solidFill>
                  <a:srgbClr val="24303B"/>
                </a:solidFill>
                <a:latin typeface="Calibri" pitchFamily="34" charset="0"/>
                <a:ea typeface="Calibri" pitchFamily="34" charset="-122"/>
                <a:cs typeface="Calibri" pitchFamily="34" charset="-120"/>
              </a:rPr>
              <a:t>Opportunity Scanner · Outcome &amp; Metrics Definer</a:t>
            </a:r>
            <a:endParaRPr lang="en-US" sz="950" dirty="0"/>
          </a:p>
        </p:txBody>
      </p:sp>
      <p:sp>
        <p:nvSpPr>
          <p:cNvPr id="12" name="Shape 10"/>
          <p:cNvSpPr/>
          <p:nvPr/>
        </p:nvSpPr>
        <p:spPr>
          <a:xfrm>
            <a:off x="704088" y="4387141"/>
            <a:ext cx="1828800" cy="256032"/>
          </a:xfrm>
          <a:prstGeom prst="roundRect">
            <a:avLst>
              <a:gd name="adj" fmla="val 21429"/>
            </a:avLst>
          </a:prstGeom>
          <a:solidFill>
            <a:srgbClr val="5580AC"/>
          </a:solidFill>
          <a:ln/>
        </p:spPr>
        <p:txBody>
          <a:bodyPr/>
          <a:lstStyle/>
          <a:p>
            <a:endParaRPr lang="en-US"/>
          </a:p>
        </p:txBody>
      </p:sp>
      <p:sp>
        <p:nvSpPr>
          <p:cNvPr id="13" name="Text 11"/>
          <p:cNvSpPr/>
          <p:nvPr/>
        </p:nvSpPr>
        <p:spPr>
          <a:xfrm>
            <a:off x="704088" y="4387141"/>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Layer 3 · seeds evals</a:t>
            </a:r>
            <a:endParaRPr lang="en-US" sz="950" dirty="0"/>
          </a:p>
        </p:txBody>
      </p:sp>
      <p:sp>
        <p:nvSpPr>
          <p:cNvPr id="14" name="Shape 12"/>
          <p:cNvSpPr/>
          <p:nvPr/>
        </p:nvSpPr>
        <p:spPr>
          <a:xfrm>
            <a:off x="2807208" y="1371600"/>
            <a:ext cx="2103120" cy="4160520"/>
          </a:xfrm>
          <a:prstGeom prst="roundRect">
            <a:avLst>
              <a:gd name="adj" fmla="val 4348"/>
            </a:avLst>
          </a:prstGeom>
          <a:solidFill>
            <a:srgbClr val="F3F6F6"/>
          </a:solidFill>
          <a:ln/>
        </p:spPr>
        <p:txBody>
          <a:bodyPr/>
          <a:lstStyle/>
          <a:p>
            <a:endParaRPr lang="en-US"/>
          </a:p>
        </p:txBody>
      </p:sp>
      <p:sp>
        <p:nvSpPr>
          <p:cNvPr id="15" name="Shape 13"/>
          <p:cNvSpPr/>
          <p:nvPr/>
        </p:nvSpPr>
        <p:spPr>
          <a:xfrm>
            <a:off x="2944368" y="1508760"/>
            <a:ext cx="365760" cy="365760"/>
          </a:xfrm>
          <a:prstGeom prst="roundRect">
            <a:avLst>
              <a:gd name="adj" fmla="val 50000"/>
            </a:avLst>
          </a:prstGeom>
          <a:solidFill>
            <a:srgbClr val="7FA0C4"/>
          </a:solidFill>
          <a:ln/>
        </p:spPr>
        <p:txBody>
          <a:bodyPr/>
          <a:lstStyle/>
          <a:p>
            <a:endParaRPr lang="en-US"/>
          </a:p>
        </p:txBody>
      </p:sp>
      <p:sp>
        <p:nvSpPr>
          <p:cNvPr id="16" name="Text 14"/>
          <p:cNvSpPr/>
          <p:nvPr/>
        </p:nvSpPr>
        <p:spPr>
          <a:xfrm>
            <a:off x="2944368" y="1508760"/>
            <a:ext cx="365760" cy="365760"/>
          </a:xfrm>
          <a:prstGeom prst="rect">
            <a:avLst/>
          </a:prstGeom>
          <a:noFill/>
          <a:ln/>
        </p:spPr>
        <p:txBody>
          <a:bodyPr wrap="square" lIns="0" tIns="0" rIns="0" bIns="0" rtlCol="0" anchor="ctr"/>
          <a:lstStyle/>
          <a:p>
            <a:pPr marL="0" indent="0" algn="ctr">
              <a:buNone/>
            </a:pPr>
            <a:r>
              <a:rPr lang="en-US" sz="1500" b="1" dirty="0">
                <a:solidFill>
                  <a:srgbClr val="132B45"/>
                </a:solidFill>
                <a:latin typeface="Cambria" pitchFamily="34" charset="0"/>
                <a:ea typeface="Cambria" pitchFamily="34" charset="-122"/>
                <a:cs typeface="Cambria" pitchFamily="34" charset="-120"/>
              </a:rPr>
              <a:t>2</a:t>
            </a:r>
            <a:endParaRPr lang="en-US" sz="1500" dirty="0"/>
          </a:p>
        </p:txBody>
      </p:sp>
      <p:sp>
        <p:nvSpPr>
          <p:cNvPr id="17" name="Text 15"/>
          <p:cNvSpPr/>
          <p:nvPr/>
        </p:nvSpPr>
        <p:spPr>
          <a:xfrm>
            <a:off x="2944368" y="1938528"/>
            <a:ext cx="1828800" cy="292608"/>
          </a:xfrm>
          <a:prstGeom prst="rect">
            <a:avLst/>
          </a:prstGeom>
          <a:noFill/>
          <a:ln/>
        </p:spPr>
        <p:txBody>
          <a:bodyPr wrap="square" lIns="0" tIns="0" rIns="0" bIns="0" rtlCol="0" anchor="ctr"/>
          <a:lstStyle/>
          <a:p>
            <a:pPr marL="0" indent="0">
              <a:buNone/>
            </a:pPr>
            <a:r>
              <a:rPr lang="en-US" sz="1450" b="1" dirty="0">
                <a:solidFill>
                  <a:srgbClr val="1B3B5F"/>
                </a:solidFill>
                <a:latin typeface="Calibri" pitchFamily="34" charset="0"/>
                <a:ea typeface="Calibri" pitchFamily="34" charset="-122"/>
                <a:cs typeface="Calibri" pitchFamily="34" charset="-120"/>
              </a:rPr>
              <a:t>Inception</a:t>
            </a:r>
            <a:endParaRPr lang="en-US" sz="1450" dirty="0"/>
          </a:p>
        </p:txBody>
      </p:sp>
      <p:sp>
        <p:nvSpPr>
          <p:cNvPr id="18" name="Text 16"/>
          <p:cNvSpPr/>
          <p:nvPr/>
        </p:nvSpPr>
        <p:spPr>
          <a:xfrm>
            <a:off x="2944368" y="2267712"/>
            <a:ext cx="1828800" cy="685800"/>
          </a:xfrm>
          <a:prstGeom prst="rect">
            <a:avLst/>
          </a:prstGeom>
          <a:noFill/>
          <a:ln/>
        </p:spPr>
        <p:txBody>
          <a:bodyPr wrap="square" lIns="0" tIns="0" rIns="0" bIns="0" rtlCol="0" anchor="ctr"/>
          <a:lstStyle/>
          <a:p>
            <a:pPr marL="0" indent="0">
              <a:buNone/>
            </a:pPr>
            <a:r>
              <a:rPr lang="en-US" sz="1050" dirty="0">
                <a:solidFill>
                  <a:srgbClr val="24303B"/>
                </a:solidFill>
                <a:latin typeface="Calibri" pitchFamily="34" charset="0"/>
                <a:ea typeface="Calibri" pitchFamily="34" charset="-122"/>
                <a:cs typeface="Calibri" pitchFamily="34" charset="-120"/>
              </a:rPr>
              <a:t>Spec, architecture &amp; prototype</a:t>
            </a:r>
            <a:endParaRPr lang="en-US" sz="1050" dirty="0"/>
          </a:p>
        </p:txBody>
      </p:sp>
      <p:sp>
        <p:nvSpPr>
          <p:cNvPr id="19" name="Shape 17"/>
          <p:cNvSpPr/>
          <p:nvPr/>
        </p:nvSpPr>
        <p:spPr>
          <a:xfrm>
            <a:off x="2944368" y="2856508"/>
            <a:ext cx="1828800" cy="0"/>
          </a:xfrm>
          <a:prstGeom prst="line">
            <a:avLst/>
          </a:prstGeom>
          <a:noFill/>
          <a:ln w="9525">
            <a:solidFill>
              <a:srgbClr val="E3E1D9"/>
            </a:solidFill>
            <a:prstDash val="solid"/>
          </a:ln>
        </p:spPr>
        <p:txBody>
          <a:bodyPr/>
          <a:lstStyle/>
          <a:p>
            <a:endParaRPr lang="en-US"/>
          </a:p>
        </p:txBody>
      </p:sp>
      <p:sp>
        <p:nvSpPr>
          <p:cNvPr id="21" name="Text 19"/>
          <p:cNvSpPr/>
          <p:nvPr/>
        </p:nvSpPr>
        <p:spPr>
          <a:xfrm>
            <a:off x="2944368" y="3032932"/>
            <a:ext cx="1828800" cy="1051560"/>
          </a:xfrm>
          <a:prstGeom prst="rect">
            <a:avLst/>
          </a:prstGeom>
          <a:noFill/>
          <a:ln/>
        </p:spPr>
        <p:txBody>
          <a:bodyPr wrap="square" lIns="0" tIns="0" rIns="0" bIns="0" rtlCol="0" anchor="ctr"/>
          <a:lstStyle/>
          <a:p>
            <a:pPr marL="0" indent="0">
              <a:buNone/>
            </a:pPr>
            <a:r>
              <a:rPr lang="en-US" sz="950" i="1" dirty="0">
                <a:solidFill>
                  <a:srgbClr val="24303B"/>
                </a:solidFill>
                <a:latin typeface="Calibri" pitchFamily="34" charset="0"/>
                <a:ea typeface="Calibri" pitchFamily="34" charset="-122"/>
                <a:cs typeface="Calibri" pitchFamily="34" charset="-120"/>
              </a:rPr>
              <a:t>Spec &amp; Eval Generator · Architecture Mapper</a:t>
            </a:r>
            <a:endParaRPr lang="en-US" sz="950" dirty="0"/>
          </a:p>
        </p:txBody>
      </p:sp>
      <p:sp>
        <p:nvSpPr>
          <p:cNvPr id="22" name="Shape 20"/>
          <p:cNvSpPr/>
          <p:nvPr/>
        </p:nvSpPr>
        <p:spPr>
          <a:xfrm>
            <a:off x="2944368" y="4149397"/>
            <a:ext cx="1828800" cy="256032"/>
          </a:xfrm>
          <a:prstGeom prst="roundRect">
            <a:avLst>
              <a:gd name="adj" fmla="val 21429"/>
            </a:avLst>
          </a:prstGeom>
          <a:solidFill>
            <a:srgbClr val="A9BEDA"/>
          </a:solidFill>
          <a:ln/>
        </p:spPr>
        <p:txBody>
          <a:bodyPr/>
          <a:lstStyle/>
          <a:p>
            <a:endParaRPr lang="en-US"/>
          </a:p>
        </p:txBody>
      </p:sp>
      <p:sp>
        <p:nvSpPr>
          <p:cNvPr id="23" name="Text 21"/>
          <p:cNvSpPr/>
          <p:nvPr/>
        </p:nvSpPr>
        <p:spPr>
          <a:xfrm>
            <a:off x="2944368" y="4149397"/>
            <a:ext cx="1828800" cy="256032"/>
          </a:xfrm>
          <a:prstGeom prst="rect">
            <a:avLst/>
          </a:prstGeom>
          <a:noFill/>
          <a:ln/>
        </p:spPr>
        <p:txBody>
          <a:bodyPr wrap="square" lIns="0" tIns="0" rIns="0" bIns="0" rtlCol="0" anchor="ctr"/>
          <a:lstStyle/>
          <a:p>
            <a:pPr marL="0" indent="0" algn="ctr">
              <a:buNone/>
            </a:pPr>
            <a:r>
              <a:rPr lang="en-US" sz="950" b="1" dirty="0">
                <a:solidFill>
                  <a:srgbClr val="132B45"/>
                </a:solidFill>
                <a:latin typeface="Calibri" pitchFamily="34" charset="0"/>
                <a:ea typeface="Calibri" pitchFamily="34" charset="-122"/>
                <a:cs typeface="Calibri" pitchFamily="34" charset="-120"/>
              </a:rPr>
              <a:t>Layer 1 · model</a:t>
            </a:r>
            <a:endParaRPr lang="en-US" sz="950" dirty="0"/>
          </a:p>
        </p:txBody>
      </p:sp>
      <p:sp>
        <p:nvSpPr>
          <p:cNvPr id="24" name="Shape 22"/>
          <p:cNvSpPr/>
          <p:nvPr/>
        </p:nvSpPr>
        <p:spPr>
          <a:xfrm>
            <a:off x="2944368" y="4442005"/>
            <a:ext cx="1828800" cy="256032"/>
          </a:xfrm>
          <a:prstGeom prst="roundRect">
            <a:avLst>
              <a:gd name="adj" fmla="val 21429"/>
            </a:avLst>
          </a:prstGeom>
          <a:solidFill>
            <a:srgbClr val="7FA0C4"/>
          </a:solidFill>
          <a:ln/>
        </p:spPr>
        <p:txBody>
          <a:bodyPr/>
          <a:lstStyle/>
          <a:p>
            <a:endParaRPr lang="en-US"/>
          </a:p>
        </p:txBody>
      </p:sp>
      <p:sp>
        <p:nvSpPr>
          <p:cNvPr id="25" name="Text 23"/>
          <p:cNvSpPr/>
          <p:nvPr/>
        </p:nvSpPr>
        <p:spPr>
          <a:xfrm>
            <a:off x="2944368" y="4442005"/>
            <a:ext cx="1828800" cy="256032"/>
          </a:xfrm>
          <a:prstGeom prst="rect">
            <a:avLst/>
          </a:prstGeom>
          <a:noFill/>
          <a:ln/>
        </p:spPr>
        <p:txBody>
          <a:bodyPr wrap="square" lIns="0" tIns="0" rIns="0" bIns="0" rtlCol="0" anchor="ctr"/>
          <a:lstStyle/>
          <a:p>
            <a:pPr marL="0" indent="0" algn="ctr">
              <a:buNone/>
            </a:pPr>
            <a:r>
              <a:rPr lang="en-US" sz="950" b="1" dirty="0">
                <a:solidFill>
                  <a:srgbClr val="132B45"/>
                </a:solidFill>
                <a:latin typeface="Calibri" pitchFamily="34" charset="0"/>
                <a:ea typeface="Calibri" pitchFamily="34" charset="-122"/>
                <a:cs typeface="Calibri" pitchFamily="34" charset="-120"/>
              </a:rPr>
              <a:t>Layer 2 · wrapping</a:t>
            </a:r>
            <a:endParaRPr lang="en-US" sz="950" dirty="0"/>
          </a:p>
        </p:txBody>
      </p:sp>
      <p:sp>
        <p:nvSpPr>
          <p:cNvPr id="26" name="Shape 24"/>
          <p:cNvSpPr/>
          <p:nvPr/>
        </p:nvSpPr>
        <p:spPr>
          <a:xfrm>
            <a:off x="5047488" y="1371600"/>
            <a:ext cx="2103120" cy="4160520"/>
          </a:xfrm>
          <a:prstGeom prst="roundRect">
            <a:avLst>
              <a:gd name="adj" fmla="val 4348"/>
            </a:avLst>
          </a:prstGeom>
          <a:solidFill>
            <a:srgbClr val="F3F6F6"/>
          </a:solidFill>
          <a:ln/>
        </p:spPr>
        <p:txBody>
          <a:bodyPr/>
          <a:lstStyle/>
          <a:p>
            <a:endParaRPr lang="en-US"/>
          </a:p>
        </p:txBody>
      </p:sp>
      <p:sp>
        <p:nvSpPr>
          <p:cNvPr id="27" name="Shape 25"/>
          <p:cNvSpPr/>
          <p:nvPr/>
        </p:nvSpPr>
        <p:spPr>
          <a:xfrm>
            <a:off x="5184648" y="1508760"/>
            <a:ext cx="365760" cy="365760"/>
          </a:xfrm>
          <a:prstGeom prst="roundRect">
            <a:avLst>
              <a:gd name="adj" fmla="val 50000"/>
            </a:avLst>
          </a:prstGeom>
          <a:solidFill>
            <a:srgbClr val="5580AC"/>
          </a:solidFill>
          <a:ln/>
        </p:spPr>
        <p:txBody>
          <a:bodyPr/>
          <a:lstStyle/>
          <a:p>
            <a:endParaRPr lang="en-US"/>
          </a:p>
        </p:txBody>
      </p:sp>
      <p:sp>
        <p:nvSpPr>
          <p:cNvPr id="28" name="Text 26"/>
          <p:cNvSpPr/>
          <p:nvPr/>
        </p:nvSpPr>
        <p:spPr>
          <a:xfrm>
            <a:off x="5184648" y="15087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9" name="Text 27"/>
          <p:cNvSpPr/>
          <p:nvPr/>
        </p:nvSpPr>
        <p:spPr>
          <a:xfrm>
            <a:off x="5184648" y="1938528"/>
            <a:ext cx="1828800" cy="292608"/>
          </a:xfrm>
          <a:prstGeom prst="rect">
            <a:avLst/>
          </a:prstGeom>
          <a:noFill/>
          <a:ln/>
        </p:spPr>
        <p:txBody>
          <a:bodyPr wrap="square" lIns="0" tIns="0" rIns="0" bIns="0" rtlCol="0" anchor="ctr"/>
          <a:lstStyle/>
          <a:p>
            <a:pPr marL="0" indent="0">
              <a:buNone/>
            </a:pPr>
            <a:r>
              <a:rPr lang="en-US" sz="1450" b="1" dirty="0">
                <a:solidFill>
                  <a:srgbClr val="1B3B5F"/>
                </a:solidFill>
                <a:latin typeface="Calibri" pitchFamily="34" charset="0"/>
                <a:ea typeface="Calibri" pitchFamily="34" charset="-122"/>
                <a:cs typeface="Calibri" pitchFamily="34" charset="-120"/>
              </a:rPr>
              <a:t>Construction</a:t>
            </a:r>
            <a:endParaRPr lang="en-US" sz="1450" dirty="0"/>
          </a:p>
        </p:txBody>
      </p:sp>
      <p:sp>
        <p:nvSpPr>
          <p:cNvPr id="30" name="Text 28"/>
          <p:cNvSpPr/>
          <p:nvPr/>
        </p:nvSpPr>
        <p:spPr>
          <a:xfrm>
            <a:off x="5184648" y="2267712"/>
            <a:ext cx="1828800" cy="685800"/>
          </a:xfrm>
          <a:prstGeom prst="rect">
            <a:avLst/>
          </a:prstGeom>
          <a:noFill/>
          <a:ln/>
        </p:spPr>
        <p:txBody>
          <a:bodyPr wrap="square" lIns="0" tIns="0" rIns="0" bIns="0" rtlCol="0" anchor="ctr"/>
          <a:lstStyle/>
          <a:p>
            <a:pPr marL="0" indent="0">
              <a:buNone/>
            </a:pPr>
            <a:r>
              <a:rPr lang="en-US" sz="1050" dirty="0">
                <a:solidFill>
                  <a:srgbClr val="24303B"/>
                </a:solidFill>
                <a:latin typeface="Calibri" pitchFamily="34" charset="0"/>
                <a:ea typeface="Calibri" pitchFamily="34" charset="-122"/>
                <a:cs typeface="Calibri" pitchFamily="34" charset="-120"/>
              </a:rPr>
              <a:t>Build-demo-refine to a hardened increment</a:t>
            </a:r>
            <a:endParaRPr lang="en-US" sz="1050" dirty="0"/>
          </a:p>
        </p:txBody>
      </p:sp>
      <p:sp>
        <p:nvSpPr>
          <p:cNvPr id="31" name="Shape 29"/>
          <p:cNvSpPr/>
          <p:nvPr/>
        </p:nvSpPr>
        <p:spPr>
          <a:xfrm>
            <a:off x="5184648" y="2856508"/>
            <a:ext cx="1828800" cy="0"/>
          </a:xfrm>
          <a:prstGeom prst="line">
            <a:avLst/>
          </a:prstGeom>
          <a:noFill/>
          <a:ln w="9525">
            <a:solidFill>
              <a:srgbClr val="E3E1D9"/>
            </a:solidFill>
            <a:prstDash val="solid"/>
          </a:ln>
        </p:spPr>
        <p:txBody>
          <a:bodyPr/>
          <a:lstStyle/>
          <a:p>
            <a:endParaRPr lang="en-US"/>
          </a:p>
        </p:txBody>
      </p:sp>
      <p:sp>
        <p:nvSpPr>
          <p:cNvPr id="33" name="Text 31"/>
          <p:cNvSpPr/>
          <p:nvPr/>
        </p:nvSpPr>
        <p:spPr>
          <a:xfrm>
            <a:off x="5184648" y="3032932"/>
            <a:ext cx="1828800" cy="1051560"/>
          </a:xfrm>
          <a:prstGeom prst="rect">
            <a:avLst/>
          </a:prstGeom>
          <a:noFill/>
          <a:ln/>
        </p:spPr>
        <p:txBody>
          <a:bodyPr wrap="square" lIns="0" tIns="0" rIns="0" bIns="0" rtlCol="0" anchor="ctr"/>
          <a:lstStyle/>
          <a:p>
            <a:pPr marL="0" indent="0">
              <a:buNone/>
            </a:pPr>
            <a:r>
              <a:rPr lang="en-US" sz="950" i="1" dirty="0">
                <a:solidFill>
                  <a:srgbClr val="24303B"/>
                </a:solidFill>
                <a:latin typeface="Calibri" pitchFamily="34" charset="0"/>
                <a:ea typeface="Calibri" pitchFamily="34" charset="-122"/>
                <a:cs typeface="Calibri" pitchFamily="34" charset="-120"/>
              </a:rPr>
              <a:t>Build-Demo-Refine Copilot · Test Generator</a:t>
            </a:r>
            <a:endParaRPr lang="en-US" sz="950" dirty="0"/>
          </a:p>
        </p:txBody>
      </p:sp>
      <p:sp>
        <p:nvSpPr>
          <p:cNvPr id="34" name="Shape 32"/>
          <p:cNvSpPr/>
          <p:nvPr/>
        </p:nvSpPr>
        <p:spPr>
          <a:xfrm>
            <a:off x="5184648" y="4387141"/>
            <a:ext cx="1828800" cy="256032"/>
          </a:xfrm>
          <a:prstGeom prst="roundRect">
            <a:avLst>
              <a:gd name="adj" fmla="val 21429"/>
            </a:avLst>
          </a:prstGeom>
          <a:solidFill>
            <a:srgbClr val="5580AC"/>
          </a:solidFill>
          <a:ln/>
        </p:spPr>
        <p:txBody>
          <a:bodyPr/>
          <a:lstStyle/>
          <a:p>
            <a:endParaRPr lang="en-US"/>
          </a:p>
        </p:txBody>
      </p:sp>
      <p:sp>
        <p:nvSpPr>
          <p:cNvPr id="35" name="Text 33"/>
          <p:cNvSpPr/>
          <p:nvPr/>
        </p:nvSpPr>
        <p:spPr>
          <a:xfrm>
            <a:off x="5184648" y="4387141"/>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Layer 3 · runs evals</a:t>
            </a:r>
            <a:endParaRPr lang="en-US" sz="950" dirty="0"/>
          </a:p>
        </p:txBody>
      </p:sp>
      <p:sp>
        <p:nvSpPr>
          <p:cNvPr id="36" name="Shape 34"/>
          <p:cNvSpPr/>
          <p:nvPr/>
        </p:nvSpPr>
        <p:spPr>
          <a:xfrm>
            <a:off x="7287768" y="1371600"/>
            <a:ext cx="2103120" cy="4160520"/>
          </a:xfrm>
          <a:prstGeom prst="roundRect">
            <a:avLst>
              <a:gd name="adj" fmla="val 4348"/>
            </a:avLst>
          </a:prstGeom>
          <a:solidFill>
            <a:srgbClr val="F3F6F6"/>
          </a:solidFill>
          <a:ln/>
        </p:spPr>
        <p:txBody>
          <a:bodyPr/>
          <a:lstStyle/>
          <a:p>
            <a:endParaRPr lang="en-US"/>
          </a:p>
        </p:txBody>
      </p:sp>
      <p:sp>
        <p:nvSpPr>
          <p:cNvPr id="37" name="Shape 35"/>
          <p:cNvSpPr/>
          <p:nvPr/>
        </p:nvSpPr>
        <p:spPr>
          <a:xfrm>
            <a:off x="7424928" y="1508760"/>
            <a:ext cx="365760" cy="365760"/>
          </a:xfrm>
          <a:prstGeom prst="roundRect">
            <a:avLst>
              <a:gd name="adj" fmla="val 50000"/>
            </a:avLst>
          </a:prstGeom>
          <a:solidFill>
            <a:srgbClr val="305F92"/>
          </a:solidFill>
          <a:ln/>
        </p:spPr>
        <p:txBody>
          <a:bodyPr/>
          <a:lstStyle/>
          <a:p>
            <a:endParaRPr lang="en-US"/>
          </a:p>
        </p:txBody>
      </p:sp>
      <p:sp>
        <p:nvSpPr>
          <p:cNvPr id="38" name="Text 36"/>
          <p:cNvSpPr/>
          <p:nvPr/>
        </p:nvSpPr>
        <p:spPr>
          <a:xfrm>
            <a:off x="7424928" y="15087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9" name="Text 37"/>
          <p:cNvSpPr/>
          <p:nvPr/>
        </p:nvSpPr>
        <p:spPr>
          <a:xfrm>
            <a:off x="7424928" y="1938528"/>
            <a:ext cx="1828800" cy="292608"/>
          </a:xfrm>
          <a:prstGeom prst="rect">
            <a:avLst/>
          </a:prstGeom>
          <a:noFill/>
          <a:ln/>
        </p:spPr>
        <p:txBody>
          <a:bodyPr wrap="square" lIns="0" tIns="0" rIns="0" bIns="0" rtlCol="0" anchor="ctr"/>
          <a:lstStyle/>
          <a:p>
            <a:pPr marL="0" indent="0">
              <a:buNone/>
            </a:pPr>
            <a:r>
              <a:rPr lang="en-US" sz="1450" b="1" dirty="0">
                <a:solidFill>
                  <a:srgbClr val="1B3B5F"/>
                </a:solidFill>
                <a:latin typeface="Calibri" pitchFamily="34" charset="0"/>
                <a:ea typeface="Calibri" pitchFamily="34" charset="-122"/>
                <a:cs typeface="Calibri" pitchFamily="34" charset="-120"/>
              </a:rPr>
              <a:t>Readiness</a:t>
            </a:r>
            <a:endParaRPr lang="en-US" sz="1450" dirty="0"/>
          </a:p>
        </p:txBody>
      </p:sp>
      <p:sp>
        <p:nvSpPr>
          <p:cNvPr id="40" name="Text 38"/>
          <p:cNvSpPr/>
          <p:nvPr/>
        </p:nvSpPr>
        <p:spPr>
          <a:xfrm>
            <a:off x="7424928" y="2267712"/>
            <a:ext cx="1828800" cy="685800"/>
          </a:xfrm>
          <a:prstGeom prst="rect">
            <a:avLst/>
          </a:prstGeom>
          <a:noFill/>
          <a:ln/>
        </p:spPr>
        <p:txBody>
          <a:bodyPr wrap="square" lIns="0" tIns="0" rIns="0" bIns="0" rtlCol="0" anchor="ctr"/>
          <a:lstStyle/>
          <a:p>
            <a:pPr marL="0" indent="0">
              <a:buNone/>
            </a:pPr>
            <a:r>
              <a:rPr lang="en-US" sz="1050" dirty="0">
                <a:solidFill>
                  <a:srgbClr val="24303B"/>
                </a:solidFill>
                <a:latin typeface="Calibri" pitchFamily="34" charset="0"/>
                <a:ea typeface="Calibri" pitchFamily="34" charset="-122"/>
                <a:cs typeface="Calibri" pitchFamily="34" charset="-120"/>
              </a:rPr>
              <a:t>Prepare environment, confirm compliance</a:t>
            </a:r>
            <a:endParaRPr lang="en-US" sz="1050" dirty="0"/>
          </a:p>
        </p:txBody>
      </p:sp>
      <p:sp>
        <p:nvSpPr>
          <p:cNvPr id="41" name="Shape 39"/>
          <p:cNvSpPr/>
          <p:nvPr/>
        </p:nvSpPr>
        <p:spPr>
          <a:xfrm>
            <a:off x="7424928" y="2856508"/>
            <a:ext cx="1828800" cy="0"/>
          </a:xfrm>
          <a:prstGeom prst="line">
            <a:avLst/>
          </a:prstGeom>
          <a:noFill/>
          <a:ln w="9525">
            <a:solidFill>
              <a:srgbClr val="E3E1D9"/>
            </a:solidFill>
            <a:prstDash val="solid"/>
          </a:ln>
        </p:spPr>
        <p:txBody>
          <a:bodyPr/>
          <a:lstStyle/>
          <a:p>
            <a:endParaRPr lang="en-US"/>
          </a:p>
        </p:txBody>
      </p:sp>
      <p:sp>
        <p:nvSpPr>
          <p:cNvPr id="43" name="Text 41"/>
          <p:cNvSpPr/>
          <p:nvPr/>
        </p:nvSpPr>
        <p:spPr>
          <a:xfrm>
            <a:off x="7424928" y="3032932"/>
            <a:ext cx="1828800" cy="1051560"/>
          </a:xfrm>
          <a:prstGeom prst="rect">
            <a:avLst/>
          </a:prstGeom>
          <a:noFill/>
          <a:ln/>
        </p:spPr>
        <p:txBody>
          <a:bodyPr wrap="square" lIns="0" tIns="0" rIns="0" bIns="0" rtlCol="0" anchor="ctr"/>
          <a:lstStyle/>
          <a:p>
            <a:pPr marL="0" indent="0">
              <a:buNone/>
            </a:pPr>
            <a:r>
              <a:rPr lang="en-US" sz="950" i="1" dirty="0">
                <a:solidFill>
                  <a:srgbClr val="24303B"/>
                </a:solidFill>
                <a:latin typeface="Calibri" pitchFamily="34" charset="0"/>
                <a:ea typeface="Calibri" pitchFamily="34" charset="-122"/>
                <a:cs typeface="Calibri" pitchFamily="34" charset="-120"/>
              </a:rPr>
              <a:t>Deployment Readiness Scorer · Runbook Generator</a:t>
            </a:r>
            <a:endParaRPr lang="en-US" sz="950" dirty="0"/>
          </a:p>
        </p:txBody>
      </p:sp>
      <p:sp>
        <p:nvSpPr>
          <p:cNvPr id="44" name="Shape 42"/>
          <p:cNvSpPr/>
          <p:nvPr/>
        </p:nvSpPr>
        <p:spPr>
          <a:xfrm>
            <a:off x="7424928" y="4387141"/>
            <a:ext cx="1828800" cy="256032"/>
          </a:xfrm>
          <a:prstGeom prst="roundRect">
            <a:avLst>
              <a:gd name="adj" fmla="val 21429"/>
            </a:avLst>
          </a:prstGeom>
          <a:solidFill>
            <a:srgbClr val="305F92"/>
          </a:solidFill>
          <a:ln/>
        </p:spPr>
        <p:txBody>
          <a:bodyPr/>
          <a:lstStyle/>
          <a:p>
            <a:endParaRPr lang="en-US"/>
          </a:p>
        </p:txBody>
      </p:sp>
      <p:sp>
        <p:nvSpPr>
          <p:cNvPr id="45" name="Text 43"/>
          <p:cNvSpPr/>
          <p:nvPr/>
        </p:nvSpPr>
        <p:spPr>
          <a:xfrm>
            <a:off x="7424928" y="4387141"/>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Layer 4 · production</a:t>
            </a:r>
            <a:endParaRPr lang="en-US" sz="950" dirty="0"/>
          </a:p>
        </p:txBody>
      </p:sp>
      <p:sp>
        <p:nvSpPr>
          <p:cNvPr id="46" name="Shape 44"/>
          <p:cNvSpPr/>
          <p:nvPr/>
        </p:nvSpPr>
        <p:spPr>
          <a:xfrm>
            <a:off x="9528048" y="1371600"/>
            <a:ext cx="2103120" cy="4160520"/>
          </a:xfrm>
          <a:prstGeom prst="roundRect">
            <a:avLst>
              <a:gd name="adj" fmla="val 4348"/>
            </a:avLst>
          </a:prstGeom>
          <a:solidFill>
            <a:srgbClr val="F3F6F6"/>
          </a:solidFill>
          <a:ln/>
        </p:spPr>
        <p:txBody>
          <a:bodyPr/>
          <a:lstStyle/>
          <a:p>
            <a:endParaRPr lang="en-US"/>
          </a:p>
        </p:txBody>
      </p:sp>
      <p:sp>
        <p:nvSpPr>
          <p:cNvPr id="47" name="Shape 45"/>
          <p:cNvSpPr/>
          <p:nvPr/>
        </p:nvSpPr>
        <p:spPr>
          <a:xfrm>
            <a:off x="9665208" y="1508760"/>
            <a:ext cx="365760" cy="365760"/>
          </a:xfrm>
          <a:prstGeom prst="roundRect">
            <a:avLst>
              <a:gd name="adj" fmla="val 50000"/>
            </a:avLst>
          </a:prstGeom>
          <a:solidFill>
            <a:srgbClr val="1B3B5F"/>
          </a:solidFill>
          <a:ln/>
        </p:spPr>
        <p:txBody>
          <a:bodyPr/>
          <a:lstStyle/>
          <a:p>
            <a:endParaRPr lang="en-US"/>
          </a:p>
        </p:txBody>
      </p:sp>
      <p:sp>
        <p:nvSpPr>
          <p:cNvPr id="48" name="Text 46"/>
          <p:cNvSpPr/>
          <p:nvPr/>
        </p:nvSpPr>
        <p:spPr>
          <a:xfrm>
            <a:off x="9665208" y="1508760"/>
            <a:ext cx="36576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49" name="Text 47"/>
          <p:cNvSpPr/>
          <p:nvPr/>
        </p:nvSpPr>
        <p:spPr>
          <a:xfrm>
            <a:off x="9665208" y="1938528"/>
            <a:ext cx="1828800" cy="292608"/>
          </a:xfrm>
          <a:prstGeom prst="rect">
            <a:avLst/>
          </a:prstGeom>
          <a:noFill/>
          <a:ln/>
        </p:spPr>
        <p:txBody>
          <a:bodyPr wrap="square" lIns="0" tIns="0" rIns="0" bIns="0" rtlCol="0" anchor="ctr"/>
          <a:lstStyle/>
          <a:p>
            <a:pPr marL="0" indent="0">
              <a:buNone/>
            </a:pPr>
            <a:r>
              <a:rPr lang="en-US" sz="1450" b="1" dirty="0">
                <a:solidFill>
                  <a:srgbClr val="1B3B5F"/>
                </a:solidFill>
                <a:latin typeface="Calibri" pitchFamily="34" charset="0"/>
                <a:ea typeface="Calibri" pitchFamily="34" charset="-122"/>
                <a:cs typeface="Calibri" pitchFamily="34" charset="-120"/>
              </a:rPr>
              <a:t>Operations</a:t>
            </a:r>
            <a:endParaRPr lang="en-US" sz="1450" dirty="0"/>
          </a:p>
        </p:txBody>
      </p:sp>
      <p:sp>
        <p:nvSpPr>
          <p:cNvPr id="50" name="Text 48"/>
          <p:cNvSpPr/>
          <p:nvPr/>
        </p:nvSpPr>
        <p:spPr>
          <a:xfrm>
            <a:off x="9665208" y="2267712"/>
            <a:ext cx="1828800" cy="685800"/>
          </a:xfrm>
          <a:prstGeom prst="rect">
            <a:avLst/>
          </a:prstGeom>
          <a:noFill/>
          <a:ln/>
        </p:spPr>
        <p:txBody>
          <a:bodyPr wrap="square" lIns="0" tIns="0" rIns="0" bIns="0" rtlCol="0" anchor="ctr"/>
          <a:lstStyle/>
          <a:p>
            <a:pPr marL="0" indent="0">
              <a:buNone/>
            </a:pPr>
            <a:r>
              <a:rPr lang="en-US" sz="1050" dirty="0">
                <a:solidFill>
                  <a:srgbClr val="24303B"/>
                </a:solidFill>
                <a:latin typeface="Calibri" pitchFamily="34" charset="0"/>
                <a:ea typeface="Calibri" pitchFamily="34" charset="-122"/>
                <a:cs typeface="Calibri" pitchFamily="34" charset="-120"/>
              </a:rPr>
              <a:t>Run, monitor, improve, feed back</a:t>
            </a:r>
            <a:endParaRPr lang="en-US" sz="1050" dirty="0"/>
          </a:p>
        </p:txBody>
      </p:sp>
      <p:sp>
        <p:nvSpPr>
          <p:cNvPr id="51" name="Shape 49"/>
          <p:cNvSpPr/>
          <p:nvPr/>
        </p:nvSpPr>
        <p:spPr>
          <a:xfrm>
            <a:off x="9665208" y="2856508"/>
            <a:ext cx="1828800" cy="0"/>
          </a:xfrm>
          <a:prstGeom prst="line">
            <a:avLst/>
          </a:prstGeom>
          <a:noFill/>
          <a:ln w="9525">
            <a:solidFill>
              <a:srgbClr val="E3E1D9"/>
            </a:solidFill>
            <a:prstDash val="solid"/>
          </a:ln>
        </p:spPr>
        <p:txBody>
          <a:bodyPr/>
          <a:lstStyle/>
          <a:p>
            <a:endParaRPr lang="en-US"/>
          </a:p>
        </p:txBody>
      </p:sp>
      <p:sp>
        <p:nvSpPr>
          <p:cNvPr id="53" name="Text 51"/>
          <p:cNvSpPr/>
          <p:nvPr/>
        </p:nvSpPr>
        <p:spPr>
          <a:xfrm>
            <a:off x="9665208" y="3032932"/>
            <a:ext cx="1828800" cy="1051560"/>
          </a:xfrm>
          <a:prstGeom prst="rect">
            <a:avLst/>
          </a:prstGeom>
          <a:noFill/>
          <a:ln/>
        </p:spPr>
        <p:txBody>
          <a:bodyPr wrap="square" lIns="0" tIns="0" rIns="0" bIns="0" rtlCol="0" anchor="ctr"/>
          <a:lstStyle/>
          <a:p>
            <a:pPr marL="0" indent="0">
              <a:buNone/>
            </a:pPr>
            <a:r>
              <a:rPr lang="en-US" sz="950" i="1" dirty="0">
                <a:solidFill>
                  <a:srgbClr val="24303B"/>
                </a:solidFill>
                <a:latin typeface="Calibri" pitchFamily="34" charset="0"/>
                <a:ea typeface="Calibri" pitchFamily="34" charset="-122"/>
                <a:cs typeface="Calibri" pitchFamily="34" charset="-120"/>
              </a:rPr>
              <a:t>Production Monitoring Agent · Cost Optimization Agent</a:t>
            </a:r>
            <a:endParaRPr lang="en-US" sz="950" dirty="0"/>
          </a:p>
        </p:txBody>
      </p:sp>
      <p:sp>
        <p:nvSpPr>
          <p:cNvPr id="54" name="Shape 52"/>
          <p:cNvSpPr/>
          <p:nvPr/>
        </p:nvSpPr>
        <p:spPr>
          <a:xfrm>
            <a:off x="9665208" y="4149397"/>
            <a:ext cx="1828800" cy="256032"/>
          </a:xfrm>
          <a:prstGeom prst="roundRect">
            <a:avLst>
              <a:gd name="adj" fmla="val 21429"/>
            </a:avLst>
          </a:prstGeom>
          <a:solidFill>
            <a:srgbClr val="305F92"/>
          </a:solidFill>
          <a:ln/>
        </p:spPr>
        <p:txBody>
          <a:bodyPr/>
          <a:lstStyle/>
          <a:p>
            <a:endParaRPr lang="en-US"/>
          </a:p>
        </p:txBody>
      </p:sp>
      <p:sp>
        <p:nvSpPr>
          <p:cNvPr id="55" name="Text 53"/>
          <p:cNvSpPr/>
          <p:nvPr/>
        </p:nvSpPr>
        <p:spPr>
          <a:xfrm>
            <a:off x="9665208" y="4149397"/>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Layer 4 · ops</a:t>
            </a:r>
            <a:endParaRPr lang="en-US" sz="950" dirty="0"/>
          </a:p>
        </p:txBody>
      </p:sp>
      <p:sp>
        <p:nvSpPr>
          <p:cNvPr id="56" name="Shape 54"/>
          <p:cNvSpPr/>
          <p:nvPr/>
        </p:nvSpPr>
        <p:spPr>
          <a:xfrm>
            <a:off x="9665208" y="4442005"/>
            <a:ext cx="1828800" cy="256032"/>
          </a:xfrm>
          <a:prstGeom prst="roundRect">
            <a:avLst>
              <a:gd name="adj" fmla="val 21429"/>
            </a:avLst>
          </a:prstGeom>
          <a:solidFill>
            <a:srgbClr val="1B3B5F"/>
          </a:solidFill>
          <a:ln/>
        </p:spPr>
        <p:txBody>
          <a:bodyPr/>
          <a:lstStyle/>
          <a:p>
            <a:endParaRPr lang="en-US"/>
          </a:p>
        </p:txBody>
      </p:sp>
      <p:sp>
        <p:nvSpPr>
          <p:cNvPr id="57" name="Text 55"/>
          <p:cNvSpPr/>
          <p:nvPr/>
        </p:nvSpPr>
        <p:spPr>
          <a:xfrm>
            <a:off x="9665208" y="4442005"/>
            <a:ext cx="1828800" cy="25603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Layer 5 · optimize</a:t>
            </a:r>
            <a:endParaRPr lang="en-US" sz="950" dirty="0"/>
          </a:p>
        </p:txBody>
      </p:sp>
      <p:sp>
        <p:nvSpPr>
          <p:cNvPr id="58" name="Shape 56"/>
          <p:cNvSpPr/>
          <p:nvPr/>
        </p:nvSpPr>
        <p:spPr>
          <a:xfrm>
            <a:off x="1618488" y="1261872"/>
            <a:ext cx="8961120" cy="0"/>
          </a:xfrm>
          <a:prstGeom prst="line">
            <a:avLst/>
          </a:prstGeom>
          <a:noFill/>
          <a:ln w="15875">
            <a:solidFill>
              <a:srgbClr val="5B6670"/>
            </a:solidFill>
            <a:prstDash val="dash"/>
            <a:tailEnd type="triangle"/>
          </a:ln>
        </p:spPr>
        <p:txBody>
          <a:bodyPr/>
          <a:lstStyle/>
          <a:p>
            <a:endParaRPr lang="en-US"/>
          </a:p>
        </p:txBody>
      </p:sp>
      <p:sp>
        <p:nvSpPr>
          <p:cNvPr id="59" name="Shape 57"/>
          <p:cNvSpPr/>
          <p:nvPr/>
        </p:nvSpPr>
        <p:spPr>
          <a:xfrm>
            <a:off x="1618488" y="1261872"/>
            <a:ext cx="0" cy="109728"/>
          </a:xfrm>
          <a:prstGeom prst="line">
            <a:avLst/>
          </a:prstGeom>
          <a:noFill/>
          <a:ln w="15875">
            <a:solidFill>
              <a:srgbClr val="5B6670"/>
            </a:solidFill>
            <a:prstDash val="solid"/>
          </a:ln>
        </p:spPr>
        <p:txBody>
          <a:bodyPr/>
          <a:lstStyle/>
          <a:p>
            <a:endParaRPr lang="en-US"/>
          </a:p>
        </p:txBody>
      </p:sp>
      <p:sp>
        <p:nvSpPr>
          <p:cNvPr id="60" name="Shape 58"/>
          <p:cNvSpPr/>
          <p:nvPr/>
        </p:nvSpPr>
        <p:spPr>
          <a:xfrm>
            <a:off x="10579608" y="1261872"/>
            <a:ext cx="0" cy="109728"/>
          </a:xfrm>
          <a:prstGeom prst="line">
            <a:avLst/>
          </a:prstGeom>
          <a:noFill/>
          <a:ln w="15875">
            <a:solidFill>
              <a:srgbClr val="5B6670"/>
            </a:solidFill>
            <a:prstDash val="solid"/>
          </a:ln>
        </p:spPr>
        <p:txBody>
          <a:bodyPr/>
          <a:lstStyle/>
          <a:p>
            <a:endParaRPr lang="en-US"/>
          </a:p>
        </p:txBody>
      </p:sp>
      <p:sp>
        <p:nvSpPr>
          <p:cNvPr id="61" name="Text 59"/>
          <p:cNvSpPr/>
          <p:nvPr/>
        </p:nvSpPr>
        <p:spPr>
          <a:xfrm>
            <a:off x="1618488" y="1024128"/>
            <a:ext cx="8961120" cy="201168"/>
          </a:xfrm>
          <a:prstGeom prst="rect">
            <a:avLst/>
          </a:prstGeom>
          <a:noFill/>
          <a:ln/>
        </p:spPr>
        <p:txBody>
          <a:bodyPr wrap="square" lIns="0" tIns="0" rIns="0" bIns="0" rtlCol="0" anchor="ctr"/>
          <a:lstStyle/>
          <a:p>
            <a:pPr marL="0" indent="0" algn="ctr">
              <a:buNone/>
            </a:pPr>
            <a:r>
              <a:rPr lang="en-US" sz="1000" i="1" dirty="0">
                <a:solidFill>
                  <a:srgbClr val="5B6670"/>
                </a:solidFill>
                <a:latin typeface="Calibri" pitchFamily="34" charset="0"/>
                <a:ea typeface="Calibri" pitchFamily="34" charset="-122"/>
                <a:cs typeface="Calibri" pitchFamily="34" charset="-120"/>
              </a:rPr>
              <a:t>operational insight feeds back into the next Discovery pass</a:t>
            </a:r>
            <a:endParaRPr lang="en-US" sz="1000" dirty="0"/>
          </a:p>
        </p:txBody>
      </p:sp>
      <p:sp>
        <p:nvSpPr>
          <p:cNvPr id="62" name="Shape 60"/>
          <p:cNvSpPr/>
          <p:nvPr/>
        </p:nvSpPr>
        <p:spPr>
          <a:xfrm>
            <a:off x="786003" y="4871773"/>
            <a:ext cx="146304" cy="146304"/>
          </a:xfrm>
          <a:prstGeom prst="roundRect">
            <a:avLst>
              <a:gd name="adj" fmla="val 18750"/>
            </a:avLst>
          </a:prstGeom>
          <a:solidFill>
            <a:srgbClr val="A9BEDA"/>
          </a:solidFill>
          <a:ln/>
        </p:spPr>
        <p:txBody>
          <a:bodyPr/>
          <a:lstStyle/>
          <a:p>
            <a:endParaRPr lang="en-US"/>
          </a:p>
        </p:txBody>
      </p:sp>
      <p:sp>
        <p:nvSpPr>
          <p:cNvPr id="63" name="Text 61"/>
          <p:cNvSpPr/>
          <p:nvPr/>
        </p:nvSpPr>
        <p:spPr>
          <a:xfrm>
            <a:off x="987171" y="4826053"/>
            <a:ext cx="1984248" cy="256032"/>
          </a:xfrm>
          <a:prstGeom prst="rect">
            <a:avLst/>
          </a:prstGeom>
          <a:noFill/>
          <a:ln/>
        </p:spPr>
        <p:txBody>
          <a:bodyPr wrap="square" lIns="0" tIns="0" rIns="0" bIns="0" rtlCol="0" anchor="ctr"/>
          <a:lstStyle/>
          <a:p>
            <a:pPr marL="0" indent="0">
              <a:buNone/>
            </a:pPr>
            <a:r>
              <a:rPr lang="en-US" sz="950" dirty="0">
                <a:solidFill>
                  <a:srgbClr val="5B6670"/>
                </a:solidFill>
                <a:latin typeface="Calibri" pitchFamily="34" charset="0"/>
                <a:ea typeface="Calibri" pitchFamily="34" charset="-122"/>
                <a:cs typeface="Calibri" pitchFamily="34" charset="-120"/>
              </a:rPr>
              <a:t>Layer 1 — model</a:t>
            </a:r>
            <a:endParaRPr lang="en-US" sz="950" dirty="0"/>
          </a:p>
        </p:txBody>
      </p:sp>
      <p:sp>
        <p:nvSpPr>
          <p:cNvPr id="64" name="Shape 62"/>
          <p:cNvSpPr/>
          <p:nvPr/>
        </p:nvSpPr>
        <p:spPr>
          <a:xfrm>
            <a:off x="2998851" y="4871773"/>
            <a:ext cx="146304" cy="146304"/>
          </a:xfrm>
          <a:prstGeom prst="roundRect">
            <a:avLst>
              <a:gd name="adj" fmla="val 18750"/>
            </a:avLst>
          </a:prstGeom>
          <a:solidFill>
            <a:srgbClr val="7FA0C4"/>
          </a:solidFill>
          <a:ln/>
        </p:spPr>
        <p:txBody>
          <a:bodyPr/>
          <a:lstStyle/>
          <a:p>
            <a:endParaRPr lang="en-US"/>
          </a:p>
        </p:txBody>
      </p:sp>
      <p:sp>
        <p:nvSpPr>
          <p:cNvPr id="65" name="Text 63"/>
          <p:cNvSpPr/>
          <p:nvPr/>
        </p:nvSpPr>
        <p:spPr>
          <a:xfrm>
            <a:off x="3200019" y="4826053"/>
            <a:ext cx="1984248" cy="256032"/>
          </a:xfrm>
          <a:prstGeom prst="rect">
            <a:avLst/>
          </a:prstGeom>
          <a:noFill/>
          <a:ln/>
        </p:spPr>
        <p:txBody>
          <a:bodyPr wrap="square" lIns="0" tIns="0" rIns="0" bIns="0" rtlCol="0" anchor="ctr"/>
          <a:lstStyle/>
          <a:p>
            <a:pPr marL="0" indent="0">
              <a:buNone/>
            </a:pPr>
            <a:r>
              <a:rPr lang="en-US" sz="950" dirty="0">
                <a:solidFill>
                  <a:srgbClr val="5B6670"/>
                </a:solidFill>
                <a:latin typeface="Calibri" pitchFamily="34" charset="0"/>
                <a:ea typeface="Calibri" pitchFamily="34" charset="-122"/>
                <a:cs typeface="Calibri" pitchFamily="34" charset="-120"/>
              </a:rPr>
              <a:t>Layer 2 — wrapping</a:t>
            </a:r>
            <a:endParaRPr lang="en-US" sz="950" dirty="0"/>
          </a:p>
        </p:txBody>
      </p:sp>
      <p:sp>
        <p:nvSpPr>
          <p:cNvPr id="66" name="Shape 64"/>
          <p:cNvSpPr/>
          <p:nvPr/>
        </p:nvSpPr>
        <p:spPr>
          <a:xfrm>
            <a:off x="5211699" y="4871773"/>
            <a:ext cx="146304" cy="146304"/>
          </a:xfrm>
          <a:prstGeom prst="roundRect">
            <a:avLst>
              <a:gd name="adj" fmla="val 18750"/>
            </a:avLst>
          </a:prstGeom>
          <a:solidFill>
            <a:srgbClr val="5580AC"/>
          </a:solidFill>
          <a:ln/>
        </p:spPr>
        <p:txBody>
          <a:bodyPr/>
          <a:lstStyle/>
          <a:p>
            <a:endParaRPr lang="en-US"/>
          </a:p>
        </p:txBody>
      </p:sp>
      <p:sp>
        <p:nvSpPr>
          <p:cNvPr id="67" name="Text 65"/>
          <p:cNvSpPr/>
          <p:nvPr/>
        </p:nvSpPr>
        <p:spPr>
          <a:xfrm>
            <a:off x="5412867" y="4826053"/>
            <a:ext cx="1984248" cy="256032"/>
          </a:xfrm>
          <a:prstGeom prst="rect">
            <a:avLst/>
          </a:prstGeom>
          <a:noFill/>
          <a:ln/>
        </p:spPr>
        <p:txBody>
          <a:bodyPr wrap="square" lIns="0" tIns="0" rIns="0" bIns="0" rtlCol="0" anchor="ctr"/>
          <a:lstStyle/>
          <a:p>
            <a:pPr marL="0" indent="0">
              <a:buNone/>
            </a:pPr>
            <a:r>
              <a:rPr lang="en-US" sz="950" dirty="0">
                <a:solidFill>
                  <a:srgbClr val="5B6670"/>
                </a:solidFill>
                <a:latin typeface="Calibri" pitchFamily="34" charset="0"/>
                <a:ea typeface="Calibri" pitchFamily="34" charset="-122"/>
                <a:cs typeface="Calibri" pitchFamily="34" charset="-120"/>
              </a:rPr>
              <a:t>Layer 3 — evals &amp; guardrails</a:t>
            </a:r>
            <a:endParaRPr lang="en-US" sz="950" dirty="0"/>
          </a:p>
        </p:txBody>
      </p:sp>
      <p:sp>
        <p:nvSpPr>
          <p:cNvPr id="68" name="Shape 66"/>
          <p:cNvSpPr/>
          <p:nvPr/>
        </p:nvSpPr>
        <p:spPr>
          <a:xfrm>
            <a:off x="7481697" y="4871773"/>
            <a:ext cx="146304" cy="146304"/>
          </a:xfrm>
          <a:prstGeom prst="roundRect">
            <a:avLst>
              <a:gd name="adj" fmla="val 18750"/>
            </a:avLst>
          </a:prstGeom>
          <a:solidFill>
            <a:srgbClr val="305F92"/>
          </a:solidFill>
          <a:ln/>
        </p:spPr>
        <p:txBody>
          <a:bodyPr/>
          <a:lstStyle/>
          <a:p>
            <a:endParaRPr lang="en-US"/>
          </a:p>
        </p:txBody>
      </p:sp>
      <p:sp>
        <p:nvSpPr>
          <p:cNvPr id="69" name="Text 67"/>
          <p:cNvSpPr/>
          <p:nvPr/>
        </p:nvSpPr>
        <p:spPr>
          <a:xfrm>
            <a:off x="7682865" y="4826053"/>
            <a:ext cx="1984248" cy="256032"/>
          </a:xfrm>
          <a:prstGeom prst="rect">
            <a:avLst/>
          </a:prstGeom>
          <a:noFill/>
          <a:ln/>
        </p:spPr>
        <p:txBody>
          <a:bodyPr wrap="square" lIns="0" tIns="0" rIns="0" bIns="0" rtlCol="0" anchor="ctr"/>
          <a:lstStyle/>
          <a:p>
            <a:pPr marL="0" indent="0">
              <a:buNone/>
            </a:pPr>
            <a:r>
              <a:rPr lang="en-US" sz="950" dirty="0">
                <a:solidFill>
                  <a:srgbClr val="5B6670"/>
                </a:solidFill>
                <a:latin typeface="Calibri" pitchFamily="34" charset="0"/>
                <a:ea typeface="Calibri" pitchFamily="34" charset="-122"/>
                <a:cs typeface="Calibri" pitchFamily="34" charset="-120"/>
              </a:rPr>
              <a:t>Layer 4 — production &amp; ops</a:t>
            </a:r>
            <a:endParaRPr lang="en-US" sz="950" dirty="0"/>
          </a:p>
        </p:txBody>
      </p:sp>
      <p:sp>
        <p:nvSpPr>
          <p:cNvPr id="70" name="Shape 68"/>
          <p:cNvSpPr/>
          <p:nvPr/>
        </p:nvSpPr>
        <p:spPr>
          <a:xfrm>
            <a:off x="9694545" y="4871773"/>
            <a:ext cx="146304" cy="146304"/>
          </a:xfrm>
          <a:prstGeom prst="roundRect">
            <a:avLst>
              <a:gd name="adj" fmla="val 18750"/>
            </a:avLst>
          </a:prstGeom>
          <a:solidFill>
            <a:srgbClr val="1B3B5F"/>
          </a:solidFill>
          <a:ln/>
        </p:spPr>
        <p:txBody>
          <a:bodyPr/>
          <a:lstStyle/>
          <a:p>
            <a:endParaRPr lang="en-US"/>
          </a:p>
        </p:txBody>
      </p:sp>
      <p:sp>
        <p:nvSpPr>
          <p:cNvPr id="71" name="Text 69"/>
          <p:cNvSpPr/>
          <p:nvPr/>
        </p:nvSpPr>
        <p:spPr>
          <a:xfrm>
            <a:off x="9895713" y="4826053"/>
            <a:ext cx="1984248" cy="256032"/>
          </a:xfrm>
          <a:prstGeom prst="rect">
            <a:avLst/>
          </a:prstGeom>
          <a:noFill/>
          <a:ln/>
        </p:spPr>
        <p:txBody>
          <a:bodyPr wrap="square" lIns="0" tIns="0" rIns="0" bIns="0" rtlCol="0" anchor="ctr"/>
          <a:lstStyle/>
          <a:p>
            <a:pPr marL="0" indent="0">
              <a:buNone/>
            </a:pPr>
            <a:r>
              <a:rPr lang="en-US" sz="950" dirty="0">
                <a:solidFill>
                  <a:srgbClr val="5B6670"/>
                </a:solidFill>
                <a:latin typeface="Calibri" pitchFamily="34" charset="0"/>
                <a:ea typeface="Calibri" pitchFamily="34" charset="-122"/>
                <a:cs typeface="Calibri" pitchFamily="34" charset="-120"/>
              </a:rPr>
              <a:t>Layer 5 — optimization</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ARCHITECTURE</a:t>
            </a:r>
            <a:endParaRPr lang="en-US" sz="1100" dirty="0"/>
          </a:p>
        </p:txBody>
      </p:sp>
      <p:sp>
        <p:nvSpPr>
          <p:cNvPr id="3" name="Text 1"/>
          <p:cNvSpPr/>
          <p:nvPr/>
        </p:nvSpPr>
        <p:spPr>
          <a:xfrm>
            <a:off x="548640" y="576072"/>
            <a:ext cx="11064240" cy="548640"/>
          </a:xfrm>
          <a:prstGeom prst="rect">
            <a:avLst/>
          </a:prstGeom>
          <a:noFill/>
          <a:ln/>
        </p:spPr>
        <p:txBody>
          <a:bodyPr wrap="square" lIns="0" tIns="0" rIns="0" bIns="0" rtlCol="0" anchor="ctr"/>
          <a:lstStyle/>
          <a:p>
            <a:pPr marL="0" indent="0">
              <a:buNone/>
            </a:pPr>
            <a:r>
              <a:rPr lang="en-US" sz="2200" b="1" dirty="0">
                <a:solidFill>
                  <a:srgbClr val="24303B"/>
                </a:solidFill>
                <a:latin typeface="Cambria" pitchFamily="34" charset="0"/>
                <a:ea typeface="Cambria" pitchFamily="34" charset="-122"/>
                <a:cs typeface="Cambria" pitchFamily="34" charset="-120"/>
              </a:rPr>
              <a:t>The full pipeline for the current POC</a:t>
            </a:r>
            <a:endParaRPr lang="en-US" sz="2200" dirty="0"/>
          </a:p>
        </p:txBody>
      </p:sp>
      <p:pic>
        <p:nvPicPr>
          <p:cNvPr id="4" name="Image 0" descr="/home/claude/assets/architecture_diagram.png"/>
          <p:cNvPicPr>
            <a:picLocks noChangeAspect="1"/>
          </p:cNvPicPr>
          <p:nvPr/>
        </p:nvPicPr>
        <p:blipFill>
          <a:blip r:embed="rId3"/>
          <a:stretch>
            <a:fillRect/>
          </a:stretch>
        </p:blipFill>
        <p:spPr>
          <a:xfrm>
            <a:off x="3630168" y="1143000"/>
            <a:ext cx="4937760" cy="54132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7">
    <p:bg>
      <p:bgPr>
        <a:solidFill>
          <a:srgbClr val="132B45"/>
        </a:solidFill>
        <a:effectLst/>
      </p:bgPr>
    </p:bg>
    <p:spTree>
      <p:nvGrpSpPr>
        <p:cNvPr id="1" name=""/>
        <p:cNvGrpSpPr/>
        <p:nvPr/>
      </p:nvGrpSpPr>
      <p:grpSpPr>
        <a:xfrm>
          <a:off x="0" y="0"/>
          <a:ext cx="0" cy="0"/>
          <a:chOff x="0" y="0"/>
          <a:chExt cx="0" cy="0"/>
        </a:xfrm>
      </p:grpSpPr>
      <p:sp>
        <p:nvSpPr>
          <p:cNvPr id="3" name="Text 1"/>
          <p:cNvSpPr/>
          <p:nvPr/>
        </p:nvSpPr>
        <p:spPr>
          <a:xfrm>
            <a:off x="2590800" y="3545868"/>
            <a:ext cx="5943600" cy="731520"/>
          </a:xfrm>
          <a:prstGeom prst="rect">
            <a:avLst/>
          </a:prstGeom>
          <a:noFill/>
          <a:ln/>
        </p:spPr>
        <p:txBody>
          <a:bodyPr wrap="square" lIns="0" tIns="0" rIns="0" bIns="0" rtlCol="0" anchor="ctr"/>
          <a:lstStyle/>
          <a:p>
            <a:pPr marL="0" indent="0">
              <a:buNone/>
            </a:pPr>
            <a:r>
              <a:rPr lang="en-US" sz="1600" dirty="0">
                <a:solidFill>
                  <a:srgbClr val="CADCE0"/>
                </a:solidFill>
                <a:latin typeface="Calibri" pitchFamily="34" charset="0"/>
                <a:ea typeface="Calibri" pitchFamily="34" charset="-122"/>
                <a:cs typeface="Calibri" pitchFamily="34" charset="-120"/>
              </a:rPr>
              <a:t>POC code — available to walk through.</a:t>
            </a:r>
            <a:endParaRPr lang="en-US" sz="1600" dirty="0"/>
          </a:p>
        </p:txBody>
      </p:sp>
      <p:sp>
        <p:nvSpPr>
          <p:cNvPr id="5" name="TextBox 4">
            <a:extLst>
              <a:ext uri="{FF2B5EF4-FFF2-40B4-BE49-F238E27FC236}">
                <a16:creationId xmlns:a16="http://schemas.microsoft.com/office/drawing/2014/main" id="{FA059914-4434-AD9B-5543-9937712DDF42}"/>
              </a:ext>
            </a:extLst>
          </p:cNvPr>
          <p:cNvSpPr txBox="1"/>
          <p:nvPr/>
        </p:nvSpPr>
        <p:spPr>
          <a:xfrm>
            <a:off x="5256622" y="1825214"/>
            <a:ext cx="1556836" cy="646331"/>
          </a:xfrm>
          <a:prstGeom prst="rect">
            <a:avLst/>
          </a:prstGeom>
          <a:noFill/>
        </p:spPr>
        <p:txBody>
          <a:bodyPr wrap="none">
            <a:spAutoFit/>
          </a:bodyPr>
          <a:lstStyle/>
          <a:p>
            <a:pPr algn="ctr">
              <a:defRPr sz="3600" b="1">
                <a:solidFill>
                  <a:srgbClr val="003366"/>
                </a:solidFill>
              </a:defRPr>
            </a:pPr>
            <a:r>
              <a:rPr dirty="0">
                <a:solidFill>
                  <a:schemeClr val="bg1"/>
                </a:solidFill>
              </a:rPr>
              <a:t>Closing</a:t>
            </a:r>
          </a:p>
        </p:txBody>
      </p:sp>
      <p:sp>
        <p:nvSpPr>
          <p:cNvPr id="7" name="TextBox 6">
            <a:extLst>
              <a:ext uri="{FF2B5EF4-FFF2-40B4-BE49-F238E27FC236}">
                <a16:creationId xmlns:a16="http://schemas.microsoft.com/office/drawing/2014/main" id="{55755B8C-D491-FEA3-D843-D9616715C76F}"/>
              </a:ext>
            </a:extLst>
          </p:cNvPr>
          <p:cNvSpPr txBox="1"/>
          <p:nvPr/>
        </p:nvSpPr>
        <p:spPr>
          <a:xfrm>
            <a:off x="2348023" y="2604247"/>
            <a:ext cx="8960786" cy="707886"/>
          </a:xfrm>
          <a:prstGeom prst="rect">
            <a:avLst/>
          </a:prstGeom>
          <a:noFill/>
        </p:spPr>
        <p:txBody>
          <a:bodyPr wrap="none">
            <a:spAutoFit/>
          </a:bodyPr>
          <a:lstStyle/>
          <a:p>
            <a:pPr algn="ctr">
              <a:defRPr sz="2000">
                <a:solidFill>
                  <a:srgbClr val="007A87"/>
                </a:solidFill>
              </a:defRPr>
            </a:pPr>
            <a:r>
              <a:rPr dirty="0"/>
              <a:t>Deterministic scoring at the center · LLMs in narrow roles · Guardrails that fail closed</a:t>
            </a:r>
          </a:p>
          <a:p>
            <a:pPr algn="ctr"/>
            <a:r>
              <a:rPr sz="2000" dirty="0">
                <a:solidFill>
                  <a:srgbClr val="007A87"/>
                </a:solidFill>
              </a:rPr>
              <a:t>Human confirmation where judgment matters · Clear path from POC to validation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LAYER 1</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The model — two tiers, contained non-determinism</a:t>
            </a:r>
            <a:endParaRPr lang="en-US" sz="2300" dirty="0"/>
          </a:p>
        </p:txBody>
      </p:sp>
      <p:sp>
        <p:nvSpPr>
          <p:cNvPr id="4" name="Shape 2"/>
          <p:cNvSpPr/>
          <p:nvPr/>
        </p:nvSpPr>
        <p:spPr>
          <a:xfrm>
            <a:off x="548640" y="1276571"/>
            <a:ext cx="5394960" cy="1874520"/>
          </a:xfrm>
          <a:prstGeom prst="roundRect">
            <a:avLst>
              <a:gd name="adj" fmla="val 2174"/>
            </a:avLst>
          </a:prstGeom>
          <a:solidFill>
            <a:srgbClr val="F3F6F6"/>
          </a:solidFill>
          <a:ln/>
        </p:spPr>
        <p:txBody>
          <a:bodyPr/>
          <a:lstStyle/>
          <a:p>
            <a:endParaRPr lang="en-US"/>
          </a:p>
        </p:txBody>
      </p:sp>
      <p:sp>
        <p:nvSpPr>
          <p:cNvPr id="5" name="Text 3"/>
          <p:cNvSpPr/>
          <p:nvPr/>
        </p:nvSpPr>
        <p:spPr>
          <a:xfrm>
            <a:off x="822960" y="1550891"/>
            <a:ext cx="4846320" cy="457200"/>
          </a:xfrm>
          <a:prstGeom prst="rect">
            <a:avLst/>
          </a:prstGeom>
          <a:noFill/>
          <a:ln/>
        </p:spPr>
        <p:txBody>
          <a:bodyPr wrap="square" lIns="0" tIns="0" rIns="0" bIns="0" rtlCol="0" anchor="ctr"/>
          <a:lstStyle/>
          <a:p>
            <a:pPr marL="0" indent="0">
              <a:buNone/>
            </a:pPr>
            <a:r>
              <a:rPr lang="en-US" sz="1500" b="1" dirty="0">
                <a:solidFill>
                  <a:srgbClr val="1B3B5F"/>
                </a:solidFill>
                <a:latin typeface="Calibri" pitchFamily="34" charset="0"/>
                <a:ea typeface="Calibri" pitchFamily="34" charset="-122"/>
                <a:cs typeface="Calibri" pitchFamily="34" charset="-120"/>
              </a:rPr>
              <a:t>Query parsing &amp; narration</a:t>
            </a:r>
            <a:endParaRPr lang="en-US" sz="1500" dirty="0"/>
          </a:p>
        </p:txBody>
      </p:sp>
      <p:sp>
        <p:nvSpPr>
          <p:cNvPr id="6" name="Text 4"/>
          <p:cNvSpPr/>
          <p:nvPr/>
        </p:nvSpPr>
        <p:spPr>
          <a:xfrm>
            <a:off x="822960" y="2053811"/>
            <a:ext cx="4846320" cy="1352774"/>
          </a:xfrm>
          <a:prstGeom prst="rect">
            <a:avLst/>
          </a:prstGeom>
          <a:noFill/>
          <a:ln/>
        </p:spPr>
        <p:txBody>
          <a:bodyPr wrap="square" lIns="0" tIns="0" rIns="0" bIns="0" rtlCol="0" anchor="ctr"/>
          <a:lstStyle/>
          <a:p>
            <a:pPr marL="0" indent="0">
              <a:buNone/>
            </a:pPr>
            <a:r>
              <a:rPr lang="en-US" sz="1300" dirty="0">
                <a:solidFill>
                  <a:srgbClr val="24303B"/>
                </a:solidFill>
                <a:latin typeface="Calibri" pitchFamily="34" charset="0"/>
                <a:ea typeface="Calibri" pitchFamily="34" charset="-122"/>
                <a:cs typeface="Calibri" pitchFamily="34" charset="-120"/>
              </a:rPr>
              <a:t>Small, fast model. Forced into structured output — a parsed query or a narrative template — so its non-determinism is contained by schema validation, not trusted on faith.</a:t>
            </a:r>
            <a:endParaRPr lang="en-US" sz="1300" dirty="0"/>
          </a:p>
        </p:txBody>
      </p:sp>
      <p:sp>
        <p:nvSpPr>
          <p:cNvPr id="7" name="Shape 5"/>
          <p:cNvSpPr/>
          <p:nvPr/>
        </p:nvSpPr>
        <p:spPr>
          <a:xfrm>
            <a:off x="6217920" y="1276572"/>
            <a:ext cx="5394960" cy="1874520"/>
          </a:xfrm>
          <a:prstGeom prst="roundRect">
            <a:avLst>
              <a:gd name="adj" fmla="val 2174"/>
            </a:avLst>
          </a:prstGeom>
          <a:solidFill>
            <a:srgbClr val="F3F6F6"/>
          </a:solidFill>
          <a:ln/>
        </p:spPr>
        <p:txBody>
          <a:bodyPr/>
          <a:lstStyle/>
          <a:p>
            <a:endParaRPr lang="en-US"/>
          </a:p>
        </p:txBody>
      </p:sp>
      <p:sp>
        <p:nvSpPr>
          <p:cNvPr id="8" name="Text 6"/>
          <p:cNvSpPr/>
          <p:nvPr/>
        </p:nvSpPr>
        <p:spPr>
          <a:xfrm>
            <a:off x="6492240" y="1550891"/>
            <a:ext cx="4846320" cy="457200"/>
          </a:xfrm>
          <a:prstGeom prst="rect">
            <a:avLst/>
          </a:prstGeom>
          <a:noFill/>
          <a:ln/>
        </p:spPr>
        <p:txBody>
          <a:bodyPr wrap="square" lIns="0" tIns="0" rIns="0" bIns="0" rtlCol="0" anchor="ctr"/>
          <a:lstStyle/>
          <a:p>
            <a:pPr marL="0" indent="0">
              <a:buNone/>
            </a:pPr>
            <a:r>
              <a:rPr lang="en-US" sz="1500" b="1" dirty="0">
                <a:solidFill>
                  <a:srgbClr val="A8433B"/>
                </a:solidFill>
                <a:latin typeface="Calibri" pitchFamily="34" charset="0"/>
                <a:ea typeface="Calibri" pitchFamily="34" charset="-122"/>
                <a:cs typeface="Calibri" pitchFamily="34" charset="-120"/>
              </a:rPr>
              <a:t>Overlay extraction</a:t>
            </a:r>
            <a:endParaRPr lang="en-US" sz="1500" dirty="0"/>
          </a:p>
        </p:txBody>
      </p:sp>
      <p:sp>
        <p:nvSpPr>
          <p:cNvPr id="9" name="Text 7"/>
          <p:cNvSpPr/>
          <p:nvPr/>
        </p:nvSpPr>
        <p:spPr>
          <a:xfrm>
            <a:off x="6492240" y="2053811"/>
            <a:ext cx="4846320" cy="1097280"/>
          </a:xfrm>
          <a:prstGeom prst="rect">
            <a:avLst/>
          </a:prstGeom>
          <a:noFill/>
          <a:ln/>
        </p:spPr>
        <p:txBody>
          <a:bodyPr wrap="square" lIns="0" tIns="0" rIns="0" bIns="0" rtlCol="0" anchor="ctr"/>
          <a:lstStyle/>
          <a:p>
            <a:pPr marL="0" indent="0">
              <a:buNone/>
            </a:pPr>
            <a:r>
              <a:rPr lang="en-US" sz="1300" dirty="0">
                <a:solidFill>
                  <a:srgbClr val="24303B"/>
                </a:solidFill>
                <a:latin typeface="Calibri" pitchFamily="34" charset="0"/>
                <a:ea typeface="Calibri" pitchFamily="34" charset="-122"/>
                <a:cs typeface="Calibri" pitchFamily="34" charset="-120"/>
              </a:rPr>
              <a:t>Stronger model. Harder judgment call — reading a policy notice or incident disclosure into a 10-field structured schema. Paired with a mandatory human-review gate before anything it produces goes live.</a:t>
            </a:r>
            <a:endParaRPr lang="en-US" sz="1300" dirty="0"/>
          </a:p>
        </p:txBody>
      </p:sp>
      <p:sp>
        <p:nvSpPr>
          <p:cNvPr id="11" name="Text 0">
            <a:extLst>
              <a:ext uri="{FF2B5EF4-FFF2-40B4-BE49-F238E27FC236}">
                <a16:creationId xmlns:a16="http://schemas.microsoft.com/office/drawing/2014/main" id="{32D8411A-A017-6FEA-C436-6967BE28708B}"/>
              </a:ext>
            </a:extLst>
          </p:cNvPr>
          <p:cNvSpPr/>
          <p:nvPr/>
        </p:nvSpPr>
        <p:spPr>
          <a:xfrm>
            <a:off x="563880" y="3675888"/>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LAYER 2</a:t>
            </a:r>
            <a:endParaRPr lang="en-US" sz="1100" dirty="0"/>
          </a:p>
        </p:txBody>
      </p:sp>
      <p:sp>
        <p:nvSpPr>
          <p:cNvPr id="13" name="Text 1">
            <a:extLst>
              <a:ext uri="{FF2B5EF4-FFF2-40B4-BE49-F238E27FC236}">
                <a16:creationId xmlns:a16="http://schemas.microsoft.com/office/drawing/2014/main" id="{9E429F03-8D02-60DE-0614-46C8FC920DAE}"/>
              </a:ext>
            </a:extLst>
          </p:cNvPr>
          <p:cNvSpPr/>
          <p:nvPr/>
        </p:nvSpPr>
        <p:spPr>
          <a:xfrm>
            <a:off x="563880" y="3931920"/>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Knowledge, tools, memory</a:t>
            </a:r>
            <a:endParaRPr lang="en-US" sz="2300" dirty="0"/>
          </a:p>
        </p:txBody>
      </p:sp>
      <p:graphicFrame>
        <p:nvGraphicFramePr>
          <p:cNvPr id="15" name="Table 0">
            <a:extLst>
              <a:ext uri="{FF2B5EF4-FFF2-40B4-BE49-F238E27FC236}">
                <a16:creationId xmlns:a16="http://schemas.microsoft.com/office/drawing/2014/main" id="{7B7353B1-327F-36E0-0784-9094B17EE6DB}"/>
              </a:ext>
            </a:extLst>
          </p:cNvPr>
          <p:cNvGraphicFramePr>
            <a:graphicFrameLocks noGrp="1"/>
          </p:cNvGraphicFramePr>
          <p:nvPr>
            <p:extLst>
              <p:ext uri="{D42A27DB-BD31-4B8C-83A1-F6EECF244321}">
                <p14:modId xmlns:p14="http://schemas.microsoft.com/office/powerpoint/2010/main" val="1962026648"/>
              </p:ext>
            </p:extLst>
          </p:nvPr>
        </p:nvGraphicFramePr>
        <p:xfrm>
          <a:off x="563880" y="4521708"/>
          <a:ext cx="11064240" cy="1714500"/>
        </p:xfrm>
        <a:graphic>
          <a:graphicData uri="http://schemas.openxmlformats.org/drawingml/2006/table">
            <a:tbl>
              <a:tblPr/>
              <a:tblGrid>
                <a:gridCol w="237744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Design</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Knowledge</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Indicator registry and driver baselines, re-scoped from country-level to federal CMS policy, state Medicaid policy, and a thin international/supply-chain layer. </a:t>
                      </a:r>
                    </a:p>
                    <a:p>
                      <a:pPr marL="0" indent="0">
                        <a:buNone/>
                      </a:pPr>
                      <a:r>
                        <a:rPr lang="en-US" sz="1100" dirty="0">
                          <a:solidFill>
                            <a:srgbClr val="24303B"/>
                          </a:solidFill>
                          <a:latin typeface="Calibri" pitchFamily="34" charset="0"/>
                          <a:ea typeface="Calibri" pitchFamily="34" charset="-122"/>
                          <a:cs typeface="Calibri" pitchFamily="34" charset="-120"/>
                        </a:rPr>
                        <a:t>Structured knowledge, not document RAG — the one retrieval-style use is surfacing recent news for overlay extraction.</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Tools</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Deliberately narrow, typed set: get_driver_baseline, run_scenario, get_component_impact, propose_overlay_event. </a:t>
                      </a:r>
                    </a:p>
                    <a:p>
                      <a:pPr marL="0" indent="0">
                        <a:buNone/>
                      </a:pPr>
                      <a:r>
                        <a:rPr lang="en-US" sz="1100" dirty="0">
                          <a:solidFill>
                            <a:srgbClr val="24303B"/>
                          </a:solidFill>
                          <a:latin typeface="Calibri" pitchFamily="34" charset="0"/>
                          <a:ea typeface="Calibri" pitchFamily="34" charset="-122"/>
                          <a:cs typeface="Calibri" pitchFamily="34" charset="-120"/>
                        </a:rPr>
                        <a:t>One workflow, not four.</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Memory</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Session-scoped scenario state only, so a user can chain follow-up questions.</a:t>
                      </a:r>
                    </a:p>
                    <a:p>
                      <a:pPr marL="0" indent="0">
                        <a:buNone/>
                      </a:pPr>
                      <a:r>
                        <a:rPr lang="en-US" sz="1100" dirty="0">
                          <a:solidFill>
                            <a:srgbClr val="24303B"/>
                          </a:solidFill>
                          <a:latin typeface="Calibri" pitchFamily="34" charset="0"/>
                          <a:ea typeface="Calibri" pitchFamily="34" charset="-122"/>
                          <a:cs typeface="Calibri" pitchFamily="34" charset="-120"/>
                        </a:rPr>
                        <a:t>No long-term user memory in v1 — nothing in the problem calls for it.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7">
            <a:extLst>
              <a:ext uri="{FF2B5EF4-FFF2-40B4-BE49-F238E27FC236}">
                <a16:creationId xmlns:a16="http://schemas.microsoft.com/office/drawing/2014/main" id="{026340FE-E7C6-A916-BA02-5F8E9A52B332}"/>
              </a:ext>
            </a:extLst>
          </p:cNvPr>
          <p:cNvSpPr/>
          <p:nvPr/>
        </p:nvSpPr>
        <p:spPr>
          <a:xfrm>
            <a:off x="635848" y="3566194"/>
            <a:ext cx="10908792"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LAYER 3</a:t>
            </a:r>
            <a:endParaRPr lang="en-US" sz="1100" dirty="0"/>
          </a:p>
        </p:txBody>
      </p:sp>
      <p:sp>
        <p:nvSpPr>
          <p:cNvPr id="3" name="Text 1"/>
          <p:cNvSpPr/>
          <p:nvPr/>
        </p:nvSpPr>
        <p:spPr>
          <a:xfrm>
            <a:off x="548640" y="48531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Evals and guardrails — the center of the design</a:t>
            </a:r>
            <a:endParaRPr lang="en-US" sz="2300" dirty="0"/>
          </a:p>
        </p:txBody>
      </p:sp>
      <p:sp>
        <p:nvSpPr>
          <p:cNvPr id="4" name="Shape 2"/>
          <p:cNvSpPr/>
          <p:nvPr/>
        </p:nvSpPr>
        <p:spPr>
          <a:xfrm>
            <a:off x="548640" y="1220776"/>
            <a:ext cx="5394960" cy="1874520"/>
          </a:xfrm>
          <a:prstGeom prst="roundRect">
            <a:avLst>
              <a:gd name="adj" fmla="val 2174"/>
            </a:avLst>
          </a:prstGeom>
          <a:solidFill>
            <a:srgbClr val="FBEAEA"/>
          </a:solidFill>
          <a:ln/>
        </p:spPr>
        <p:txBody>
          <a:bodyPr/>
          <a:lstStyle/>
          <a:p>
            <a:endParaRPr lang="en-US"/>
          </a:p>
        </p:txBody>
      </p:sp>
      <p:sp>
        <p:nvSpPr>
          <p:cNvPr id="5" name="Text 3"/>
          <p:cNvSpPr/>
          <p:nvPr/>
        </p:nvSpPr>
        <p:spPr>
          <a:xfrm>
            <a:off x="822960" y="1091677"/>
            <a:ext cx="4846320" cy="457200"/>
          </a:xfrm>
          <a:prstGeom prst="rect">
            <a:avLst/>
          </a:prstGeom>
          <a:noFill/>
          <a:ln/>
        </p:spPr>
        <p:txBody>
          <a:bodyPr wrap="square" lIns="0" tIns="0" rIns="0" bIns="0" rtlCol="0" anchor="ctr"/>
          <a:lstStyle/>
          <a:p>
            <a:pPr marL="0" indent="0">
              <a:buNone/>
            </a:pPr>
            <a:r>
              <a:rPr lang="en-US" sz="1500" b="1" dirty="0">
                <a:solidFill>
                  <a:srgbClr val="A8433B"/>
                </a:solidFill>
                <a:latin typeface="Calibri" pitchFamily="34" charset="0"/>
                <a:ea typeface="Calibri" pitchFamily="34" charset="-122"/>
                <a:cs typeface="Calibri" pitchFamily="34" charset="-120"/>
              </a:rPr>
              <a:t>Guardrails</a:t>
            </a:r>
            <a:endParaRPr lang="en-US" sz="1500" dirty="0"/>
          </a:p>
        </p:txBody>
      </p:sp>
      <p:sp>
        <p:nvSpPr>
          <p:cNvPr id="6" name="Text 4"/>
          <p:cNvSpPr/>
          <p:nvPr/>
        </p:nvSpPr>
        <p:spPr>
          <a:xfrm>
            <a:off x="822960" y="1469087"/>
            <a:ext cx="4846320" cy="1567927"/>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The model never generates a score, only structured inputs a deterministic engine consumes</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Every parsed query is schema-validated before it reaches the quant core</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Overlay events are staged, never live, until a human confirms</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A confidence floor blocks a pathway recommendation from surfacing at all</a:t>
            </a:r>
            <a:endParaRPr lang="en-US" sz="1250" dirty="0"/>
          </a:p>
        </p:txBody>
      </p:sp>
      <p:sp>
        <p:nvSpPr>
          <p:cNvPr id="7" name="Shape 5"/>
          <p:cNvSpPr/>
          <p:nvPr/>
        </p:nvSpPr>
        <p:spPr>
          <a:xfrm>
            <a:off x="6217920" y="1220776"/>
            <a:ext cx="5394960" cy="1874520"/>
          </a:xfrm>
          <a:prstGeom prst="roundRect">
            <a:avLst>
              <a:gd name="adj" fmla="val 2174"/>
            </a:avLst>
          </a:prstGeom>
          <a:solidFill>
            <a:srgbClr val="FBEAEA"/>
          </a:solidFill>
          <a:ln/>
        </p:spPr>
        <p:txBody>
          <a:bodyPr/>
          <a:lstStyle/>
          <a:p>
            <a:endParaRPr lang="en-US"/>
          </a:p>
        </p:txBody>
      </p:sp>
      <p:sp>
        <p:nvSpPr>
          <p:cNvPr id="8" name="Text 6"/>
          <p:cNvSpPr/>
          <p:nvPr/>
        </p:nvSpPr>
        <p:spPr>
          <a:xfrm>
            <a:off x="6492240" y="1091677"/>
            <a:ext cx="4846320" cy="457200"/>
          </a:xfrm>
          <a:prstGeom prst="rect">
            <a:avLst/>
          </a:prstGeom>
          <a:noFill/>
          <a:ln/>
        </p:spPr>
        <p:txBody>
          <a:bodyPr wrap="square" lIns="0" tIns="0" rIns="0" bIns="0" rtlCol="0" anchor="ctr"/>
          <a:lstStyle/>
          <a:p>
            <a:pPr marL="0" indent="0">
              <a:buNone/>
            </a:pPr>
            <a:r>
              <a:rPr lang="en-US" sz="1500" b="1" dirty="0">
                <a:solidFill>
                  <a:srgbClr val="A8433B"/>
                </a:solidFill>
                <a:latin typeface="Calibri" pitchFamily="34" charset="0"/>
                <a:ea typeface="Calibri" pitchFamily="34" charset="-122"/>
                <a:cs typeface="Calibri" pitchFamily="34" charset="-120"/>
              </a:rPr>
              <a:t>Evals</a:t>
            </a:r>
            <a:endParaRPr lang="en-US" sz="1500" dirty="0"/>
          </a:p>
        </p:txBody>
      </p:sp>
      <p:sp>
        <p:nvSpPr>
          <p:cNvPr id="9" name="Text 7"/>
          <p:cNvSpPr/>
          <p:nvPr/>
        </p:nvSpPr>
        <p:spPr>
          <a:xfrm>
            <a:off x="6492240" y="1469087"/>
            <a:ext cx="4846320" cy="1567927"/>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Query parsing: labeled NL question to structured-object accuracy, run on every deploy</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Overlay extraction: graded against double-rated ground truth, not a single label, since two analysts would plausibly disagree by ±1 point</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Core validation eval: </a:t>
            </a:r>
            <a:r>
              <a:rPr lang="en-US" sz="1250" dirty="0" err="1">
                <a:solidFill>
                  <a:srgbClr val="24303B"/>
                </a:solidFill>
                <a:latin typeface="Calibri" pitchFamily="34" charset="0"/>
                <a:ea typeface="Calibri" pitchFamily="34" charset="-122"/>
                <a:cs typeface="Calibri" pitchFamily="34" charset="-120"/>
              </a:rPr>
              <a:t>backtest</a:t>
            </a:r>
            <a:r>
              <a:rPr lang="en-US" sz="1250" dirty="0">
                <a:solidFill>
                  <a:srgbClr val="24303B"/>
                </a:solidFill>
                <a:latin typeface="Calibri" pitchFamily="34" charset="0"/>
                <a:ea typeface="Calibri" pitchFamily="34" charset="-122"/>
                <a:cs typeface="Calibri" pitchFamily="34" charset="-120"/>
              </a:rPr>
              <a:t> driver baselines against real, disclosed financial outcomes</a:t>
            </a:r>
            <a:endParaRPr lang="en-US" sz="1250" dirty="0"/>
          </a:p>
        </p:txBody>
      </p:sp>
      <p:sp>
        <p:nvSpPr>
          <p:cNvPr id="11" name="Text 0">
            <a:extLst>
              <a:ext uri="{FF2B5EF4-FFF2-40B4-BE49-F238E27FC236}">
                <a16:creationId xmlns:a16="http://schemas.microsoft.com/office/drawing/2014/main" id="{333672D0-7F4C-C2EF-A156-3E03F253BB72}"/>
              </a:ext>
            </a:extLst>
          </p:cNvPr>
          <p:cNvSpPr/>
          <p:nvPr/>
        </p:nvSpPr>
        <p:spPr>
          <a:xfrm>
            <a:off x="548640" y="3443069"/>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LAYER 4</a:t>
            </a:r>
            <a:endParaRPr lang="en-US" sz="1100" dirty="0"/>
          </a:p>
        </p:txBody>
      </p:sp>
      <p:sp>
        <p:nvSpPr>
          <p:cNvPr id="13" name="Text 1">
            <a:extLst>
              <a:ext uri="{FF2B5EF4-FFF2-40B4-BE49-F238E27FC236}">
                <a16:creationId xmlns:a16="http://schemas.microsoft.com/office/drawing/2014/main" id="{841616B2-0DBE-FB27-11FE-964FC72EFE1A}"/>
              </a:ext>
            </a:extLst>
          </p:cNvPr>
          <p:cNvSpPr/>
          <p:nvPr/>
        </p:nvSpPr>
        <p:spPr>
          <a:xfrm>
            <a:off x="548640" y="3537731"/>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Production and ops — targets, not measured numbers</a:t>
            </a:r>
            <a:endParaRPr lang="en-US" sz="2300" dirty="0"/>
          </a:p>
        </p:txBody>
      </p:sp>
      <p:graphicFrame>
        <p:nvGraphicFramePr>
          <p:cNvPr id="15" name="Table 0">
            <a:extLst>
              <a:ext uri="{FF2B5EF4-FFF2-40B4-BE49-F238E27FC236}">
                <a16:creationId xmlns:a16="http://schemas.microsoft.com/office/drawing/2014/main" id="{5B45A0A9-7259-B6F5-3A57-F0BE7782DE85}"/>
              </a:ext>
            </a:extLst>
          </p:cNvPr>
          <p:cNvGraphicFramePr>
            <a:graphicFrameLocks noGrp="1"/>
          </p:cNvGraphicFramePr>
          <p:nvPr>
            <p:extLst>
              <p:ext uri="{D42A27DB-BD31-4B8C-83A1-F6EECF244321}">
                <p14:modId xmlns:p14="http://schemas.microsoft.com/office/powerpoint/2010/main" val="4068670679"/>
              </p:ext>
            </p:extLst>
          </p:nvPr>
        </p:nvGraphicFramePr>
        <p:xfrm>
          <a:off x="548640" y="4147689"/>
          <a:ext cx="11064240" cy="1805940"/>
        </p:xfrm>
        <a:graphic>
          <a:graphicData uri="http://schemas.openxmlformats.org/drawingml/2006/table">
            <a:tbl>
              <a:tblPr/>
              <a:tblGrid>
                <a:gridCol w="2011680">
                  <a:extLst>
                    <a:ext uri="{9D8B030D-6E8A-4147-A177-3AD203B41FA5}">
                      <a16:colId xmlns:a16="http://schemas.microsoft.com/office/drawing/2014/main" val="20000"/>
                    </a:ext>
                  </a:extLst>
                </a:gridCol>
                <a:gridCol w="9052560">
                  <a:extLst>
                    <a:ext uri="{9D8B030D-6E8A-4147-A177-3AD203B41FA5}">
                      <a16:colId xmlns:a16="http://schemas.microsoft.com/office/drawing/2014/main" val="20001"/>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Concern</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Target design</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Latency</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Deterministic quant core: sub-100ms (cached, refreshed on source cadence, not per query). Query parse: target &lt;500ms. Narrative generation: target &lt;800ms. End-to-end cached query: target 1-2s.</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Cost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Scales with user queries (1-2 small-model calls per session for parse and narrate), not with dataset size — the right property for a many-user, self-serve system.</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Observability</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Every scenario run is a traceable span: parsed query to resolved segment to driver-baseline version to weight version to final score. 'Why did this number change' has a real, logged answer.</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Rollback</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Parameter sets (severity-curve constants, blend weights, betas) are versioned. A bad recalibration is a revert, not a fire drill.</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4"/>
                  </a:ext>
                </a:extLst>
              </a:tr>
            </a:tbl>
          </a:graphicData>
        </a:graphic>
      </p:graphicFrame>
      <p:sp>
        <p:nvSpPr>
          <p:cNvPr id="17" name="Text 2">
            <a:extLst>
              <a:ext uri="{FF2B5EF4-FFF2-40B4-BE49-F238E27FC236}">
                <a16:creationId xmlns:a16="http://schemas.microsoft.com/office/drawing/2014/main" id="{3641DAEC-FABC-00A9-6383-E9B5618F8473}"/>
              </a:ext>
            </a:extLst>
          </p:cNvPr>
          <p:cNvSpPr/>
          <p:nvPr/>
        </p:nvSpPr>
        <p:spPr>
          <a:xfrm>
            <a:off x="548640" y="5989320"/>
            <a:ext cx="11064240" cy="457200"/>
          </a:xfrm>
          <a:prstGeom prst="rect">
            <a:avLst/>
          </a:prstGeom>
          <a:noFill/>
          <a:ln/>
        </p:spPr>
        <p:txBody>
          <a:bodyPr wrap="square" lIns="0" tIns="0" rIns="0" bIns="0" rtlCol="0" anchor="ctr"/>
          <a:lstStyle/>
          <a:p>
            <a:pPr marL="0" indent="0">
              <a:buNone/>
            </a:pPr>
            <a:r>
              <a:rPr lang="en-US" sz="1150" i="1" dirty="0">
                <a:solidFill>
                  <a:srgbClr val="5B6670"/>
                </a:solidFill>
                <a:latin typeface="Calibri" pitchFamily="34" charset="0"/>
                <a:ea typeface="Calibri" pitchFamily="34" charset="-122"/>
                <a:cs typeface="Calibri" pitchFamily="34" charset="-120"/>
              </a:rPr>
              <a:t>Labeled explicitly as target SLAs from the design, not measured production numbers — consistent with this being a designed-but-unvalidated system.</a:t>
            </a:r>
            <a:endParaRPr lang="en-US" sz="1150" dirty="0"/>
          </a:p>
        </p:txBody>
      </p:sp>
      <p:sp>
        <p:nvSpPr>
          <p:cNvPr id="19" name="Shape 7">
            <a:extLst>
              <a:ext uri="{FF2B5EF4-FFF2-40B4-BE49-F238E27FC236}">
                <a16:creationId xmlns:a16="http://schemas.microsoft.com/office/drawing/2014/main" id="{6D746C11-ED41-24C3-1227-DBDDD3B72FE6}"/>
              </a:ext>
            </a:extLst>
          </p:cNvPr>
          <p:cNvSpPr/>
          <p:nvPr/>
        </p:nvSpPr>
        <p:spPr>
          <a:xfrm>
            <a:off x="635848" y="3375122"/>
            <a:ext cx="10908792" cy="0"/>
          </a:xfrm>
          <a:prstGeom prst="line">
            <a:avLst/>
          </a:prstGeom>
          <a:ln/>
        </p:spPr>
        <p:style>
          <a:lnRef idx="1">
            <a:schemeClr val="dk1"/>
          </a:lnRef>
          <a:fillRef idx="0">
            <a:schemeClr val="dk1"/>
          </a:fillRef>
          <a:effectRef idx="0">
            <a:schemeClr val="dk1"/>
          </a:effectRef>
          <a:fontRef idx="minor">
            <a:schemeClr val="tx1"/>
          </a:fontRef>
        </p:style>
        <p:txBody>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LAYER 5</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Optimization — and why not multi-agent</a:t>
            </a:r>
            <a:endParaRPr lang="en-US" sz="2300" dirty="0"/>
          </a:p>
        </p:txBody>
      </p:sp>
      <p:sp>
        <p:nvSpPr>
          <p:cNvPr id="4" name="Shape 2"/>
          <p:cNvSpPr/>
          <p:nvPr/>
        </p:nvSpPr>
        <p:spPr>
          <a:xfrm>
            <a:off x="548640" y="1951630"/>
            <a:ext cx="5394960" cy="3809090"/>
          </a:xfrm>
          <a:prstGeom prst="roundRect">
            <a:avLst>
              <a:gd name="adj" fmla="val 2174"/>
            </a:avLst>
          </a:prstGeom>
          <a:solidFill>
            <a:srgbClr val="F3F6F6"/>
          </a:solidFill>
          <a:ln/>
        </p:spPr>
        <p:txBody>
          <a:bodyPr/>
          <a:lstStyle/>
          <a:p>
            <a:endParaRPr lang="en-US"/>
          </a:p>
        </p:txBody>
      </p:sp>
      <p:sp>
        <p:nvSpPr>
          <p:cNvPr id="5" name="Text 3"/>
          <p:cNvSpPr/>
          <p:nvPr/>
        </p:nvSpPr>
        <p:spPr>
          <a:xfrm>
            <a:off x="822960" y="1828800"/>
            <a:ext cx="4846320" cy="457200"/>
          </a:xfrm>
          <a:prstGeom prst="rect">
            <a:avLst/>
          </a:prstGeom>
          <a:noFill/>
          <a:ln/>
        </p:spPr>
        <p:txBody>
          <a:bodyPr wrap="square" lIns="0" tIns="0" rIns="0" bIns="0" rtlCol="0" anchor="ctr"/>
          <a:lstStyle/>
          <a:p>
            <a:pPr marL="0" indent="0">
              <a:buNone/>
            </a:pPr>
            <a:r>
              <a:rPr lang="en-US" sz="1500" b="1" dirty="0">
                <a:solidFill>
                  <a:srgbClr val="1B3B5F"/>
                </a:solidFill>
                <a:latin typeface="Calibri" pitchFamily="34" charset="0"/>
                <a:ea typeface="Calibri" pitchFamily="34" charset="-122"/>
                <a:cs typeface="Calibri" pitchFamily="34" charset="-120"/>
              </a:rPr>
              <a:t>What's actually used</a:t>
            </a:r>
            <a:endParaRPr lang="en-US" sz="1500" dirty="0"/>
          </a:p>
        </p:txBody>
      </p:sp>
      <p:sp>
        <p:nvSpPr>
          <p:cNvPr id="6" name="Text 4"/>
          <p:cNvSpPr/>
          <p:nvPr/>
        </p:nvSpPr>
        <p:spPr>
          <a:xfrm>
            <a:off x="822960" y="2331720"/>
            <a:ext cx="4846320" cy="2131098"/>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Semantic caching on narrative generation</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Model routing — straightforward parses to a cheap model, ambiguous ones escalate</a:t>
            </a:r>
            <a:endParaRPr lang="en-US" sz="1250" dirty="0"/>
          </a:p>
          <a:p>
            <a:pPr marL="342900" indent="-342900">
              <a:spcAft>
                <a:spcPts val="800"/>
              </a:spcAft>
              <a:buSzPct val="100000"/>
              <a:buChar char="•"/>
            </a:pPr>
            <a:r>
              <a:rPr lang="en-US" sz="1250" dirty="0">
                <a:solidFill>
                  <a:srgbClr val="24303B"/>
                </a:solidFill>
                <a:latin typeface="Calibri" pitchFamily="34" charset="0"/>
                <a:ea typeface="Calibri" pitchFamily="34" charset="-122"/>
                <a:cs typeface="Calibri" pitchFamily="34" charset="-120"/>
              </a:rPr>
              <a:t>Cache invalidation tied to source-refresh events, never a fixed time window</a:t>
            </a:r>
            <a:endParaRPr lang="en-US" sz="1250" dirty="0"/>
          </a:p>
        </p:txBody>
      </p:sp>
      <p:sp>
        <p:nvSpPr>
          <p:cNvPr id="7" name="Shape 5"/>
          <p:cNvSpPr/>
          <p:nvPr/>
        </p:nvSpPr>
        <p:spPr>
          <a:xfrm>
            <a:off x="6217920" y="1554480"/>
            <a:ext cx="5394960" cy="4206240"/>
          </a:xfrm>
          <a:prstGeom prst="roundRect">
            <a:avLst>
              <a:gd name="adj" fmla="val 2174"/>
            </a:avLst>
          </a:prstGeom>
          <a:solidFill>
            <a:srgbClr val="132B45"/>
          </a:solidFill>
          <a:ln/>
        </p:spPr>
        <p:txBody>
          <a:bodyPr/>
          <a:lstStyle/>
          <a:p>
            <a:endParaRPr lang="en-US"/>
          </a:p>
        </p:txBody>
      </p:sp>
      <p:sp>
        <p:nvSpPr>
          <p:cNvPr id="8" name="Text 6"/>
          <p:cNvSpPr/>
          <p:nvPr/>
        </p:nvSpPr>
        <p:spPr>
          <a:xfrm>
            <a:off x="6492240" y="1828800"/>
            <a:ext cx="4846320" cy="457200"/>
          </a:xfrm>
          <a:prstGeom prst="rect">
            <a:avLst/>
          </a:prstGeom>
          <a:noFill/>
          <a:ln/>
        </p:spPr>
        <p:txBody>
          <a:bodyPr wrap="square" lIns="0" tIns="0" rIns="0" bIns="0" rtlCol="0" anchor="ctr"/>
          <a:lstStyle/>
          <a:p>
            <a:pPr marL="0" indent="0">
              <a:buNone/>
            </a:pPr>
            <a:r>
              <a:rPr lang="en-US" sz="1500" b="1" dirty="0">
                <a:solidFill>
                  <a:srgbClr val="C97B2B"/>
                </a:solidFill>
                <a:latin typeface="Calibri" pitchFamily="34" charset="0"/>
                <a:ea typeface="Calibri" pitchFamily="34" charset="-122"/>
                <a:cs typeface="Calibri" pitchFamily="34" charset="-120"/>
              </a:rPr>
              <a:t>Why not multi-agent</a:t>
            </a:r>
            <a:endParaRPr lang="en-US" sz="1500" dirty="0"/>
          </a:p>
        </p:txBody>
      </p:sp>
      <p:sp>
        <p:nvSpPr>
          <p:cNvPr id="9" name="Text 7"/>
          <p:cNvSpPr/>
          <p:nvPr/>
        </p:nvSpPr>
        <p:spPr>
          <a:xfrm>
            <a:off x="6492240" y="2331720"/>
            <a:ext cx="4846320" cy="2376758"/>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Nothing about this problem is a reasoning-decomposition task. The pressure this system is under is scale and latency from many concurrent users — a caching and routing problem, not a reasoning problem. Multi-agent is earned by task shape, not reached for because the system is under load.</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KNOWN LIMITATIONS</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Deliberate scope decisions</a:t>
            </a:r>
            <a:endParaRPr lang="en-US" sz="2300" dirty="0"/>
          </a:p>
        </p:txBody>
      </p:sp>
      <p:sp>
        <p:nvSpPr>
          <p:cNvPr id="4" name="Shape 2"/>
          <p:cNvSpPr/>
          <p:nvPr/>
        </p:nvSpPr>
        <p:spPr>
          <a:xfrm>
            <a:off x="548640" y="1600200"/>
            <a:ext cx="11064240" cy="1234440"/>
          </a:xfrm>
          <a:prstGeom prst="roundRect">
            <a:avLst>
              <a:gd name="adj" fmla="val 7407"/>
            </a:avLst>
          </a:prstGeom>
          <a:solidFill>
            <a:srgbClr val="F3F6F6"/>
          </a:solidFill>
          <a:ln/>
        </p:spPr>
        <p:txBody>
          <a:bodyPr/>
          <a:lstStyle/>
          <a:p>
            <a:endParaRPr lang="en-US"/>
          </a:p>
        </p:txBody>
      </p:sp>
      <p:sp>
        <p:nvSpPr>
          <p:cNvPr id="5" name="Text 3"/>
          <p:cNvSpPr/>
          <p:nvPr/>
        </p:nvSpPr>
        <p:spPr>
          <a:xfrm>
            <a:off x="822960" y="1709928"/>
            <a:ext cx="3657600" cy="1005840"/>
          </a:xfrm>
          <a:prstGeom prst="rect">
            <a:avLst/>
          </a:prstGeom>
          <a:noFill/>
          <a:ln/>
        </p:spPr>
        <p:txBody>
          <a:bodyPr wrap="square" lIns="0" tIns="0" rIns="0" bIns="0" rtlCol="0" anchor="ctr"/>
          <a:lstStyle/>
          <a:p>
            <a:pPr marL="0" indent="0">
              <a:buNone/>
            </a:pPr>
            <a:r>
              <a:rPr lang="en-US" sz="1350" b="1" dirty="0">
                <a:solidFill>
                  <a:srgbClr val="1B3B5F"/>
                </a:solidFill>
                <a:latin typeface="Calibri" pitchFamily="34" charset="0"/>
                <a:ea typeface="Calibri" pitchFamily="34" charset="-122"/>
                <a:cs typeface="Calibri" pitchFamily="34" charset="-120"/>
              </a:rPr>
              <a:t>Data sourcing is a build, not a buy</a:t>
            </a:r>
            <a:endParaRPr lang="en-US" sz="1350" dirty="0"/>
          </a:p>
        </p:txBody>
      </p:sp>
      <p:sp>
        <p:nvSpPr>
          <p:cNvPr id="6" name="Text 4"/>
          <p:cNvSpPr/>
          <p:nvPr/>
        </p:nvSpPr>
        <p:spPr>
          <a:xfrm>
            <a:off x="4663440" y="1709928"/>
            <a:ext cx="6675120" cy="1005840"/>
          </a:xfrm>
          <a:prstGeom prst="rect">
            <a:avLst/>
          </a:prstGeom>
          <a:noFill/>
          <a:ln/>
        </p:spPr>
        <p:txBody>
          <a:bodyPr wrap="square" lIns="0" tIns="0" rIns="0" bIns="0" rtlCol="0" anchor="ctr"/>
          <a:lstStyle/>
          <a:p>
            <a:pPr marL="0" indent="0">
              <a:buNone/>
            </a:pPr>
            <a:r>
              <a:rPr lang="en-US" sz="1250" dirty="0">
                <a:solidFill>
                  <a:srgbClr val="24303B"/>
                </a:solidFill>
                <a:latin typeface="Calibri" pitchFamily="34" charset="0"/>
                <a:ea typeface="Calibri" pitchFamily="34" charset="-122"/>
                <a:cs typeface="Calibri" pitchFamily="34" charset="-120"/>
              </a:rPr>
              <a:t>No off-the-shelf equivalent exists for a CMS regulatory hazard feed. </a:t>
            </a:r>
          </a:p>
          <a:p>
            <a:pPr marL="0" indent="0">
              <a:buNone/>
            </a:pPr>
            <a:r>
              <a:rPr lang="en-US" sz="1250" dirty="0">
                <a:solidFill>
                  <a:srgbClr val="24303B"/>
                </a:solidFill>
                <a:latin typeface="Calibri" pitchFamily="34" charset="0"/>
                <a:ea typeface="Calibri" pitchFamily="34" charset="-122"/>
                <a:cs typeface="Calibri" pitchFamily="34" charset="-120"/>
              </a:rPr>
              <a:t>Scoped explicitly as a construction workstream.</a:t>
            </a:r>
            <a:endParaRPr lang="en-US" sz="1250" dirty="0"/>
          </a:p>
        </p:txBody>
      </p:sp>
      <p:sp>
        <p:nvSpPr>
          <p:cNvPr id="7" name="Shape 5"/>
          <p:cNvSpPr/>
          <p:nvPr/>
        </p:nvSpPr>
        <p:spPr>
          <a:xfrm>
            <a:off x="548640" y="3017520"/>
            <a:ext cx="11064240" cy="1234440"/>
          </a:xfrm>
          <a:prstGeom prst="roundRect">
            <a:avLst>
              <a:gd name="adj" fmla="val 7407"/>
            </a:avLst>
          </a:prstGeom>
          <a:solidFill>
            <a:srgbClr val="FFFFFF"/>
          </a:solidFill>
          <a:ln/>
        </p:spPr>
        <p:txBody>
          <a:bodyPr/>
          <a:lstStyle/>
          <a:p>
            <a:endParaRPr lang="en-US"/>
          </a:p>
        </p:txBody>
      </p:sp>
      <p:sp>
        <p:nvSpPr>
          <p:cNvPr id="8" name="Text 6"/>
          <p:cNvSpPr/>
          <p:nvPr/>
        </p:nvSpPr>
        <p:spPr>
          <a:xfrm>
            <a:off x="822960" y="3127248"/>
            <a:ext cx="3657600" cy="1005840"/>
          </a:xfrm>
          <a:prstGeom prst="rect">
            <a:avLst/>
          </a:prstGeom>
          <a:noFill/>
          <a:ln/>
        </p:spPr>
        <p:txBody>
          <a:bodyPr wrap="square" lIns="0" tIns="0" rIns="0" bIns="0" rtlCol="0" anchor="ctr"/>
          <a:lstStyle/>
          <a:p>
            <a:pPr marL="0" indent="0">
              <a:buNone/>
            </a:pPr>
            <a:r>
              <a:rPr lang="en-US" sz="1350" b="1" dirty="0">
                <a:solidFill>
                  <a:srgbClr val="1B3B5F"/>
                </a:solidFill>
                <a:latin typeface="Calibri" pitchFamily="34" charset="0"/>
                <a:ea typeface="Calibri" pitchFamily="34" charset="-122"/>
                <a:cs typeface="Calibri" pitchFamily="34" charset="-120"/>
              </a:rPr>
              <a:t>Objective weighting breaks down at low N</a:t>
            </a:r>
            <a:endParaRPr lang="en-US" sz="1350" dirty="0"/>
          </a:p>
        </p:txBody>
      </p:sp>
      <p:sp>
        <p:nvSpPr>
          <p:cNvPr id="9" name="Text 7"/>
          <p:cNvSpPr/>
          <p:nvPr/>
        </p:nvSpPr>
        <p:spPr>
          <a:xfrm>
            <a:off x="4663440" y="3127248"/>
            <a:ext cx="6675120" cy="1005840"/>
          </a:xfrm>
          <a:prstGeom prst="rect">
            <a:avLst/>
          </a:prstGeom>
          <a:noFill/>
          <a:ln/>
        </p:spPr>
        <p:txBody>
          <a:bodyPr wrap="square" lIns="0" tIns="0" rIns="0" bIns="0" rtlCol="0" anchor="ctr"/>
          <a:lstStyle/>
          <a:p>
            <a:pPr marL="0" indent="0">
              <a:buNone/>
            </a:pPr>
            <a:r>
              <a:rPr lang="en-US" sz="1250" dirty="0">
                <a:solidFill>
                  <a:srgbClr val="24303B"/>
                </a:solidFill>
                <a:latin typeface="Calibri" pitchFamily="34" charset="0"/>
                <a:ea typeface="Calibri" pitchFamily="34" charset="-122"/>
                <a:cs typeface="Calibri" pitchFamily="34" charset="-120"/>
              </a:rPr>
              <a:t>Entropy/CRITIC needs a large cross-section (211 countries originally); ~6 segments here isn't enough. Falls back to documented, expert-elicited weights.</a:t>
            </a:r>
            <a:endParaRPr lang="en-US" sz="1250" dirty="0"/>
          </a:p>
        </p:txBody>
      </p:sp>
      <p:sp>
        <p:nvSpPr>
          <p:cNvPr id="10" name="Shape 8"/>
          <p:cNvSpPr/>
          <p:nvPr/>
        </p:nvSpPr>
        <p:spPr>
          <a:xfrm>
            <a:off x="548640" y="4434840"/>
            <a:ext cx="11064240" cy="1234440"/>
          </a:xfrm>
          <a:prstGeom prst="roundRect">
            <a:avLst>
              <a:gd name="adj" fmla="val 7407"/>
            </a:avLst>
          </a:prstGeom>
          <a:solidFill>
            <a:srgbClr val="F3F6F6"/>
          </a:solidFill>
          <a:ln/>
        </p:spPr>
        <p:txBody>
          <a:bodyPr/>
          <a:lstStyle/>
          <a:p>
            <a:endParaRPr lang="en-US"/>
          </a:p>
        </p:txBody>
      </p:sp>
      <p:sp>
        <p:nvSpPr>
          <p:cNvPr id="11" name="Text 9"/>
          <p:cNvSpPr/>
          <p:nvPr/>
        </p:nvSpPr>
        <p:spPr>
          <a:xfrm>
            <a:off x="822960" y="4544568"/>
            <a:ext cx="3657600" cy="1005840"/>
          </a:xfrm>
          <a:prstGeom prst="rect">
            <a:avLst/>
          </a:prstGeom>
          <a:noFill/>
          <a:ln/>
        </p:spPr>
        <p:txBody>
          <a:bodyPr wrap="square" lIns="0" tIns="0" rIns="0" bIns="0" rtlCol="0" anchor="ctr"/>
          <a:lstStyle/>
          <a:p>
            <a:pPr marL="0" indent="0">
              <a:buNone/>
            </a:pPr>
            <a:r>
              <a:rPr lang="en-US" sz="1350" b="1" dirty="0">
                <a:solidFill>
                  <a:srgbClr val="1B3B5F"/>
                </a:solidFill>
                <a:latin typeface="Calibri" pitchFamily="34" charset="0"/>
                <a:ea typeface="Calibri" pitchFamily="34" charset="-122"/>
                <a:cs typeface="Calibri" pitchFamily="34" charset="-120"/>
              </a:rPr>
              <a:t>Response pathways were redesigned, not relabeled</a:t>
            </a:r>
            <a:endParaRPr lang="en-US" sz="1350" dirty="0"/>
          </a:p>
        </p:txBody>
      </p:sp>
      <p:sp>
        <p:nvSpPr>
          <p:cNvPr id="12" name="Text 10"/>
          <p:cNvSpPr/>
          <p:nvPr/>
        </p:nvSpPr>
        <p:spPr>
          <a:xfrm>
            <a:off x="4663440" y="4544568"/>
            <a:ext cx="6675120" cy="1005840"/>
          </a:xfrm>
          <a:prstGeom prst="rect">
            <a:avLst/>
          </a:prstGeom>
          <a:noFill/>
          <a:ln/>
        </p:spPr>
        <p:txBody>
          <a:bodyPr wrap="square" lIns="0" tIns="0" rIns="0" bIns="0" rtlCol="0" anchor="ctr"/>
          <a:lstStyle/>
          <a:p>
            <a:pPr marL="0" indent="0">
              <a:buNone/>
            </a:pPr>
            <a:r>
              <a:rPr lang="en-US" sz="1250" dirty="0">
                <a:solidFill>
                  <a:srgbClr val="24303B"/>
                </a:solidFill>
                <a:latin typeface="Calibri" pitchFamily="34" charset="0"/>
                <a:ea typeface="Calibri" pitchFamily="34" charset="-122"/>
                <a:cs typeface="Calibri" pitchFamily="34" charset="-120"/>
              </a:rPr>
              <a:t>Divest/Decouple/Double-Down doesn't map to payer economics. </a:t>
            </a:r>
          </a:p>
          <a:p>
            <a:pPr marL="0" indent="0">
              <a:buNone/>
            </a:pPr>
            <a:r>
              <a:rPr lang="en-US" sz="1250" dirty="0">
                <a:solidFill>
                  <a:srgbClr val="24303B"/>
                </a:solidFill>
                <a:latin typeface="Calibri" pitchFamily="34" charset="0"/>
                <a:ea typeface="Calibri" pitchFamily="34" charset="-122"/>
                <a:cs typeface="Calibri" pitchFamily="34" charset="-120"/>
              </a:rPr>
              <a:t>Healthcare-specific pathways replace it.</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VALIDATION</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The </a:t>
            </a:r>
            <a:r>
              <a:rPr lang="en-US" sz="2300" b="1" dirty="0" err="1">
                <a:solidFill>
                  <a:srgbClr val="24303B"/>
                </a:solidFill>
                <a:latin typeface="Cambria" pitchFamily="34" charset="0"/>
                <a:ea typeface="Cambria" pitchFamily="34" charset="-122"/>
                <a:cs typeface="Cambria" pitchFamily="34" charset="-120"/>
              </a:rPr>
              <a:t>backtest</a:t>
            </a:r>
            <a:r>
              <a:rPr lang="en-US" sz="2300" b="1" dirty="0">
                <a:solidFill>
                  <a:srgbClr val="24303B"/>
                </a:solidFill>
                <a:latin typeface="Cambria" pitchFamily="34" charset="0"/>
                <a:ea typeface="Cambria" pitchFamily="34" charset="-122"/>
                <a:cs typeface="Cambria" pitchFamily="34" charset="-120"/>
              </a:rPr>
              <a:t> plan</a:t>
            </a:r>
            <a:endParaRPr lang="en-US" sz="2300" dirty="0"/>
          </a:p>
        </p:txBody>
      </p:sp>
      <p:sp>
        <p:nvSpPr>
          <p:cNvPr id="4" name="Shape 2"/>
          <p:cNvSpPr/>
          <p:nvPr/>
        </p:nvSpPr>
        <p:spPr>
          <a:xfrm>
            <a:off x="548640" y="1600200"/>
            <a:ext cx="457200" cy="457200"/>
          </a:xfrm>
          <a:prstGeom prst="roundRect">
            <a:avLst>
              <a:gd name="adj" fmla="val 20000"/>
            </a:avLst>
          </a:prstGeom>
          <a:solidFill>
            <a:srgbClr val="3E7C7C"/>
          </a:solidFill>
          <a:ln/>
        </p:spPr>
        <p:txBody>
          <a:bodyPr/>
          <a:lstStyle/>
          <a:p>
            <a:endParaRPr lang="en-US"/>
          </a:p>
        </p:txBody>
      </p:sp>
      <p:sp>
        <p:nvSpPr>
          <p:cNvPr id="5" name="Text 3"/>
          <p:cNvSpPr/>
          <p:nvPr/>
        </p:nvSpPr>
        <p:spPr>
          <a:xfrm>
            <a:off x="548640" y="160020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545336"/>
            <a:ext cx="10241280" cy="566928"/>
          </a:xfrm>
          <a:prstGeom prst="rect">
            <a:avLst/>
          </a:prstGeom>
          <a:noFill/>
          <a:ln/>
        </p:spPr>
        <p:txBody>
          <a:bodyPr wrap="square" lIns="0" tIns="0" rIns="0" bIns="0" rtlCol="0" anchor="ctr"/>
          <a:lstStyle/>
          <a:p>
            <a:pPr marL="0" indent="0">
              <a:buNone/>
            </a:pPr>
            <a:r>
              <a:rPr lang="en-US" sz="1400" dirty="0">
                <a:solidFill>
                  <a:srgbClr val="24303B"/>
                </a:solidFill>
                <a:latin typeface="Calibri" pitchFamily="34" charset="0"/>
                <a:ea typeface="Calibri" pitchFamily="34" charset="-122"/>
                <a:cs typeface="Calibri" pitchFamily="34" charset="-120"/>
              </a:rPr>
              <a:t>Pull driver baselines the framework would have produced for Optum Health in early 2025</a:t>
            </a:r>
            <a:endParaRPr lang="en-US" sz="1400" dirty="0"/>
          </a:p>
        </p:txBody>
      </p:sp>
      <p:sp>
        <p:nvSpPr>
          <p:cNvPr id="7" name="Shape 5"/>
          <p:cNvSpPr/>
          <p:nvPr/>
        </p:nvSpPr>
        <p:spPr>
          <a:xfrm>
            <a:off x="548640" y="2441448"/>
            <a:ext cx="457200" cy="457200"/>
          </a:xfrm>
          <a:prstGeom prst="roundRect">
            <a:avLst>
              <a:gd name="adj" fmla="val 20000"/>
            </a:avLst>
          </a:prstGeom>
          <a:solidFill>
            <a:srgbClr val="3E7C7C"/>
          </a:solidFill>
          <a:ln/>
        </p:spPr>
        <p:txBody>
          <a:bodyPr/>
          <a:lstStyle/>
          <a:p>
            <a:endParaRPr lang="en-US"/>
          </a:p>
        </p:txBody>
      </p:sp>
      <p:sp>
        <p:nvSpPr>
          <p:cNvPr id="8" name="Text 6"/>
          <p:cNvSpPr/>
          <p:nvPr/>
        </p:nvSpPr>
        <p:spPr>
          <a:xfrm>
            <a:off x="548640" y="24414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386584"/>
            <a:ext cx="10241280" cy="566928"/>
          </a:xfrm>
          <a:prstGeom prst="rect">
            <a:avLst/>
          </a:prstGeom>
          <a:noFill/>
          <a:ln/>
        </p:spPr>
        <p:txBody>
          <a:bodyPr wrap="square" lIns="0" tIns="0" rIns="0" bIns="0" rtlCol="0" anchor="ctr"/>
          <a:lstStyle/>
          <a:p>
            <a:pPr marL="0" indent="0">
              <a:buNone/>
            </a:pPr>
            <a:r>
              <a:rPr lang="en-US" sz="1400" dirty="0">
                <a:solidFill>
                  <a:srgbClr val="24303B"/>
                </a:solidFill>
                <a:latin typeface="Calibri" pitchFamily="34" charset="0"/>
                <a:ea typeface="Calibri" pitchFamily="34" charset="-122"/>
                <a:cs typeface="Calibri" pitchFamily="34" charset="-120"/>
              </a:rPr>
              <a:t>Compare against the actual disclosed swing: $7.8B operating profit to a $278M loss</a:t>
            </a:r>
            <a:endParaRPr lang="en-US" sz="1400" dirty="0"/>
          </a:p>
        </p:txBody>
      </p:sp>
      <p:sp>
        <p:nvSpPr>
          <p:cNvPr id="10" name="Shape 8"/>
          <p:cNvSpPr/>
          <p:nvPr/>
        </p:nvSpPr>
        <p:spPr>
          <a:xfrm>
            <a:off x="548640" y="3282696"/>
            <a:ext cx="457200" cy="457200"/>
          </a:xfrm>
          <a:prstGeom prst="roundRect">
            <a:avLst>
              <a:gd name="adj" fmla="val 20000"/>
            </a:avLst>
          </a:prstGeom>
          <a:solidFill>
            <a:srgbClr val="3E7C7C"/>
          </a:solidFill>
          <a:ln/>
        </p:spPr>
        <p:txBody>
          <a:bodyPr/>
          <a:lstStyle/>
          <a:p>
            <a:endParaRPr lang="en-US"/>
          </a:p>
        </p:txBody>
      </p:sp>
      <p:sp>
        <p:nvSpPr>
          <p:cNvPr id="11" name="Text 9"/>
          <p:cNvSpPr/>
          <p:nvPr/>
        </p:nvSpPr>
        <p:spPr>
          <a:xfrm>
            <a:off x="548640" y="328269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227832"/>
            <a:ext cx="10241280" cy="566928"/>
          </a:xfrm>
          <a:prstGeom prst="rect">
            <a:avLst/>
          </a:prstGeom>
          <a:noFill/>
          <a:ln/>
        </p:spPr>
        <p:txBody>
          <a:bodyPr wrap="square" lIns="0" tIns="0" rIns="0" bIns="0" rtlCol="0" anchor="ctr"/>
          <a:lstStyle/>
          <a:p>
            <a:pPr marL="0" indent="0">
              <a:buNone/>
            </a:pPr>
            <a:r>
              <a:rPr lang="en-US" sz="1400" dirty="0">
                <a:solidFill>
                  <a:srgbClr val="24303B"/>
                </a:solidFill>
                <a:latin typeface="Calibri" pitchFamily="34" charset="0"/>
                <a:ea typeface="Calibri" pitchFamily="34" charset="-122"/>
                <a:cs typeface="Calibri" pitchFamily="34" charset="-120"/>
              </a:rPr>
              <a:t>Pull driver baselines for Optum Insight ahead of the 2024 Change Healthcare cyberattack</a:t>
            </a:r>
            <a:endParaRPr lang="en-US" sz="1400" dirty="0"/>
          </a:p>
        </p:txBody>
      </p:sp>
      <p:sp>
        <p:nvSpPr>
          <p:cNvPr id="13" name="Shape 11"/>
          <p:cNvSpPr/>
          <p:nvPr/>
        </p:nvSpPr>
        <p:spPr>
          <a:xfrm>
            <a:off x="548640" y="4123944"/>
            <a:ext cx="457200" cy="457200"/>
          </a:xfrm>
          <a:prstGeom prst="roundRect">
            <a:avLst>
              <a:gd name="adj" fmla="val 20000"/>
            </a:avLst>
          </a:prstGeom>
          <a:solidFill>
            <a:srgbClr val="3E7C7C"/>
          </a:solidFill>
          <a:ln/>
        </p:spPr>
        <p:txBody>
          <a:bodyPr/>
          <a:lstStyle/>
          <a:p>
            <a:endParaRPr lang="en-US"/>
          </a:p>
        </p:txBody>
      </p:sp>
      <p:sp>
        <p:nvSpPr>
          <p:cNvPr id="14" name="Text 12"/>
          <p:cNvSpPr/>
          <p:nvPr/>
        </p:nvSpPr>
        <p:spPr>
          <a:xfrm>
            <a:off x="548640" y="4123944"/>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69080"/>
            <a:ext cx="10241280" cy="566928"/>
          </a:xfrm>
          <a:prstGeom prst="rect">
            <a:avLst/>
          </a:prstGeom>
          <a:noFill/>
          <a:ln/>
        </p:spPr>
        <p:txBody>
          <a:bodyPr wrap="square" lIns="0" tIns="0" rIns="0" bIns="0" rtlCol="0" anchor="ctr"/>
          <a:lstStyle/>
          <a:p>
            <a:pPr marL="0" indent="0">
              <a:buNone/>
            </a:pPr>
            <a:r>
              <a:rPr lang="en-US" sz="1400" dirty="0">
                <a:solidFill>
                  <a:srgbClr val="24303B"/>
                </a:solidFill>
                <a:latin typeface="Calibri" pitchFamily="34" charset="0"/>
                <a:ea typeface="Calibri" pitchFamily="34" charset="-122"/>
                <a:cs typeface="Calibri" pitchFamily="34" charset="-120"/>
              </a:rPr>
              <a:t>Compare against the actual disclosed impact on that segment</a:t>
            </a:r>
            <a:endParaRPr lang="en-US" sz="1400" dirty="0"/>
          </a:p>
        </p:txBody>
      </p:sp>
      <p:sp>
        <p:nvSpPr>
          <p:cNvPr id="16" name="Shape 14"/>
          <p:cNvSpPr/>
          <p:nvPr/>
        </p:nvSpPr>
        <p:spPr>
          <a:xfrm>
            <a:off x="548640" y="4965192"/>
            <a:ext cx="457200" cy="457200"/>
          </a:xfrm>
          <a:prstGeom prst="roundRect">
            <a:avLst>
              <a:gd name="adj" fmla="val 20000"/>
            </a:avLst>
          </a:prstGeom>
          <a:solidFill>
            <a:srgbClr val="3E7C7C"/>
          </a:solidFill>
          <a:ln/>
        </p:spPr>
        <p:txBody>
          <a:bodyPr/>
          <a:lstStyle/>
          <a:p>
            <a:endParaRPr lang="en-US"/>
          </a:p>
        </p:txBody>
      </p:sp>
      <p:sp>
        <p:nvSpPr>
          <p:cNvPr id="17" name="Text 15"/>
          <p:cNvSpPr/>
          <p:nvPr/>
        </p:nvSpPr>
        <p:spPr>
          <a:xfrm>
            <a:off x="548640" y="49651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188720" y="4910328"/>
            <a:ext cx="10241280" cy="566928"/>
          </a:xfrm>
          <a:prstGeom prst="rect">
            <a:avLst/>
          </a:prstGeom>
          <a:noFill/>
          <a:ln/>
        </p:spPr>
        <p:txBody>
          <a:bodyPr wrap="square" lIns="0" tIns="0" rIns="0" bIns="0" rtlCol="0" anchor="ctr"/>
          <a:lstStyle/>
          <a:p>
            <a:pPr marL="0" indent="0">
              <a:buNone/>
            </a:pPr>
            <a:r>
              <a:rPr lang="en-US" sz="1400" dirty="0">
                <a:solidFill>
                  <a:srgbClr val="24303B"/>
                </a:solidFill>
                <a:latin typeface="Calibri" pitchFamily="34" charset="0"/>
                <a:ea typeface="Calibri" pitchFamily="34" charset="-122"/>
                <a:cs typeface="Calibri" pitchFamily="34" charset="-120"/>
              </a:rPr>
              <a:t>Double-rate a sample of overlay-extraction events with independent analysts to set the eval baseline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292608"/>
          </a:xfrm>
          <a:prstGeom prst="rect">
            <a:avLst/>
          </a:prstGeom>
          <a:noFill/>
          <a:ln/>
        </p:spPr>
        <p:txBody>
          <a:bodyPr wrap="square" lIns="0" tIns="0" rIns="0" bIns="0" rtlCol="0" anchor="ctr"/>
          <a:lstStyle/>
          <a:p>
            <a:pPr marL="0" indent="0">
              <a:buNone/>
            </a:pPr>
            <a:r>
              <a:rPr lang="en-US" sz="1100" b="1" kern="0" spc="100" dirty="0">
                <a:solidFill>
                  <a:srgbClr val="C97B2B"/>
                </a:solidFill>
                <a:latin typeface="Calibri" pitchFamily="34" charset="0"/>
                <a:ea typeface="Calibri" pitchFamily="34" charset="-122"/>
                <a:cs typeface="Calibri" pitchFamily="34" charset="-120"/>
              </a:rPr>
              <a:t>Design choices</a:t>
            </a:r>
            <a:endParaRPr lang="en-US" sz="1100" dirty="0"/>
          </a:p>
        </p:txBody>
      </p:sp>
      <p:sp>
        <p:nvSpPr>
          <p:cNvPr id="3" name="Text 1"/>
          <p:cNvSpPr/>
          <p:nvPr/>
        </p:nvSpPr>
        <p:spPr>
          <a:xfrm>
            <a:off x="548640" y="621792"/>
            <a:ext cx="11064240" cy="685800"/>
          </a:xfrm>
          <a:prstGeom prst="rect">
            <a:avLst/>
          </a:prstGeom>
          <a:noFill/>
          <a:ln/>
        </p:spPr>
        <p:txBody>
          <a:bodyPr wrap="square" lIns="0" tIns="0" rIns="0" bIns="0" rtlCol="0" anchor="ctr"/>
          <a:lstStyle/>
          <a:p>
            <a:pPr marL="0" indent="0">
              <a:buNone/>
            </a:pPr>
            <a:r>
              <a:rPr lang="en-US" sz="2300" b="1" dirty="0">
                <a:solidFill>
                  <a:srgbClr val="24303B"/>
                </a:solidFill>
                <a:latin typeface="Cambria" pitchFamily="34" charset="0"/>
                <a:ea typeface="Cambria" pitchFamily="34" charset="-122"/>
                <a:cs typeface="Cambria" pitchFamily="34" charset="-120"/>
              </a:rPr>
              <a:t>Likely follow-ups</a:t>
            </a:r>
            <a:endParaRPr lang="en-US" sz="2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64240" cy="1729740"/>
        </p:xfrm>
        <a:graphic>
          <a:graphicData uri="http://schemas.openxmlformats.org/drawingml/2006/table">
            <a:tbl>
              <a:tblPr/>
              <a:tblGrid>
                <a:gridCol w="3108960">
                  <a:extLst>
                    <a:ext uri="{9D8B030D-6E8A-4147-A177-3AD203B41FA5}">
                      <a16:colId xmlns:a16="http://schemas.microsoft.com/office/drawing/2014/main" val="20000"/>
                    </a:ext>
                  </a:extLst>
                </a:gridCol>
                <a:gridCol w="7955280">
                  <a:extLst>
                    <a:ext uri="{9D8B030D-6E8A-4147-A177-3AD203B41FA5}">
                      <a16:colId xmlns:a16="http://schemas.microsoft.com/office/drawing/2014/main" val="20001"/>
                    </a:ext>
                  </a:extLst>
                </a:gridCol>
              </a:tblGrid>
              <a:tr h="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Question</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Short answer</a:t>
                      </a:r>
                      <a:endParaRPr lang="en-US" sz="1150" dirty="0">
                        <a:latin typeface="Calibri" charset="0"/>
                        <a:ea typeface="Calibri" charset="0"/>
                        <a:cs typeface="Calibri" charset="0"/>
                      </a:endParaRPr>
                    </a:p>
                  </a:txBody>
                  <a:tcPr anchor="ct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1B3B5F"/>
                    </a:solidFill>
                  </a:tcPr>
                </a:tc>
                <a:extLst>
                  <a:ext uri="{0D108BD9-81ED-4DB2-BD59-A6C34878D82A}">
                    <a16:rowId xmlns:a16="http://schemas.microsoft.com/office/drawing/2014/main" val="10000"/>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Why not multi-agent?</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Nothing here is a reasoning-decomposition task; the real pressure is scale/latency, which is a caching and routing problem.</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How would you validate this?</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Direct </a:t>
                      </a:r>
                      <a:r>
                        <a:rPr lang="en-US" sz="1100" dirty="0" err="1">
                          <a:solidFill>
                            <a:srgbClr val="24303B"/>
                          </a:solidFill>
                          <a:latin typeface="Calibri" pitchFamily="34" charset="0"/>
                          <a:ea typeface="Calibri" pitchFamily="34" charset="-122"/>
                          <a:cs typeface="Calibri" pitchFamily="34" charset="-120"/>
                        </a:rPr>
                        <a:t>backtest</a:t>
                      </a:r>
                      <a:r>
                        <a:rPr lang="en-US" sz="1100" dirty="0">
                          <a:solidFill>
                            <a:srgbClr val="24303B"/>
                          </a:solidFill>
                          <a:latin typeface="Calibri" pitchFamily="34" charset="0"/>
                          <a:ea typeface="Calibri" pitchFamily="34" charset="-122"/>
                          <a:cs typeface="Calibri" pitchFamily="34" charset="-120"/>
                        </a:rPr>
                        <a:t> against two real, disclosed events (Optum Health earnings swing, Change Healthcare cyberattack).</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2"/>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Biggest risk in this design?</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Objective weighting breaking down at low N; mitigated with documented expert-elicited weights, named as a real compromise.</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Why scope out state-level Medicaid?</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Real added scope (4th knowledge source, new aggregation layer, coverage-floor policy); named explicitly rather than shipped quietly incomplete.</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3F6F6"/>
                    </a:solidFill>
                  </a:tcPr>
                </a:tc>
                <a:extLst>
                  <a:ext uri="{0D108BD9-81ED-4DB2-BD59-A6C34878D82A}">
                    <a16:rowId xmlns:a16="http://schemas.microsoft.com/office/drawing/2014/main" val="10004"/>
                  </a:ext>
                </a:extLst>
              </a:tr>
              <a:tr h="0">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Where does the LLM touch a number?</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tc>
                  <a:txBody>
                    <a:bodyPr/>
                    <a:lstStyle/>
                    <a:p>
                      <a:pPr marL="0" indent="0">
                        <a:buNone/>
                      </a:pPr>
                      <a:r>
                        <a:rPr lang="en-US" sz="1100" dirty="0">
                          <a:solidFill>
                            <a:srgbClr val="24303B"/>
                          </a:solidFill>
                          <a:latin typeface="Calibri" pitchFamily="34" charset="0"/>
                          <a:ea typeface="Calibri" pitchFamily="34" charset="-122"/>
                          <a:cs typeface="Calibri" pitchFamily="34" charset="-120"/>
                        </a:rPr>
                        <a:t>Nowhere. It parses, extracts, and narrates — every number comes from the deterministic core.</a:t>
                      </a:r>
                      <a:endParaRPr lang="en-US" sz="1100" dirty="0">
                        <a:latin typeface="Calibri" charset="0"/>
                        <a:ea typeface="Calibri" charset="0"/>
                        <a:cs typeface="Calibri" charset="0"/>
                      </a:endParaRPr>
                    </a:p>
                  </a:txBody>
                  <a:tcPr>
                    <a:lnL w="6350" cap="flat" cmpd="sng" algn="ctr">
                      <a:solidFill>
                        <a:srgbClr val="E3E1D9"/>
                      </a:solidFill>
                      <a:prstDash val="solid"/>
                      <a:round/>
                      <a:headEnd type="none" w="med" len="med"/>
                      <a:tailEnd type="none" w="med" len="med"/>
                    </a:lnL>
                    <a:lnR w="6350" cap="flat" cmpd="sng" algn="ctr">
                      <a:solidFill>
                        <a:srgbClr val="E3E1D9"/>
                      </a:solidFill>
                      <a:prstDash val="solid"/>
                      <a:round/>
                      <a:headEnd type="none" w="med" len="med"/>
                      <a:tailEnd type="none" w="med" len="med"/>
                    </a:lnR>
                    <a:lnT w="6350" cap="flat" cmpd="sng" algn="ctr">
                      <a:solidFill>
                        <a:srgbClr val="E3E1D9"/>
                      </a:solidFill>
                      <a:prstDash val="solid"/>
                      <a:round/>
                      <a:headEnd type="none" w="med" len="med"/>
                      <a:tailEnd type="none" w="med" len="med"/>
                    </a:lnT>
                    <a:lnB w="6350" cap="flat" cmpd="sng" algn="ctr">
                      <a:solidFill>
                        <a:srgbClr val="E3E1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10972800" cy="731520"/>
          </a:xfrm>
          <a:prstGeom prst="rect">
            <a:avLst/>
          </a:prstGeom>
          <a:noFill/>
        </p:spPr>
        <p:txBody>
          <a:bodyPr wrap="none">
            <a:spAutoFit/>
          </a:bodyPr>
          <a:lstStyle/>
          <a:p>
            <a:pPr>
              <a:defRPr sz="2800" b="1">
                <a:solidFill>
                  <a:srgbClr val="003366"/>
                </a:solidFill>
              </a:defRPr>
            </a:pPr>
            <a:r>
              <a:t>Live Demo — Core Query Path</a:t>
            </a:r>
          </a:p>
        </p:txBody>
      </p:sp>
      <p:sp>
        <p:nvSpPr>
          <p:cNvPr id="3" name="TextBox 2"/>
          <p:cNvSpPr txBox="1"/>
          <p:nvPr/>
        </p:nvSpPr>
        <p:spPr>
          <a:xfrm>
            <a:off x="457199" y="1097280"/>
            <a:ext cx="8390965" cy="1523494"/>
          </a:xfrm>
          <a:prstGeom prst="rect">
            <a:avLst/>
          </a:prstGeom>
          <a:noFill/>
        </p:spPr>
        <p:txBody>
          <a:bodyPr wrap="square">
            <a:spAutoFit/>
          </a:bodyPr>
          <a:lstStyle/>
          <a:p>
            <a:pPr>
              <a:defRPr sz="1800" b="1">
                <a:solidFill>
                  <a:srgbClr val="007A87"/>
                </a:solidFill>
              </a:defRPr>
            </a:pPr>
            <a:r>
              <a:rPr dirty="0"/>
              <a:t>Happy path</a:t>
            </a:r>
          </a:p>
          <a:p>
            <a:pPr>
              <a:defRPr sz="1500">
                <a:solidFill>
                  <a:srgbClr val="555555"/>
                </a:solidFill>
              </a:defRPr>
            </a:pPr>
            <a:r>
              <a:rPr dirty="0"/>
              <a:t>python demo.py query "How exposed is Optum Health to a Medicare Advantage rate cut?"</a:t>
            </a:r>
          </a:p>
          <a:p>
            <a:pPr>
              <a:defRPr sz="1500">
                <a:solidFill>
                  <a:srgbClr val="555555"/>
                </a:solidFill>
              </a:defRPr>
            </a:pPr>
            <a:r>
              <a:rPr dirty="0"/>
              <a:t>Shows: segment, driver, disruptor</a:t>
            </a:r>
          </a:p>
          <a:p>
            <a:pPr>
              <a:defRPr sz="1500">
                <a:solidFill>
                  <a:srgbClr val="555555"/>
                </a:solidFill>
              </a:defRPr>
            </a:pPr>
            <a:r>
              <a:rPr dirty="0"/>
              <a:t>Deterministic risk / opportunity scores</a:t>
            </a:r>
          </a:p>
          <a:p>
            <a:pPr>
              <a:defRPr sz="1500">
                <a:solidFill>
                  <a:srgbClr val="555555"/>
                </a:solidFill>
              </a:defRPr>
            </a:pPr>
            <a:r>
              <a:rPr dirty="0"/>
              <a:t>Recommended pathway + analyst narrative</a:t>
            </a:r>
          </a:p>
          <a:p>
            <a:pPr>
              <a:defRPr sz="1500">
                <a:solidFill>
                  <a:srgbClr val="555555"/>
                </a:solidFill>
              </a:defRPr>
            </a:pPr>
            <a:r>
              <a:rPr dirty="0"/>
              <a:t>Numbers are reproducible; LLM only structures &amp; summarizes</a:t>
            </a:r>
          </a:p>
        </p:txBody>
      </p:sp>
      <p:sp>
        <p:nvSpPr>
          <p:cNvPr id="4" name="TextBox 3"/>
          <p:cNvSpPr txBox="1"/>
          <p:nvPr/>
        </p:nvSpPr>
        <p:spPr>
          <a:xfrm>
            <a:off x="373149" y="3246120"/>
            <a:ext cx="10276922" cy="1061829"/>
          </a:xfrm>
          <a:prstGeom prst="rect">
            <a:avLst/>
          </a:prstGeom>
          <a:noFill/>
        </p:spPr>
        <p:txBody>
          <a:bodyPr wrap="square">
            <a:spAutoFit/>
          </a:bodyPr>
          <a:lstStyle/>
          <a:p>
            <a:pPr>
              <a:defRPr sz="1800" b="1">
                <a:solidFill>
                  <a:srgbClr val="007A87"/>
                </a:solidFill>
              </a:defRPr>
            </a:pPr>
            <a:r>
              <a:rPr dirty="0"/>
              <a:t>Executive audience</a:t>
            </a:r>
          </a:p>
          <a:p>
            <a:pPr>
              <a:defRPr sz="1500">
                <a:solidFill>
                  <a:srgbClr val="555555"/>
                </a:solidFill>
              </a:defRPr>
            </a:pPr>
            <a:r>
              <a:rPr dirty="0"/>
              <a:t>python demo.py query "How exposed is Optum Insight to a cyber disruptor?" --audience executive</a:t>
            </a:r>
          </a:p>
          <a:p>
            <a:pPr>
              <a:defRPr sz="1500">
                <a:solidFill>
                  <a:srgbClr val="555555"/>
                </a:solidFill>
              </a:defRPr>
            </a:pPr>
            <a:r>
              <a:rPr dirty="0"/>
              <a:t>Same pipeline, one-sentence executive summary</a:t>
            </a:r>
          </a:p>
          <a:p>
            <a:pPr>
              <a:defRPr sz="1500">
                <a:solidFill>
                  <a:srgbClr val="555555"/>
                </a:solidFill>
              </a:defRPr>
            </a:pPr>
            <a:r>
              <a:rPr dirty="0"/>
              <a:t>Same scenario object — different presentation layer</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EDCC7-8132-F3D1-0055-8FD5579BE97A}"/>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sz="2800" b="1">
                <a:solidFill>
                  <a:srgbClr val="003366"/>
                </a:solidFill>
              </a:defRPr>
            </a:pPr>
            <a:r>
              <a:rPr lang="en-US" sz="2800" b="1">
                <a:solidFill>
                  <a:srgbClr val="003366"/>
                </a:solidFill>
              </a:rPr>
              <a:t>Live Demo — Guardrails (Fail Closed)</a:t>
            </a:r>
            <a:endParaRPr lang="en-US" sz="2800" b="1" dirty="0">
              <a:solidFill>
                <a:srgbClr val="003366"/>
              </a:solidFill>
            </a:endParaRPr>
          </a:p>
        </p:txBody>
      </p:sp>
      <p:sp>
        <p:nvSpPr>
          <p:cNvPr id="3" name="Content Placeholder 2">
            <a:extLst>
              <a:ext uri="{FF2B5EF4-FFF2-40B4-BE49-F238E27FC236}">
                <a16:creationId xmlns:a16="http://schemas.microsoft.com/office/drawing/2014/main" id="{6C0B7500-C2F0-21C2-DB7B-9C7108256005}"/>
              </a:ext>
            </a:extLst>
          </p:cNvPr>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defRPr sz="1700">
                <a:solidFill>
                  <a:srgbClr val="555555"/>
                </a:solidFill>
              </a:defRPr>
            </a:pPr>
            <a:r>
              <a:rPr lang="en-US" sz="1700" dirty="0">
                <a:solidFill>
                  <a:srgbClr val="555555"/>
                </a:solidFill>
              </a:rPr>
              <a:t>Out of scope:  query "Should I buy NVIDIA stock?"  →  </a:t>
            </a:r>
            <a:r>
              <a:rPr lang="en-US" sz="1700" dirty="0" err="1">
                <a:solidFill>
                  <a:srgbClr val="555555"/>
                </a:solidFill>
              </a:rPr>
              <a:t>out_of_scope</a:t>
            </a:r>
            <a:endParaRPr lang="en-US" sz="1700" dirty="0">
              <a:solidFill>
                <a:srgbClr val="555555"/>
              </a:solidFill>
            </a:endParaRPr>
          </a:p>
          <a:p>
            <a:pPr>
              <a:spcAft>
                <a:spcPts val="600"/>
              </a:spcAft>
              <a:defRPr sz="1700">
                <a:solidFill>
                  <a:srgbClr val="555555"/>
                </a:solidFill>
              </a:defRPr>
            </a:pPr>
            <a:r>
              <a:rPr lang="en-US" sz="1700" dirty="0">
                <a:solidFill>
                  <a:srgbClr val="555555"/>
                </a:solidFill>
              </a:rPr>
              <a:t>Retired segment:  "Optum International"  →  </a:t>
            </a:r>
            <a:r>
              <a:rPr lang="en-US" sz="1700" dirty="0" err="1">
                <a:solidFill>
                  <a:srgbClr val="555555"/>
                </a:solidFill>
              </a:rPr>
              <a:t>unknown_segment</a:t>
            </a:r>
            <a:r>
              <a:rPr lang="en-US" sz="1700" dirty="0">
                <a:solidFill>
                  <a:srgbClr val="555555"/>
                </a:solidFill>
              </a:rPr>
              <a:t> (no silent substitution)</a:t>
            </a:r>
          </a:p>
          <a:p>
            <a:pPr>
              <a:spcAft>
                <a:spcPts val="600"/>
              </a:spcAft>
              <a:defRPr sz="1700">
                <a:solidFill>
                  <a:srgbClr val="555555"/>
                </a:solidFill>
              </a:defRPr>
            </a:pPr>
            <a:r>
              <a:rPr lang="en-US" sz="1700" dirty="0">
                <a:solidFill>
                  <a:srgbClr val="555555"/>
                </a:solidFill>
              </a:rPr>
              <a:t>Access control:  --role guest + Optum Insight  →  </a:t>
            </a:r>
            <a:r>
              <a:rPr lang="en-US" sz="1700" dirty="0" err="1">
                <a:solidFill>
                  <a:srgbClr val="555555"/>
                </a:solidFill>
              </a:rPr>
              <a:t>access_denied</a:t>
            </a:r>
            <a:r>
              <a:rPr lang="en-US" sz="1700" dirty="0">
                <a:solidFill>
                  <a:srgbClr val="555555"/>
                </a:solidFill>
              </a:rPr>
              <a:t> (guest → Optum Rx only)</a:t>
            </a:r>
          </a:p>
          <a:p>
            <a:pPr>
              <a:spcAft>
                <a:spcPts val="600"/>
              </a:spcAft>
              <a:defRPr sz="1700">
                <a:solidFill>
                  <a:srgbClr val="555555"/>
                </a:solidFill>
              </a:defRPr>
            </a:pPr>
            <a:r>
              <a:rPr lang="en-US" sz="1700" dirty="0">
                <a:solidFill>
                  <a:srgbClr val="555555"/>
                </a:solidFill>
              </a:rPr>
              <a:t>Confidence floor:  --sparse-data Capital  →  no pathway; narrative shows caveat</a:t>
            </a:r>
          </a:p>
          <a:p>
            <a:pPr>
              <a:spcAft>
                <a:spcPts val="600"/>
              </a:spcAft>
              <a:defRPr sz="1700">
                <a:solidFill>
                  <a:srgbClr val="555555"/>
                </a:solidFill>
              </a:defRPr>
            </a:pPr>
            <a:r>
              <a:rPr lang="en-US" sz="1700" dirty="0">
                <a:solidFill>
                  <a:srgbClr val="555555"/>
                </a:solidFill>
              </a:rPr>
              <a:t>System refuses rather than force-fitting or over-confident recommendations</a:t>
            </a:r>
          </a:p>
        </p:txBody>
      </p:sp>
    </p:spTree>
    <p:extLst>
      <p:ext uri="{BB962C8B-B14F-4D97-AF65-F5344CB8AC3E}">
        <p14:creationId xmlns:p14="http://schemas.microsoft.com/office/powerpoint/2010/main" val="1072545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69BA9-10ED-7F42-6AF8-9D6A3791C896}"/>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sz="2800" b="1">
                <a:solidFill>
                  <a:srgbClr val="003366"/>
                </a:solidFill>
              </a:defRPr>
            </a:pPr>
            <a:r>
              <a:rPr lang="en-US" sz="2800" b="1">
                <a:solidFill>
                  <a:srgbClr val="003366"/>
                </a:solidFill>
              </a:rPr>
              <a:t>Live Demo — Overlay Extraction (Human in the Loop)</a:t>
            </a:r>
            <a:endParaRPr lang="en-US" sz="2800" b="1" dirty="0">
              <a:solidFill>
                <a:srgbClr val="003366"/>
              </a:solidFill>
            </a:endParaRPr>
          </a:p>
        </p:txBody>
      </p:sp>
      <p:sp>
        <p:nvSpPr>
          <p:cNvPr id="3" name="Content Placeholder 2">
            <a:extLst>
              <a:ext uri="{FF2B5EF4-FFF2-40B4-BE49-F238E27FC236}">
                <a16:creationId xmlns:a16="http://schemas.microsoft.com/office/drawing/2014/main" id="{D66AE558-23BA-2022-8A54-AA22825823F8}"/>
              </a:ext>
            </a:extLst>
          </p:cNvPr>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defRPr sz="1700">
                <a:solidFill>
                  <a:srgbClr val="555555"/>
                </a:solidFill>
              </a:defRPr>
            </a:pPr>
            <a:r>
              <a:rPr lang="en-US" sz="1700">
                <a:solidFill>
                  <a:srgbClr val="555555"/>
                </a:solidFill>
              </a:rPr>
              <a:t>python demo.py overlay --segment Optum_Insight --driver Data_Digital</a:t>
            </a:r>
          </a:p>
          <a:p>
            <a:pPr>
              <a:spcAft>
                <a:spcPts val="600"/>
              </a:spcAft>
              <a:defRPr sz="1700">
                <a:solidFill>
                  <a:srgbClr val="555555"/>
                </a:solidFill>
              </a:defRPr>
            </a:pPr>
            <a:r>
              <a:rPr lang="en-US" sz="1700">
                <a:solidFill>
                  <a:srgbClr val="555555"/>
                </a:solidFill>
              </a:rPr>
              <a:t>Optional: --live-search (Tavily) or --mcp-search</a:t>
            </a:r>
          </a:p>
          <a:p>
            <a:pPr>
              <a:spcAft>
                <a:spcPts val="600"/>
              </a:spcAft>
              <a:defRPr sz="1700">
                <a:solidFill>
                  <a:srgbClr val="555555"/>
                </a:solidFill>
              </a:defRPr>
            </a:pPr>
            <a:r>
              <a:rPr lang="en-US" sz="1700">
                <a:solidFill>
                  <a:srgbClr val="555555"/>
                </a:solidFill>
              </a:rPr>
              <a:t>Flow: text in → LLM rates severity / immediacy / persistence</a:t>
            </a:r>
          </a:p>
          <a:p>
            <a:pPr>
              <a:spcAft>
                <a:spcPts val="600"/>
              </a:spcAft>
              <a:defRPr sz="1700">
                <a:solidFill>
                  <a:srgbClr val="555555"/>
                </a:solidFill>
              </a:defRPr>
            </a:pPr>
            <a:r>
              <a:rPr lang="en-US" sz="1700">
                <a:solidFill>
                  <a:srgbClr val="555555"/>
                </a:solidFill>
              </a:rPr>
              <a:t>Status is always STAGED — never live until analyst confirms</a:t>
            </a:r>
          </a:p>
          <a:p>
            <a:pPr>
              <a:spcAft>
                <a:spcPts val="600"/>
              </a:spcAft>
              <a:defRPr sz="1700">
                <a:solidFill>
                  <a:srgbClr val="555555"/>
                </a:solidFill>
              </a:defRPr>
            </a:pPr>
            <a:r>
              <a:rPr lang="en-US" sz="1700">
                <a:solidFill>
                  <a:srgbClr val="555555"/>
                </a:solidFill>
              </a:rPr>
              <a:t>Second confirmation attempt is rejected (invalid_transition guardrail)</a:t>
            </a:r>
          </a:p>
          <a:p>
            <a:pPr>
              <a:spcAft>
                <a:spcPts val="600"/>
              </a:spcAft>
              <a:defRPr sz="1700">
                <a:solidFill>
                  <a:srgbClr val="555555"/>
                </a:solidFill>
              </a:defRPr>
            </a:pPr>
            <a:r>
              <a:rPr lang="en-US" sz="1700">
                <a:solidFill>
                  <a:srgbClr val="555555"/>
                </a:solidFill>
              </a:rPr>
              <a:t>Connects to real anchor: 2024 Change Healthcare cyberattack (Optum Insight)</a:t>
            </a:r>
          </a:p>
        </p:txBody>
      </p:sp>
    </p:spTree>
    <p:extLst>
      <p:ext uri="{BB962C8B-B14F-4D97-AF65-F5344CB8AC3E}">
        <p14:creationId xmlns:p14="http://schemas.microsoft.com/office/powerpoint/2010/main" val="2576957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94946-DD29-EF4F-A480-4A00C6DE9FBA}"/>
              </a:ext>
            </a:extLst>
          </p:cNvPr>
          <p:cNvSpPr txBox="1">
            <a:spLocks/>
          </p:cNvSpPr>
          <p:nvPr/>
        </p:nvSpPr>
        <p:spPr>
          <a:xfrm>
            <a:off x="457200" y="274638"/>
            <a:ext cx="8229600" cy="1143000"/>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sz="2800" b="1">
                <a:solidFill>
                  <a:srgbClr val="003366"/>
                </a:solidFill>
              </a:defRPr>
            </a:pPr>
            <a:r>
              <a:rPr lang="en-US" sz="2800" b="1">
                <a:solidFill>
                  <a:srgbClr val="003366"/>
                </a:solidFill>
              </a:rPr>
              <a:t>Live Demo — MCP Supplemental Tools</a:t>
            </a:r>
            <a:endParaRPr lang="en-US" sz="2800" b="1" dirty="0">
              <a:solidFill>
                <a:srgbClr val="003366"/>
              </a:solidFill>
            </a:endParaRPr>
          </a:p>
        </p:txBody>
      </p:sp>
      <p:sp>
        <p:nvSpPr>
          <p:cNvPr id="3" name="Content Placeholder 2">
            <a:extLst>
              <a:ext uri="{FF2B5EF4-FFF2-40B4-BE49-F238E27FC236}">
                <a16:creationId xmlns:a16="http://schemas.microsoft.com/office/drawing/2014/main" id="{14333500-1C8E-9DD0-7372-CCEDEF390E27}"/>
              </a:ext>
            </a:extLst>
          </p:cNvPr>
          <p:cNvSpPr txBox="1">
            <a:spLocks/>
          </p:cNvSpPr>
          <p:nvPr/>
        </p:nvSpPr>
        <p:spPr>
          <a:xfrm>
            <a:off x="457200" y="1600200"/>
            <a:ext cx="8229600" cy="4525963"/>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spcAft>
                <a:spcPts val="600"/>
              </a:spcAft>
              <a:defRPr sz="1700">
                <a:solidFill>
                  <a:srgbClr val="555555"/>
                </a:solidFill>
              </a:defRPr>
            </a:pPr>
            <a:r>
              <a:rPr lang="en-US" sz="1700" dirty="0">
                <a:solidFill>
                  <a:srgbClr val="555555"/>
                </a:solidFill>
              </a:rPr>
              <a:t>python demo.py tool list</a:t>
            </a:r>
          </a:p>
          <a:p>
            <a:pPr>
              <a:spcAft>
                <a:spcPts val="600"/>
              </a:spcAft>
              <a:defRPr sz="1700">
                <a:solidFill>
                  <a:srgbClr val="555555"/>
                </a:solidFill>
              </a:defRPr>
            </a:pPr>
            <a:r>
              <a:rPr lang="en-US" sz="1700" dirty="0">
                <a:solidFill>
                  <a:srgbClr val="555555"/>
                </a:solidFill>
              </a:rPr>
              <a:t>python demo.py tool call </a:t>
            </a:r>
            <a:r>
              <a:rPr lang="en-US" sz="1700" dirty="0" err="1">
                <a:solidFill>
                  <a:srgbClr val="555555"/>
                </a:solidFill>
              </a:rPr>
              <a:t>local.get_backtest_anchors</a:t>
            </a:r>
            <a:endParaRPr lang="en-US" sz="1700" dirty="0">
              <a:solidFill>
                <a:srgbClr val="555555"/>
              </a:solidFill>
            </a:endParaRPr>
          </a:p>
          <a:p>
            <a:pPr>
              <a:spcAft>
                <a:spcPts val="600"/>
              </a:spcAft>
              <a:defRPr sz="1700">
                <a:solidFill>
                  <a:srgbClr val="555555"/>
                </a:solidFill>
              </a:defRPr>
            </a:pPr>
            <a:r>
              <a:rPr lang="en-US" sz="1700" dirty="0">
                <a:solidFill>
                  <a:srgbClr val="555555"/>
                </a:solidFill>
              </a:rPr>
              <a:t>python demo.py tool call </a:t>
            </a:r>
            <a:r>
              <a:rPr lang="en-US" sz="1700" dirty="0" err="1">
                <a:solidFill>
                  <a:srgbClr val="555555"/>
                </a:solidFill>
              </a:rPr>
              <a:t>yfmcp.yfinance_get_ticker_info</a:t>
            </a:r>
            <a:r>
              <a:rPr lang="en-US" sz="1700" dirty="0">
                <a:solidFill>
                  <a:srgbClr val="555555"/>
                </a:solidFill>
              </a:rPr>
              <a:t> --symbol UNH</a:t>
            </a:r>
          </a:p>
          <a:p>
            <a:pPr>
              <a:spcAft>
                <a:spcPts val="600"/>
              </a:spcAft>
              <a:defRPr sz="1700">
                <a:solidFill>
                  <a:srgbClr val="555555"/>
                </a:solidFill>
              </a:defRPr>
            </a:pPr>
            <a:r>
              <a:rPr lang="en-US" sz="1700" dirty="0">
                <a:solidFill>
                  <a:srgbClr val="555555"/>
                </a:solidFill>
              </a:rPr>
              <a:t>python demo.py query "..." --</a:t>
            </a:r>
            <a:r>
              <a:rPr lang="en-US" sz="1700" dirty="0" err="1">
                <a:solidFill>
                  <a:srgbClr val="555555"/>
                </a:solidFill>
              </a:rPr>
              <a:t>mcp</a:t>
            </a:r>
            <a:r>
              <a:rPr lang="en-US" sz="1700" dirty="0">
                <a:solidFill>
                  <a:srgbClr val="555555"/>
                </a:solidFill>
              </a:rPr>
              <a:t>-context</a:t>
            </a:r>
          </a:p>
          <a:p>
            <a:pPr>
              <a:spcAft>
                <a:spcPts val="600"/>
              </a:spcAft>
              <a:defRPr sz="1700">
                <a:solidFill>
                  <a:srgbClr val="555555"/>
                </a:solidFill>
              </a:defRPr>
            </a:pPr>
            <a:r>
              <a:rPr lang="en-US" sz="1700" dirty="0">
                <a:solidFill>
                  <a:srgbClr val="555555"/>
                </a:solidFill>
              </a:rPr>
              <a:t>Formatted analyst / executive summaries — not raw JSON dumps</a:t>
            </a:r>
          </a:p>
          <a:p>
            <a:pPr>
              <a:spcAft>
                <a:spcPts val="600"/>
              </a:spcAft>
              <a:defRPr sz="1700">
                <a:solidFill>
                  <a:srgbClr val="555555"/>
                </a:solidFill>
              </a:defRPr>
            </a:pPr>
            <a:r>
              <a:rPr lang="en-US" sz="1700" dirty="0">
                <a:solidFill>
                  <a:srgbClr val="555555"/>
                </a:solidFill>
              </a:rPr>
              <a:t>Explicitly non-authoritative: does NOT change scenario scores</a:t>
            </a:r>
          </a:p>
          <a:p>
            <a:pPr>
              <a:spcAft>
                <a:spcPts val="600"/>
              </a:spcAft>
              <a:defRPr sz="1700">
                <a:solidFill>
                  <a:srgbClr val="555555"/>
                </a:solidFill>
              </a:defRPr>
            </a:pPr>
            <a:r>
              <a:rPr lang="en-US" sz="1700" dirty="0">
                <a:solidFill>
                  <a:srgbClr val="555555"/>
                </a:solidFill>
              </a:rPr>
              <a:t>Phoenix traces: </a:t>
            </a:r>
            <a:r>
              <a:rPr lang="en-US" sz="1700" dirty="0" err="1">
                <a:solidFill>
                  <a:srgbClr val="555555"/>
                </a:solidFill>
              </a:rPr>
              <a:t>mcp.call_tool</a:t>
            </a:r>
            <a:r>
              <a:rPr lang="en-US" sz="1700" dirty="0">
                <a:solidFill>
                  <a:srgbClr val="555555"/>
                </a:solidFill>
              </a:rPr>
              <a:t> spans when OBSERVABILITY_BACKEND=phoenix</a:t>
            </a:r>
          </a:p>
        </p:txBody>
      </p:sp>
    </p:spTree>
    <p:extLst>
      <p:ext uri="{BB962C8B-B14F-4D97-AF65-F5344CB8AC3E}">
        <p14:creationId xmlns:p14="http://schemas.microsoft.com/office/powerpoint/2010/main" val="4163411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320040"/>
            <a:ext cx="2714654" cy="523220"/>
          </a:xfrm>
          <a:prstGeom prst="rect">
            <a:avLst/>
          </a:prstGeom>
          <a:noFill/>
        </p:spPr>
        <p:txBody>
          <a:bodyPr wrap="none">
            <a:spAutoFit/>
          </a:bodyPr>
          <a:lstStyle/>
          <a:p>
            <a:pPr>
              <a:defRPr sz="2800" b="1">
                <a:solidFill>
                  <a:srgbClr val="003366"/>
                </a:solidFill>
              </a:defRPr>
            </a:pPr>
            <a:r>
              <a:rPr dirty="0"/>
              <a:t>Data Provenance</a:t>
            </a:r>
          </a:p>
        </p:txBody>
      </p:sp>
      <p:sp>
        <p:nvSpPr>
          <p:cNvPr id="3" name="TextBox 2"/>
          <p:cNvSpPr txBox="1"/>
          <p:nvPr/>
        </p:nvSpPr>
        <p:spPr>
          <a:xfrm>
            <a:off x="457200" y="1097280"/>
            <a:ext cx="5962466" cy="1061829"/>
          </a:xfrm>
          <a:prstGeom prst="rect">
            <a:avLst/>
          </a:prstGeom>
          <a:noFill/>
        </p:spPr>
        <p:txBody>
          <a:bodyPr wrap="none">
            <a:spAutoFit/>
          </a:bodyPr>
          <a:lstStyle/>
          <a:p>
            <a:pPr>
              <a:defRPr sz="1800" b="1">
                <a:solidFill>
                  <a:srgbClr val="007A87"/>
                </a:solidFill>
              </a:defRPr>
            </a:pPr>
            <a:r>
              <a:rPr dirty="0"/>
              <a:t>Real (public)</a:t>
            </a:r>
          </a:p>
          <a:p>
            <a:pPr>
              <a:defRPr sz="1500">
                <a:solidFill>
                  <a:srgbClr val="555555"/>
                </a:solidFill>
              </a:defRPr>
            </a:pPr>
            <a:r>
              <a:rPr dirty="0"/>
              <a:t>Segment revenue — UHG FY2025 SEC / earnings</a:t>
            </a:r>
          </a:p>
          <a:p>
            <a:pPr>
              <a:defRPr sz="1500">
                <a:solidFill>
                  <a:srgbClr val="555555"/>
                </a:solidFill>
              </a:defRPr>
            </a:pPr>
            <a:r>
              <a:rPr dirty="0"/>
              <a:t>Backtest anchors — M</a:t>
            </a:r>
            <a:r>
              <a:rPr lang="en-US" dirty="0"/>
              <a:t>edicare </a:t>
            </a:r>
            <a:r>
              <a:rPr dirty="0"/>
              <a:t>A</a:t>
            </a:r>
            <a:r>
              <a:rPr lang="en-US" dirty="0"/>
              <a:t>dvantage(MA)</a:t>
            </a:r>
            <a:r>
              <a:rPr dirty="0"/>
              <a:t> rate impact (Optum Health)</a:t>
            </a:r>
          </a:p>
          <a:p>
            <a:pPr>
              <a:defRPr sz="1500">
                <a:solidFill>
                  <a:srgbClr val="555555"/>
                </a:solidFill>
              </a:defRPr>
            </a:pPr>
            <a:r>
              <a:rPr dirty="0"/>
              <a:t>Change Healthcare cyberattack (Optum Insight)</a:t>
            </a:r>
          </a:p>
        </p:txBody>
      </p:sp>
      <p:sp>
        <p:nvSpPr>
          <p:cNvPr id="4" name="TextBox 3"/>
          <p:cNvSpPr txBox="1"/>
          <p:nvPr/>
        </p:nvSpPr>
        <p:spPr>
          <a:xfrm>
            <a:off x="457200" y="2907030"/>
            <a:ext cx="6057900" cy="1292662"/>
          </a:xfrm>
          <a:prstGeom prst="rect">
            <a:avLst/>
          </a:prstGeom>
          <a:noFill/>
        </p:spPr>
        <p:txBody>
          <a:bodyPr wrap="square">
            <a:spAutoFit/>
          </a:bodyPr>
          <a:lstStyle/>
          <a:p>
            <a:pPr>
              <a:defRPr sz="1800" b="1">
                <a:solidFill>
                  <a:srgbClr val="007A87"/>
                </a:solidFill>
              </a:defRPr>
            </a:pPr>
            <a:r>
              <a:rPr dirty="0"/>
              <a:t>Synthetic (illustrative)</a:t>
            </a:r>
          </a:p>
          <a:p>
            <a:pPr>
              <a:defRPr sz="1500">
                <a:solidFill>
                  <a:srgbClr val="555555"/>
                </a:solidFill>
              </a:defRPr>
            </a:pPr>
            <a:r>
              <a:rPr dirty="0"/>
              <a:t>Indicator registry &amp; driver loadings</a:t>
            </a:r>
          </a:p>
          <a:p>
            <a:pPr>
              <a:defRPr sz="1500">
                <a:solidFill>
                  <a:srgbClr val="555555"/>
                </a:solidFill>
              </a:defRPr>
            </a:pPr>
            <a:r>
              <a:rPr dirty="0"/>
              <a:t>Expert-elicited weights</a:t>
            </a:r>
          </a:p>
          <a:p>
            <a:pPr>
              <a:defRPr sz="1500">
                <a:solidFill>
                  <a:srgbClr val="555555"/>
                </a:solidFill>
              </a:defRPr>
            </a:pPr>
            <a:r>
              <a:rPr dirty="0"/>
              <a:t>Sample overlay event texts (paraphrases)</a:t>
            </a:r>
          </a:p>
          <a:p>
            <a:pPr>
              <a:defRPr sz="1500">
                <a:solidFill>
                  <a:srgbClr val="555555"/>
                </a:solidFill>
              </a:defRPr>
            </a:pPr>
            <a:r>
              <a:rPr dirty="0"/>
              <a:t>No proprietary or internal UHG data required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4693</TotalTime>
  <Words>3971</Words>
  <Application>Microsoft Office PowerPoint</Application>
  <PresentationFormat>Widescreen</PresentationFormat>
  <Paragraphs>486</Paragraphs>
  <Slides>22</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Aptos</vt:lpstr>
      <vt:lpstr>Arial</vt:lpstr>
      <vt:lpstr>Calibri</vt:lpstr>
      <vt:lpstr>Cambria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Hashim Shaik</cp:lastModifiedBy>
  <cp:revision>12</cp:revision>
  <cp:lastPrinted>2026-08-11T20:40:50Z</cp:lastPrinted>
  <dcterms:created xsi:type="dcterms:W3CDTF">2026-08-10T20:32:14Z</dcterms:created>
  <dcterms:modified xsi:type="dcterms:W3CDTF">2026-08-18T02:17:19Z</dcterms:modified>
</cp:coreProperties>
</file>